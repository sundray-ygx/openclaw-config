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embeddedFontLst>
    <p:embeddedFont>
      <p:font typeface="Liter" panose="02000503030000020004" pitchFamily="34" charset="0"/>
      <p:regular r:id="rId24"/>
    </p:embeddedFont>
    <p:embeddedFont>
      <p:font typeface="Liter" panose="02000503030000020004" pitchFamily="34" charset="-122"/>
      <p:regular r:id="rId25"/>
    </p:embeddedFont>
    <p:embeddedFont>
      <p:font typeface="Liter" panose="02000503030000020004" pitchFamily="34" charset="-120"/>
      <p:regular r:id="rId26"/>
    </p:embeddedFont>
    <p:embeddedFont>
      <p:font typeface="MiSans" pitchFamily="34" charset="-122"/>
      <p:regular r:id="rId27"/>
    </p:embeddedFont>
    <p:embeddedFont>
      <p:font typeface="MiSans" pitchFamily="34" charset="-120"/>
      <p:regular r:id="rId28"/>
    </p:embeddedFont>
    <p:embeddedFont>
      <p:font typeface="Alimama ShuHeiTi" pitchFamily="34" charset="-122"/>
      <p:bold r:id="rId29"/>
    </p:embeddedFont>
    <p:embeddedFont>
      <p:font typeface="Alimama ShuHeiTi" pitchFamily="34" charset="-120"/>
      <p:bold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1.fntdata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ce318b174f4f20a1c807565e19b47d8fbffdb81f.jpg"/>
          <p:cNvPicPr>
            <a:picLocks noChangeAspect="1"/>
          </p:cNvPicPr>
          <p:nvPr/>
        </p:nvPicPr>
        <p:blipFill>
          <a:blip r:embed="rId1">
            <a:alphaModFix amt="40000"/>
          </a:blip>
          <a:srcRect l="13472" r="13472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80000"/>
                </a:srgbClr>
              </a:gs>
              <a:gs pos="50000">
                <a:srgbClr val="1A1D21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1000" y="381000"/>
            <a:ext cx="57150" cy="609600"/>
          </a:xfrm>
          <a:custGeom>
            <a:avLst/>
            <a:gdLst/>
            <a:ahLst/>
            <a:cxnLst/>
            <a:rect l="l" t="t" r="r" b="b"/>
            <a:pathLst>
              <a:path w="57150" h="609600">
                <a:moveTo>
                  <a:pt x="0" y="0"/>
                </a:moveTo>
                <a:lnTo>
                  <a:pt x="57150" y="0"/>
                </a:lnTo>
                <a:lnTo>
                  <a:pt x="5715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5" name="Text 2"/>
          <p:cNvSpPr/>
          <p:nvPr/>
        </p:nvSpPr>
        <p:spPr>
          <a:xfrm>
            <a:off x="552450" y="419100"/>
            <a:ext cx="19812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3B82F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2026 TOP PRIORITY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52450" y="723900"/>
            <a:ext cx="1962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研发变革 · 战略级项目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939528"/>
            <a:ext cx="4714875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AI-Native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转型变革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45412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9" name="Shape 6"/>
          <p:cNvSpPr/>
          <p:nvPr/>
        </p:nvSpPr>
        <p:spPr>
          <a:xfrm>
            <a:off x="1752600" y="4454128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10" name="Shape 7"/>
          <p:cNvSpPr/>
          <p:nvPr/>
        </p:nvSpPr>
        <p:spPr>
          <a:xfrm>
            <a:off x="2514600" y="4454128"/>
            <a:ext cx="304800" cy="38100"/>
          </a:xfrm>
          <a:custGeom>
            <a:avLst/>
            <a:gdLst/>
            <a:ahLst/>
            <a:cxnLst/>
            <a:rect l="l" t="t" r="r" b="b"/>
            <a:pathLst>
              <a:path w="304800" h="38100">
                <a:moveTo>
                  <a:pt x="0" y="0"/>
                </a:moveTo>
                <a:lnTo>
                  <a:pt x="304800" y="0"/>
                </a:lnTo>
                <a:lnTo>
                  <a:pt x="304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11" name="Text 8"/>
          <p:cNvSpPr/>
          <p:nvPr/>
        </p:nvSpPr>
        <p:spPr>
          <a:xfrm>
            <a:off x="381000" y="4797028"/>
            <a:ext cx="4400550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研发模式全面转型行动指南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16719" y="6248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3" name="Text 10"/>
          <p:cNvSpPr/>
          <p:nvPr/>
        </p:nvSpPr>
        <p:spPr>
          <a:xfrm>
            <a:off x="733425" y="6210300"/>
            <a:ext cx="933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2026年3月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856631" y="62484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15" name="Text 12"/>
          <p:cNvSpPr/>
          <p:nvPr/>
        </p:nvSpPr>
        <p:spPr>
          <a:xfrm>
            <a:off x="2161431" y="6210300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信锐技术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315700" y="6286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7" name="Shape 14"/>
          <p:cNvSpPr/>
          <p:nvPr/>
        </p:nvSpPr>
        <p:spPr>
          <a:xfrm>
            <a:off x="11506200" y="6286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18" name="Shape 15"/>
          <p:cNvSpPr/>
          <p:nvPr/>
        </p:nvSpPr>
        <p:spPr>
          <a:xfrm>
            <a:off x="11696700" y="6286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59E0B"/>
          </a:solidFill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609600" y="381000"/>
            <a:ext cx="325755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1066800"/>
            <a:ext cx="11315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变革全景 · 五大核心模块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752600"/>
            <a:ext cx="5581650" cy="1533525"/>
          </a:xfrm>
          <a:custGeom>
            <a:avLst/>
            <a:gdLst/>
            <a:ahLst/>
            <a:cxnLst/>
            <a:rect l="l" t="t" r="r" b="b"/>
            <a:pathLst>
              <a:path w="5581650" h="1533525">
                <a:moveTo>
                  <a:pt x="38100" y="0"/>
                </a:moveTo>
                <a:lnTo>
                  <a:pt x="5505449" y="0"/>
                </a:lnTo>
                <a:cubicBezTo>
                  <a:pt x="5547506" y="0"/>
                  <a:pt x="5581650" y="34144"/>
                  <a:pt x="5581650" y="76201"/>
                </a:cubicBezTo>
                <a:lnTo>
                  <a:pt x="5581650" y="1457324"/>
                </a:lnTo>
                <a:cubicBezTo>
                  <a:pt x="5581650" y="1499381"/>
                  <a:pt x="5547506" y="1533525"/>
                  <a:pt x="5505449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</p:spPr>
      </p:sp>
      <p:sp>
        <p:nvSpPr>
          <p:cNvPr id="6" name="Shape 4"/>
          <p:cNvSpPr/>
          <p:nvPr/>
        </p:nvSpPr>
        <p:spPr>
          <a:xfrm>
            <a:off x="400050" y="175260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7" name="Shape 5"/>
          <p:cNvSpPr/>
          <p:nvPr/>
        </p:nvSpPr>
        <p:spPr>
          <a:xfrm>
            <a:off x="647700" y="1981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8" name="Text 6"/>
          <p:cNvSpPr/>
          <p:nvPr/>
        </p:nvSpPr>
        <p:spPr>
          <a:xfrm>
            <a:off x="576263" y="1981200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7800" y="1981200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变革背景与战略意义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" y="2400300"/>
            <a:ext cx="43910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为什么必须转型？业界趋势与公司实践验证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66850" y="28694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12" name="Text 10"/>
          <p:cNvSpPr/>
          <p:nvPr/>
        </p:nvSpPr>
        <p:spPr>
          <a:xfrm>
            <a:off x="1638300" y="2831306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战略驱动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95550" y="28694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14" name="Text 12"/>
          <p:cNvSpPr/>
          <p:nvPr/>
        </p:nvSpPr>
        <p:spPr>
          <a:xfrm>
            <a:off x="2667000" y="2831306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趋势验证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3517106"/>
            <a:ext cx="5581650" cy="1533525"/>
          </a:xfrm>
          <a:custGeom>
            <a:avLst/>
            <a:gdLst/>
            <a:ahLst/>
            <a:cxnLst/>
            <a:rect l="l" t="t" r="r" b="b"/>
            <a:pathLst>
              <a:path w="5581650" h="1533525">
                <a:moveTo>
                  <a:pt x="38100" y="0"/>
                </a:moveTo>
                <a:lnTo>
                  <a:pt x="5505449" y="0"/>
                </a:lnTo>
                <a:cubicBezTo>
                  <a:pt x="5547506" y="0"/>
                  <a:pt x="5581650" y="34144"/>
                  <a:pt x="5581650" y="76201"/>
                </a:cubicBezTo>
                <a:lnTo>
                  <a:pt x="5581650" y="1457324"/>
                </a:lnTo>
                <a:cubicBezTo>
                  <a:pt x="5581650" y="1499381"/>
                  <a:pt x="5547506" y="1533525"/>
                  <a:pt x="5505449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</p:spPr>
      </p:sp>
      <p:sp>
        <p:nvSpPr>
          <p:cNvPr id="16" name="Shape 14"/>
          <p:cNvSpPr/>
          <p:nvPr/>
        </p:nvSpPr>
        <p:spPr>
          <a:xfrm>
            <a:off x="400050" y="3517106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17" name="Shape 15"/>
          <p:cNvSpPr/>
          <p:nvPr/>
        </p:nvSpPr>
        <p:spPr>
          <a:xfrm>
            <a:off x="647700" y="37457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18" name="Text 16"/>
          <p:cNvSpPr/>
          <p:nvPr/>
        </p:nvSpPr>
        <p:spPr>
          <a:xfrm>
            <a:off x="576263" y="3745706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47800" y="3745706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变革目标体系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47800" y="4164806"/>
            <a:ext cx="43910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结果目标与过程目标，分层分类精准设定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466850" y="46339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22" name="Text 20"/>
          <p:cNvSpPr/>
          <p:nvPr/>
        </p:nvSpPr>
        <p:spPr>
          <a:xfrm>
            <a:off x="1638300" y="4595813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端到端效率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647950" y="46339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24" name="Text 22"/>
          <p:cNvSpPr/>
          <p:nvPr/>
        </p:nvSpPr>
        <p:spPr>
          <a:xfrm>
            <a:off x="2819400" y="4595813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能力度量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0050" y="5281613"/>
            <a:ext cx="5581650" cy="1533525"/>
          </a:xfrm>
          <a:custGeom>
            <a:avLst/>
            <a:gdLst/>
            <a:ahLst/>
            <a:cxnLst/>
            <a:rect l="l" t="t" r="r" b="b"/>
            <a:pathLst>
              <a:path w="5581650" h="1533525">
                <a:moveTo>
                  <a:pt x="38100" y="0"/>
                </a:moveTo>
                <a:lnTo>
                  <a:pt x="5505449" y="0"/>
                </a:lnTo>
                <a:cubicBezTo>
                  <a:pt x="5547506" y="0"/>
                  <a:pt x="5581650" y="34144"/>
                  <a:pt x="5581650" y="76201"/>
                </a:cubicBezTo>
                <a:lnTo>
                  <a:pt x="5581650" y="1457324"/>
                </a:lnTo>
                <a:cubicBezTo>
                  <a:pt x="5581650" y="1499381"/>
                  <a:pt x="5547506" y="1533525"/>
                  <a:pt x="5505449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</p:spPr>
      </p:sp>
      <p:sp>
        <p:nvSpPr>
          <p:cNvPr id="26" name="Shape 24"/>
          <p:cNvSpPr/>
          <p:nvPr/>
        </p:nvSpPr>
        <p:spPr>
          <a:xfrm>
            <a:off x="400050" y="5281613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27" name="Shape 25"/>
          <p:cNvSpPr/>
          <p:nvPr/>
        </p:nvSpPr>
        <p:spPr>
          <a:xfrm>
            <a:off x="647700" y="55102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28" name="Text 26"/>
          <p:cNvSpPr/>
          <p:nvPr/>
        </p:nvSpPr>
        <p:spPr>
          <a:xfrm>
            <a:off x="576263" y="5510213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47800" y="5510213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核心Owner的责任分工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47800" y="5929313"/>
            <a:ext cx="43910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四</a:t>
            </a:r>
            <a:r>
              <a:rPr 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大责任主体，明确职责与协同机制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447800" y="6398419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32" name="Text 30"/>
          <p:cNvSpPr/>
          <p:nvPr/>
        </p:nvSpPr>
        <p:spPr>
          <a:xfrm>
            <a:off x="1638300" y="6360319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责任矩阵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486025" y="639841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0040" y="25360"/>
                </a:moveTo>
                <a:lnTo>
                  <a:pt x="45333" y="63937"/>
                </a:lnTo>
                <a:cubicBezTo>
                  <a:pt x="43964" y="65455"/>
                  <a:pt x="44023" y="67806"/>
                  <a:pt x="45482" y="69265"/>
                </a:cubicBezTo>
                <a:cubicBezTo>
                  <a:pt x="54560" y="78343"/>
                  <a:pt x="69294" y="78343"/>
                  <a:pt x="78373" y="69265"/>
                </a:cubicBezTo>
                <a:lnTo>
                  <a:pt x="87838" y="59799"/>
                </a:lnTo>
                <a:cubicBezTo>
                  <a:pt x="89089" y="58549"/>
                  <a:pt x="90666" y="57864"/>
                  <a:pt x="92273" y="57745"/>
                </a:cubicBezTo>
                <a:cubicBezTo>
                  <a:pt x="94298" y="57567"/>
                  <a:pt x="96381" y="58251"/>
                  <a:pt x="97929" y="59799"/>
                </a:cubicBezTo>
                <a:lnTo>
                  <a:pt x="150495" y="111919"/>
                </a:lnTo>
                <a:lnTo>
                  <a:pt x="171450" y="95250"/>
                </a:lnTo>
                <a:lnTo>
                  <a:pt x="171450" y="9525"/>
                </a:lnTo>
                <a:lnTo>
                  <a:pt x="138113" y="28575"/>
                </a:lnTo>
                <a:lnTo>
                  <a:pt x="131028" y="23842"/>
                </a:lnTo>
                <a:cubicBezTo>
                  <a:pt x="126325" y="20717"/>
                  <a:pt x="120819" y="19050"/>
                  <a:pt x="115163" y="19050"/>
                </a:cubicBezTo>
                <a:lnTo>
                  <a:pt x="94208" y="19050"/>
                </a:lnTo>
                <a:cubicBezTo>
                  <a:pt x="93881" y="19050"/>
                  <a:pt x="93524" y="19050"/>
                  <a:pt x="93196" y="19080"/>
                </a:cubicBezTo>
                <a:cubicBezTo>
                  <a:pt x="88166" y="19348"/>
                  <a:pt x="83433" y="21610"/>
                  <a:pt x="80040" y="25360"/>
                </a:cubicBezTo>
                <a:close/>
                <a:moveTo>
                  <a:pt x="34707" y="54382"/>
                </a:moveTo>
                <a:lnTo>
                  <a:pt x="66496" y="19050"/>
                </a:lnTo>
                <a:lnTo>
                  <a:pt x="54709" y="19050"/>
                </a:lnTo>
                <a:cubicBezTo>
                  <a:pt x="47119" y="19050"/>
                  <a:pt x="39856" y="22056"/>
                  <a:pt x="34498" y="27414"/>
                </a:cubicBezTo>
                <a:lnTo>
                  <a:pt x="33338" y="28575"/>
                </a:lnTo>
                <a:lnTo>
                  <a:pt x="0" y="9525"/>
                </a:lnTo>
                <a:lnTo>
                  <a:pt x="0" y="95250"/>
                </a:lnTo>
                <a:lnTo>
                  <a:pt x="46553" y="134035"/>
                </a:lnTo>
                <a:cubicBezTo>
                  <a:pt x="53400" y="139750"/>
                  <a:pt x="62032" y="142875"/>
                  <a:pt x="70931" y="142875"/>
                </a:cubicBezTo>
                <a:lnTo>
                  <a:pt x="75605" y="142875"/>
                </a:lnTo>
                <a:lnTo>
                  <a:pt x="73521" y="140791"/>
                </a:lnTo>
                <a:cubicBezTo>
                  <a:pt x="70723" y="137993"/>
                  <a:pt x="70723" y="133469"/>
                  <a:pt x="73521" y="130701"/>
                </a:cubicBezTo>
                <a:cubicBezTo>
                  <a:pt x="76319" y="127933"/>
                  <a:pt x="80843" y="127903"/>
                  <a:pt x="83612" y="130701"/>
                </a:cubicBezTo>
                <a:lnTo>
                  <a:pt x="95816" y="142905"/>
                </a:lnTo>
                <a:lnTo>
                  <a:pt x="98494" y="142905"/>
                </a:lnTo>
                <a:cubicBezTo>
                  <a:pt x="104180" y="142905"/>
                  <a:pt x="109746" y="141625"/>
                  <a:pt x="114806" y="139244"/>
                </a:cubicBezTo>
                <a:lnTo>
                  <a:pt x="106859" y="131266"/>
                </a:lnTo>
                <a:cubicBezTo>
                  <a:pt x="104061" y="128468"/>
                  <a:pt x="104061" y="123944"/>
                  <a:pt x="106859" y="121176"/>
                </a:cubicBezTo>
                <a:cubicBezTo>
                  <a:pt x="109657" y="118408"/>
                  <a:pt x="114181" y="118378"/>
                  <a:pt x="116949" y="121176"/>
                </a:cubicBezTo>
                <a:lnTo>
                  <a:pt x="126474" y="130701"/>
                </a:lnTo>
                <a:lnTo>
                  <a:pt x="131683" y="125492"/>
                </a:lnTo>
                <a:cubicBezTo>
                  <a:pt x="134332" y="122843"/>
                  <a:pt x="135106" y="119003"/>
                  <a:pt x="133945" y="115639"/>
                </a:cubicBezTo>
                <a:lnTo>
                  <a:pt x="92899" y="74920"/>
                </a:lnTo>
                <a:lnTo>
                  <a:pt x="88463" y="79355"/>
                </a:lnTo>
                <a:cubicBezTo>
                  <a:pt x="73789" y="94030"/>
                  <a:pt x="50036" y="94030"/>
                  <a:pt x="35362" y="79355"/>
                </a:cubicBezTo>
                <a:cubicBezTo>
                  <a:pt x="28515" y="72509"/>
                  <a:pt x="28248" y="61526"/>
                  <a:pt x="34707" y="54352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4" name="Text 32"/>
          <p:cNvSpPr/>
          <p:nvPr/>
        </p:nvSpPr>
        <p:spPr>
          <a:xfrm>
            <a:off x="2667000" y="6360319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协同推进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29350" y="1752600"/>
            <a:ext cx="5581650" cy="1685925"/>
          </a:xfrm>
          <a:custGeom>
            <a:avLst/>
            <a:gdLst/>
            <a:ahLst/>
            <a:cxnLst/>
            <a:rect l="l" t="t" r="r" b="b"/>
            <a:pathLst>
              <a:path w="5581650" h="1685925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609721"/>
                </a:lnTo>
                <a:cubicBezTo>
                  <a:pt x="5581650" y="1651807"/>
                  <a:pt x="5547532" y="1685925"/>
                  <a:pt x="5505446" y="1685925"/>
                </a:cubicBez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</p:spPr>
      </p:sp>
      <p:sp>
        <p:nvSpPr>
          <p:cNvPr id="36" name="Shape 34"/>
          <p:cNvSpPr/>
          <p:nvPr/>
        </p:nvSpPr>
        <p:spPr>
          <a:xfrm>
            <a:off x="6229350" y="1752600"/>
            <a:ext cx="38100" cy="1685925"/>
          </a:xfrm>
          <a:custGeom>
            <a:avLst/>
            <a:gdLst/>
            <a:ahLst/>
            <a:cxnLst/>
            <a:rect l="l" t="t" r="r" b="b"/>
            <a:pathLst>
              <a:path w="38100" h="1685925">
                <a:moveTo>
                  <a:pt x="38100" y="0"/>
                </a:moveTo>
                <a:lnTo>
                  <a:pt x="38100" y="0"/>
                </a:lnTo>
                <a:lnTo>
                  <a:pt x="38100" y="1685925"/>
                </a:ln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7" name="Shape 35"/>
          <p:cNvSpPr/>
          <p:nvPr/>
        </p:nvSpPr>
        <p:spPr>
          <a:xfrm>
            <a:off x="6477000" y="205561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8" name="Text 36"/>
          <p:cNvSpPr/>
          <p:nvPr/>
        </p:nvSpPr>
        <p:spPr>
          <a:xfrm>
            <a:off x="6405563" y="2055614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77100" y="2055614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考核机制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77100" y="2474714"/>
            <a:ext cx="43910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关键角色认证与团队考核，保障执行落地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286625" y="294382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1199" y="-2381"/>
                </a:moveTo>
                <a:cubicBezTo>
                  <a:pt x="69384" y="-4227"/>
                  <a:pt x="66735" y="-4971"/>
                  <a:pt x="64234" y="-4286"/>
                </a:cubicBezTo>
                <a:cubicBezTo>
                  <a:pt x="61734" y="-3602"/>
                  <a:pt x="59799" y="-1667"/>
                  <a:pt x="59174" y="833"/>
                </a:cubicBezTo>
                <a:lnTo>
                  <a:pt x="54620" y="18752"/>
                </a:lnTo>
                <a:cubicBezTo>
                  <a:pt x="54293" y="20062"/>
                  <a:pt x="52953" y="20836"/>
                  <a:pt x="51673" y="20449"/>
                </a:cubicBezTo>
                <a:lnTo>
                  <a:pt x="33873" y="15448"/>
                </a:lnTo>
                <a:cubicBezTo>
                  <a:pt x="31373" y="14734"/>
                  <a:pt x="28694" y="15448"/>
                  <a:pt x="26878" y="17264"/>
                </a:cubicBezTo>
                <a:cubicBezTo>
                  <a:pt x="25063" y="19080"/>
                  <a:pt x="24348" y="21759"/>
                  <a:pt x="25063" y="24259"/>
                </a:cubicBezTo>
                <a:lnTo>
                  <a:pt x="30093" y="42059"/>
                </a:lnTo>
                <a:cubicBezTo>
                  <a:pt x="30450" y="43339"/>
                  <a:pt x="29676" y="44678"/>
                  <a:pt x="28396" y="45006"/>
                </a:cubicBezTo>
                <a:lnTo>
                  <a:pt x="10448" y="49560"/>
                </a:lnTo>
                <a:cubicBezTo>
                  <a:pt x="7947" y="50185"/>
                  <a:pt x="5983" y="52149"/>
                  <a:pt x="5298" y="54650"/>
                </a:cubicBezTo>
                <a:cubicBezTo>
                  <a:pt x="4614" y="57150"/>
                  <a:pt x="5358" y="59799"/>
                  <a:pt x="7203" y="61615"/>
                </a:cubicBezTo>
                <a:lnTo>
                  <a:pt x="20449" y="74503"/>
                </a:lnTo>
                <a:cubicBezTo>
                  <a:pt x="21401" y="75426"/>
                  <a:pt x="21401" y="76974"/>
                  <a:pt x="20449" y="77926"/>
                </a:cubicBezTo>
                <a:lnTo>
                  <a:pt x="7233" y="90815"/>
                </a:lnTo>
                <a:cubicBezTo>
                  <a:pt x="5388" y="92631"/>
                  <a:pt x="4643" y="95280"/>
                  <a:pt x="5328" y="97780"/>
                </a:cubicBezTo>
                <a:cubicBezTo>
                  <a:pt x="6013" y="100280"/>
                  <a:pt x="7977" y="102215"/>
                  <a:pt x="10478" y="102870"/>
                </a:cubicBezTo>
                <a:lnTo>
                  <a:pt x="28396" y="107424"/>
                </a:lnTo>
                <a:cubicBezTo>
                  <a:pt x="29706" y="107752"/>
                  <a:pt x="30480" y="109091"/>
                  <a:pt x="30093" y="110371"/>
                </a:cubicBezTo>
                <a:lnTo>
                  <a:pt x="25063" y="128141"/>
                </a:lnTo>
                <a:cubicBezTo>
                  <a:pt x="24348" y="130641"/>
                  <a:pt x="25063" y="133320"/>
                  <a:pt x="26878" y="135136"/>
                </a:cubicBezTo>
                <a:cubicBezTo>
                  <a:pt x="28694" y="136952"/>
                  <a:pt x="31373" y="137666"/>
                  <a:pt x="33873" y="136952"/>
                </a:cubicBezTo>
                <a:lnTo>
                  <a:pt x="51673" y="131921"/>
                </a:lnTo>
                <a:cubicBezTo>
                  <a:pt x="52953" y="131564"/>
                  <a:pt x="54293" y="132338"/>
                  <a:pt x="54620" y="133618"/>
                </a:cubicBezTo>
                <a:lnTo>
                  <a:pt x="59174" y="151537"/>
                </a:lnTo>
                <a:cubicBezTo>
                  <a:pt x="59799" y="154037"/>
                  <a:pt x="61764" y="156002"/>
                  <a:pt x="64264" y="156686"/>
                </a:cubicBezTo>
                <a:cubicBezTo>
                  <a:pt x="66764" y="157371"/>
                  <a:pt x="69413" y="156627"/>
                  <a:pt x="71229" y="154781"/>
                </a:cubicBezTo>
                <a:lnTo>
                  <a:pt x="84118" y="141536"/>
                </a:lnTo>
                <a:cubicBezTo>
                  <a:pt x="85040" y="140583"/>
                  <a:pt x="86588" y="140583"/>
                  <a:pt x="87541" y="141536"/>
                </a:cubicBezTo>
                <a:lnTo>
                  <a:pt x="100399" y="154781"/>
                </a:lnTo>
                <a:cubicBezTo>
                  <a:pt x="102215" y="156627"/>
                  <a:pt x="104864" y="157371"/>
                  <a:pt x="107365" y="156686"/>
                </a:cubicBezTo>
                <a:cubicBezTo>
                  <a:pt x="109865" y="156002"/>
                  <a:pt x="111800" y="154037"/>
                  <a:pt x="112455" y="151537"/>
                </a:cubicBezTo>
                <a:lnTo>
                  <a:pt x="117009" y="133648"/>
                </a:lnTo>
                <a:cubicBezTo>
                  <a:pt x="117336" y="132338"/>
                  <a:pt x="118676" y="131564"/>
                  <a:pt x="119955" y="131951"/>
                </a:cubicBezTo>
                <a:lnTo>
                  <a:pt x="137755" y="136981"/>
                </a:lnTo>
                <a:cubicBezTo>
                  <a:pt x="140256" y="137696"/>
                  <a:pt x="142935" y="136981"/>
                  <a:pt x="144750" y="135166"/>
                </a:cubicBezTo>
                <a:cubicBezTo>
                  <a:pt x="146566" y="133350"/>
                  <a:pt x="147280" y="130671"/>
                  <a:pt x="146566" y="128171"/>
                </a:cubicBezTo>
                <a:lnTo>
                  <a:pt x="141536" y="110371"/>
                </a:lnTo>
                <a:cubicBezTo>
                  <a:pt x="141178" y="109091"/>
                  <a:pt x="141952" y="107752"/>
                  <a:pt x="143232" y="107424"/>
                </a:cubicBezTo>
                <a:lnTo>
                  <a:pt x="161151" y="102870"/>
                </a:lnTo>
                <a:cubicBezTo>
                  <a:pt x="163651" y="102245"/>
                  <a:pt x="165616" y="100280"/>
                  <a:pt x="166301" y="97780"/>
                </a:cubicBezTo>
                <a:cubicBezTo>
                  <a:pt x="166985" y="95280"/>
                  <a:pt x="166241" y="92601"/>
                  <a:pt x="164396" y="90815"/>
                </a:cubicBezTo>
                <a:lnTo>
                  <a:pt x="151150" y="77926"/>
                </a:lnTo>
                <a:cubicBezTo>
                  <a:pt x="150197" y="77004"/>
                  <a:pt x="150197" y="75456"/>
                  <a:pt x="151150" y="74503"/>
                </a:cubicBezTo>
                <a:lnTo>
                  <a:pt x="164396" y="61615"/>
                </a:lnTo>
                <a:cubicBezTo>
                  <a:pt x="166241" y="59799"/>
                  <a:pt x="166985" y="57150"/>
                  <a:pt x="166301" y="54650"/>
                </a:cubicBezTo>
                <a:cubicBezTo>
                  <a:pt x="165616" y="52149"/>
                  <a:pt x="163651" y="50215"/>
                  <a:pt x="161151" y="49560"/>
                </a:cubicBezTo>
                <a:lnTo>
                  <a:pt x="143232" y="45006"/>
                </a:lnTo>
                <a:cubicBezTo>
                  <a:pt x="141923" y="44678"/>
                  <a:pt x="141149" y="43339"/>
                  <a:pt x="141536" y="42059"/>
                </a:cubicBezTo>
                <a:lnTo>
                  <a:pt x="146566" y="24259"/>
                </a:lnTo>
                <a:cubicBezTo>
                  <a:pt x="147280" y="21759"/>
                  <a:pt x="146566" y="19080"/>
                  <a:pt x="144750" y="17264"/>
                </a:cubicBezTo>
                <a:cubicBezTo>
                  <a:pt x="142935" y="15448"/>
                  <a:pt x="140256" y="14734"/>
                  <a:pt x="137755" y="15448"/>
                </a:cubicBezTo>
                <a:lnTo>
                  <a:pt x="119955" y="20479"/>
                </a:lnTo>
                <a:cubicBezTo>
                  <a:pt x="118676" y="20836"/>
                  <a:pt x="117336" y="20062"/>
                  <a:pt x="117009" y="18782"/>
                </a:cubicBezTo>
                <a:lnTo>
                  <a:pt x="112455" y="833"/>
                </a:lnTo>
                <a:cubicBezTo>
                  <a:pt x="111829" y="-1667"/>
                  <a:pt x="109865" y="-3631"/>
                  <a:pt x="107365" y="-4316"/>
                </a:cubicBezTo>
                <a:cubicBezTo>
                  <a:pt x="104864" y="-5001"/>
                  <a:pt x="102215" y="-4256"/>
                  <a:pt x="100399" y="-2411"/>
                </a:cubicBezTo>
                <a:lnTo>
                  <a:pt x="87511" y="10864"/>
                </a:lnTo>
                <a:cubicBezTo>
                  <a:pt x="86588" y="11817"/>
                  <a:pt x="85040" y="11817"/>
                  <a:pt x="84088" y="10864"/>
                </a:cubicBezTo>
                <a:lnTo>
                  <a:pt x="71199" y="-2381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42" name="Text 40"/>
          <p:cNvSpPr/>
          <p:nvPr/>
        </p:nvSpPr>
        <p:spPr>
          <a:xfrm>
            <a:off x="7467600" y="290572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认证体系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24850" y="29438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44" name="Text 42"/>
          <p:cNvSpPr/>
          <p:nvPr/>
        </p:nvSpPr>
        <p:spPr>
          <a:xfrm>
            <a:off x="8496300" y="290572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激励驱动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29350" y="3665934"/>
            <a:ext cx="5581650" cy="1685925"/>
          </a:xfrm>
          <a:custGeom>
            <a:avLst/>
            <a:gdLst/>
            <a:ahLst/>
            <a:cxnLst/>
            <a:rect l="l" t="t" r="r" b="b"/>
            <a:pathLst>
              <a:path w="5581650" h="1685925">
                <a:moveTo>
                  <a:pt x="3810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609721"/>
                </a:lnTo>
                <a:cubicBezTo>
                  <a:pt x="5581650" y="1651807"/>
                  <a:pt x="5547532" y="1685925"/>
                  <a:pt x="5505446" y="1685925"/>
                </a:cubicBez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</p:spPr>
      </p:sp>
      <p:sp>
        <p:nvSpPr>
          <p:cNvPr id="46" name="Shape 44"/>
          <p:cNvSpPr/>
          <p:nvPr/>
        </p:nvSpPr>
        <p:spPr>
          <a:xfrm>
            <a:off x="6229350" y="3665934"/>
            <a:ext cx="38100" cy="1685925"/>
          </a:xfrm>
          <a:custGeom>
            <a:avLst/>
            <a:gdLst/>
            <a:ahLst/>
            <a:cxnLst/>
            <a:rect l="l" t="t" r="r" b="b"/>
            <a:pathLst>
              <a:path w="38100" h="1685925">
                <a:moveTo>
                  <a:pt x="38100" y="0"/>
                </a:moveTo>
                <a:lnTo>
                  <a:pt x="38100" y="0"/>
                </a:lnTo>
                <a:lnTo>
                  <a:pt x="38100" y="1685925"/>
                </a:lnTo>
                <a:lnTo>
                  <a:pt x="38100" y="1685925"/>
                </a:lnTo>
                <a:cubicBezTo>
                  <a:pt x="17072" y="1685925"/>
                  <a:pt x="0" y="1668853"/>
                  <a:pt x="0" y="1647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47" name="Shape 45"/>
          <p:cNvSpPr/>
          <p:nvPr/>
        </p:nvSpPr>
        <p:spPr>
          <a:xfrm>
            <a:off x="6477000" y="39689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48" name="Text 46"/>
          <p:cNvSpPr/>
          <p:nvPr/>
        </p:nvSpPr>
        <p:spPr>
          <a:xfrm>
            <a:off x="6405563" y="3968948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277100" y="3968948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运营与推进计划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277100" y="4388048"/>
            <a:ext cx="4391025" cy="276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检视机制、分享机制与2026年推进路线图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277100" y="485715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52" name="Text 50"/>
          <p:cNvSpPr/>
          <p:nvPr/>
        </p:nvSpPr>
        <p:spPr>
          <a:xfrm>
            <a:off x="7467600" y="4819055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运营机制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34375" y="485715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91797" y="68074"/>
                </a:moveTo>
                <a:cubicBezTo>
                  <a:pt x="93881" y="64740"/>
                  <a:pt x="92869" y="60335"/>
                  <a:pt x="89535" y="58222"/>
                </a:cubicBezTo>
                <a:cubicBezTo>
                  <a:pt x="86201" y="56108"/>
                  <a:pt x="81796" y="57150"/>
                  <a:pt x="79683" y="60484"/>
                </a:cubicBezTo>
                <a:lnTo>
                  <a:pt x="61406" y="89743"/>
                </a:lnTo>
                <a:lnTo>
                  <a:pt x="53370" y="79028"/>
                </a:lnTo>
                <a:cubicBezTo>
                  <a:pt x="50989" y="75873"/>
                  <a:pt x="46524" y="75218"/>
                  <a:pt x="43369" y="77599"/>
                </a:cubicBezTo>
                <a:cubicBezTo>
                  <a:pt x="40213" y="79980"/>
                  <a:pt x="39559" y="84445"/>
                  <a:pt x="41940" y="87600"/>
                </a:cubicBezTo>
                <a:lnTo>
                  <a:pt x="56227" y="106650"/>
                </a:lnTo>
                <a:cubicBezTo>
                  <a:pt x="57626" y="108525"/>
                  <a:pt x="59888" y="109597"/>
                  <a:pt x="62240" y="109508"/>
                </a:cubicBezTo>
                <a:cubicBezTo>
                  <a:pt x="64591" y="109418"/>
                  <a:pt x="66735" y="108168"/>
                  <a:pt x="67985" y="106144"/>
                </a:cubicBezTo>
                <a:lnTo>
                  <a:pt x="91797" y="68044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54" name="Text 52"/>
          <p:cNvSpPr/>
          <p:nvPr/>
        </p:nvSpPr>
        <p:spPr>
          <a:xfrm>
            <a:off x="8496300" y="4819055"/>
            <a:ext cx="60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时间表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15063" y="5584031"/>
            <a:ext cx="5591175" cy="1228725"/>
          </a:xfrm>
          <a:custGeom>
            <a:avLst/>
            <a:gdLst/>
            <a:ahLst/>
            <a:cxnLst/>
            <a:rect l="l" t="t" r="r" b="b"/>
            <a:pathLst>
              <a:path w="5591175" h="1228725">
                <a:moveTo>
                  <a:pt x="76206" y="0"/>
                </a:moveTo>
                <a:lnTo>
                  <a:pt x="5514969" y="0"/>
                </a:lnTo>
                <a:cubicBezTo>
                  <a:pt x="5557057" y="0"/>
                  <a:pt x="5591175" y="34118"/>
                  <a:pt x="5591175" y="76206"/>
                </a:cubicBezTo>
                <a:lnTo>
                  <a:pt x="5591175" y="1152519"/>
                </a:lnTo>
                <a:cubicBezTo>
                  <a:pt x="5591175" y="1194607"/>
                  <a:pt x="5557057" y="1228725"/>
                  <a:pt x="5514969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50000">
                <a:srgbClr val="10B981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ang="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86525" y="605551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57" name="Text 55"/>
          <p:cNvSpPr/>
          <p:nvPr/>
        </p:nvSpPr>
        <p:spPr>
          <a:xfrm>
            <a:off x="6958013" y="5931694"/>
            <a:ext cx="27241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立即行动，引领变革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958013" y="6236494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AI-Native转型不是选择题，而是必答题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265271" y="5817394"/>
            <a:ext cx="13049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600" b="1" dirty="0">
                <a:solidFill>
                  <a:srgbClr val="3B82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2026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408146" y="6312694"/>
            <a:ext cx="1162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全面实施年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f4de169b14e652eee9846eb9562a40cc8bc488ea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6" b="6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930003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5" name="Text 2"/>
          <p:cNvSpPr/>
          <p:nvPr/>
        </p:nvSpPr>
        <p:spPr>
          <a:xfrm>
            <a:off x="609600" y="1339453"/>
            <a:ext cx="3543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3B82F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600" y="1720453"/>
            <a:ext cx="3771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变革背景与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战略意义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3739753"/>
            <a:ext cx="3686175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为什么必须转型？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4546997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9" name="Text 6"/>
          <p:cNvSpPr/>
          <p:nvPr/>
        </p:nvSpPr>
        <p:spPr>
          <a:xfrm>
            <a:off x="1562100" y="4432697"/>
            <a:ext cx="2762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业界趋势与公司实践的双重验证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90563" y="5008959"/>
            <a:ext cx="1504950" cy="504825"/>
          </a:xfrm>
          <a:custGeom>
            <a:avLst/>
            <a:gdLst/>
            <a:ahLst/>
            <a:cxnLst/>
            <a:rect l="l" t="t" r="r" b="b"/>
            <a:pathLst>
              <a:path w="1504950" h="504825">
                <a:moveTo>
                  <a:pt x="76198" y="0"/>
                </a:moveTo>
                <a:lnTo>
                  <a:pt x="1428752" y="0"/>
                </a:lnTo>
                <a:cubicBezTo>
                  <a:pt x="1470835" y="0"/>
                  <a:pt x="1504950" y="34115"/>
                  <a:pt x="1504950" y="76198"/>
                </a:cubicBezTo>
                <a:lnTo>
                  <a:pt x="1504950" y="428627"/>
                </a:lnTo>
                <a:cubicBezTo>
                  <a:pt x="1504950" y="470710"/>
                  <a:pt x="1470835" y="504825"/>
                  <a:pt x="1428752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7737" y="516612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12" name="Text 9"/>
          <p:cNvSpPr/>
          <p:nvPr/>
        </p:nvSpPr>
        <p:spPr>
          <a:xfrm>
            <a:off x="1276350" y="5128022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战略驱动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33638" y="5008959"/>
            <a:ext cx="1504950" cy="504825"/>
          </a:xfrm>
          <a:custGeom>
            <a:avLst/>
            <a:gdLst/>
            <a:ahLst/>
            <a:cxnLst/>
            <a:rect l="l" t="t" r="r" b="b"/>
            <a:pathLst>
              <a:path w="1504950" h="504825">
                <a:moveTo>
                  <a:pt x="76198" y="0"/>
                </a:moveTo>
                <a:lnTo>
                  <a:pt x="1428752" y="0"/>
                </a:lnTo>
                <a:cubicBezTo>
                  <a:pt x="1470835" y="0"/>
                  <a:pt x="1504950" y="34115"/>
                  <a:pt x="1504950" y="76198"/>
                </a:cubicBezTo>
                <a:lnTo>
                  <a:pt x="1504950" y="428627"/>
                </a:lnTo>
                <a:cubicBezTo>
                  <a:pt x="1504950" y="470710"/>
                  <a:pt x="1470835" y="504825"/>
                  <a:pt x="1428752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90813" y="516612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15" name="Text 12"/>
          <p:cNvSpPr/>
          <p:nvPr/>
        </p:nvSpPr>
        <p:spPr>
          <a:xfrm>
            <a:off x="3019425" y="5128022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趋势验证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552450" y="381000"/>
            <a:ext cx="53149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变革驱动力：AI重塑软件开发范式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838200"/>
            <a:ext cx="11287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从代码驱动到需求驱动，从人工编程到AI自主生成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610225" cy="1838325"/>
          </a:xfrm>
          <a:custGeom>
            <a:avLst/>
            <a:gdLst/>
            <a:ahLst/>
            <a:cxnLst/>
            <a:rect l="l" t="t" r="r" b="b"/>
            <a:pathLst>
              <a:path w="5610225" h="183832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724018"/>
                </a:lnTo>
                <a:cubicBezTo>
                  <a:pt x="5610225" y="1787148"/>
                  <a:pt x="5559048" y="1838325"/>
                  <a:pt x="5495918" y="1838325"/>
                </a:cubicBezTo>
                <a:lnTo>
                  <a:pt x="114307" y="1838325"/>
                </a:lnTo>
                <a:cubicBezTo>
                  <a:pt x="51177" y="1838325"/>
                  <a:pt x="0" y="1787148"/>
                  <a:pt x="0" y="17240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7" name="Shape 5"/>
          <p:cNvSpPr/>
          <p:nvPr/>
        </p:nvSpPr>
        <p:spPr>
          <a:xfrm>
            <a:off x="71437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152525" y="1609725"/>
            <a:ext cx="102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战略要求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143125"/>
            <a:ext cx="5295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公司战略中的全面AI转型，要求研发的吞吐以及产品的迭代速度发生质的改变。传统研发模式已无法满足业务快速演进的需求。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2809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11" name="Text 9"/>
          <p:cNvSpPr/>
          <p:nvPr/>
        </p:nvSpPr>
        <p:spPr>
          <a:xfrm>
            <a:off x="847725" y="2790825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9E0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转型势在必行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763" y="3338513"/>
            <a:ext cx="5610225" cy="2486025"/>
          </a:xfrm>
          <a:custGeom>
            <a:avLst/>
            <a:gdLst/>
            <a:ahLst/>
            <a:cxnLst/>
            <a:rect l="l" t="t" r="r" b="b"/>
            <a:pathLst>
              <a:path w="5610225" h="248602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2371718"/>
                </a:lnTo>
                <a:cubicBezTo>
                  <a:pt x="5610225" y="2434848"/>
                  <a:pt x="5559048" y="2486025"/>
                  <a:pt x="5495918" y="2486025"/>
                </a:cubicBezTo>
                <a:lnTo>
                  <a:pt x="114307" y="2486025"/>
                </a:lnTo>
                <a:cubicBezTo>
                  <a:pt x="51177" y="2486025"/>
                  <a:pt x="0" y="2434848"/>
                  <a:pt x="0" y="23717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1025" y="3533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14" name="Shape 12"/>
          <p:cNvSpPr/>
          <p:nvPr/>
        </p:nvSpPr>
        <p:spPr>
          <a:xfrm>
            <a:off x="714375" y="3667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1152525" y="3609975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业界实践验证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1025" y="42195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771525" y="4143375"/>
            <a:ext cx="4076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Gartner预测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1525" y="4371975"/>
            <a:ext cx="4067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到2026年底，80%的软件工程团队将转化为AI增强的"微型作战单元"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1025" y="47529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771525" y="4676775"/>
            <a:ext cx="3390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OpenClaw案例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1525" y="4905375"/>
            <a:ext cx="3381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作者一人完成的Weekend Project，仅几个周末完成初版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1025" y="52863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771525" y="5210175"/>
            <a:ext cx="1857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Anthropic实践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1525" y="5438775"/>
            <a:ext cx="1847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整个公司代码已100%由AI生成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6013" y="1338263"/>
            <a:ext cx="5610225" cy="1800225"/>
          </a:xfrm>
          <a:custGeom>
            <a:avLst/>
            <a:gdLst/>
            <a:ahLst/>
            <a:cxnLst/>
            <a:rect l="l" t="t" r="r" b="b"/>
            <a:pathLst>
              <a:path w="5610225" h="1800225">
                <a:moveTo>
                  <a:pt x="114296" y="0"/>
                </a:moveTo>
                <a:lnTo>
                  <a:pt x="5495929" y="0"/>
                </a:lnTo>
                <a:cubicBezTo>
                  <a:pt x="5559011" y="0"/>
                  <a:pt x="5610225" y="51214"/>
                  <a:pt x="5610225" y="114296"/>
                </a:cubicBezTo>
                <a:lnTo>
                  <a:pt x="5610225" y="1685929"/>
                </a:lnTo>
                <a:cubicBezTo>
                  <a:pt x="5610225" y="1749011"/>
                  <a:pt x="5559011" y="1800225"/>
                  <a:pt x="5495929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127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27" name="Shape 25"/>
          <p:cNvSpPr/>
          <p:nvPr/>
        </p:nvSpPr>
        <p:spPr>
          <a:xfrm>
            <a:off x="6536531" y="16668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6962775" y="1609725"/>
            <a:ext cx="18135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8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深信服</a:t>
            </a:r>
            <a:r>
              <a:rPr lang="en-US" sz="18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试点验证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1275" y="2143125"/>
            <a:ext cx="5295900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2025年AI-Native试点项目证明，</a:t>
            </a:r>
            <a:r>
              <a:rPr lang="zh-CN" altLang="en-US" sz="120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深信服</a:t>
            </a:r>
            <a:r>
              <a:rPr lang="en-US" sz="120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产品研发使用AI-Native模式可带来</a:t>
            </a:r>
            <a:r>
              <a:rPr lang="en-US" sz="1350" b="1" dirty="0">
                <a:solidFill>
                  <a:srgbClr val="F59E0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较大效率提升</a:t>
            </a:r>
            <a:r>
              <a:rPr lang="en-US" sz="120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。试点数据显示，开发效率提升</a:t>
            </a:r>
            <a:r>
              <a:rPr lang="en-US" sz="1350" b="1" dirty="0">
                <a:solidFill>
                  <a:srgbClr val="F59E0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30-40%</a:t>
            </a:r>
            <a:r>
              <a:rPr lang="en-US" sz="120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，测试自动化覆盖率提升</a:t>
            </a:r>
            <a:r>
              <a:rPr lang="en-US" sz="1350" b="1" dirty="0">
                <a:solidFill>
                  <a:srgbClr val="F59E0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23%</a:t>
            </a:r>
            <a:r>
              <a:rPr lang="en-US" sz="120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，需求交付周期缩短</a:t>
            </a:r>
            <a:r>
              <a:rPr lang="en-US" sz="1350" b="1" dirty="0">
                <a:solidFill>
                  <a:srgbClr val="F59E0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18%</a:t>
            </a:r>
            <a:r>
              <a:rPr lang="en-US" sz="120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6013" y="3300413"/>
            <a:ext cx="5610225" cy="2447925"/>
          </a:xfrm>
          <a:custGeom>
            <a:avLst/>
            <a:gdLst/>
            <a:ahLst/>
            <a:cxnLst/>
            <a:rect l="l" t="t" r="r" b="b"/>
            <a:pathLst>
              <a:path w="5610225" h="2447925">
                <a:moveTo>
                  <a:pt x="114294" y="0"/>
                </a:moveTo>
                <a:lnTo>
                  <a:pt x="5495931" y="0"/>
                </a:lnTo>
                <a:cubicBezTo>
                  <a:pt x="5559054" y="0"/>
                  <a:pt x="5610225" y="51171"/>
                  <a:pt x="5610225" y="114294"/>
                </a:cubicBezTo>
                <a:lnTo>
                  <a:pt x="5610225" y="2333631"/>
                </a:lnTo>
                <a:cubicBezTo>
                  <a:pt x="5610225" y="2396754"/>
                  <a:pt x="5559054" y="2447925"/>
                  <a:pt x="5495931" y="2447925"/>
                </a:cubicBezTo>
                <a:lnTo>
                  <a:pt x="114294" y="2447925"/>
                </a:lnTo>
                <a:cubicBezTo>
                  <a:pt x="51171" y="2447925"/>
                  <a:pt x="0" y="2396754"/>
                  <a:pt x="0" y="23336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30000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91275" y="34956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10B981"/>
              </a:gs>
            </a:gsLst>
            <a:lin ang="2700000" scaled="1"/>
          </a:gradFill>
        </p:spPr>
      </p:sp>
      <p:sp>
        <p:nvSpPr>
          <p:cNvPr id="32" name="Shape 30"/>
          <p:cNvSpPr/>
          <p:nvPr/>
        </p:nvSpPr>
        <p:spPr>
          <a:xfrm>
            <a:off x="6536531" y="36290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1906" y="0"/>
                </a:moveTo>
                <a:cubicBezTo>
                  <a:pt x="18492" y="0"/>
                  <a:pt x="23812" y="5321"/>
                  <a:pt x="23812" y="11906"/>
                </a:cubicBezTo>
                <a:lnTo>
                  <a:pt x="23812" y="17859"/>
                </a:lnTo>
                <a:lnTo>
                  <a:pt x="49485" y="11460"/>
                </a:lnTo>
                <a:cubicBezTo>
                  <a:pt x="63661" y="7925"/>
                  <a:pt x="78618" y="9562"/>
                  <a:pt x="91715" y="16111"/>
                </a:cubicBezTo>
                <a:cubicBezTo>
                  <a:pt x="108942" y="24743"/>
                  <a:pt x="129220" y="24743"/>
                  <a:pt x="146447" y="16111"/>
                </a:cubicBezTo>
                <a:lnTo>
                  <a:pt x="150019" y="14325"/>
                </a:lnTo>
                <a:cubicBezTo>
                  <a:pt x="157683" y="10455"/>
                  <a:pt x="166688" y="16036"/>
                  <a:pt x="166688" y="24594"/>
                </a:cubicBezTo>
                <a:lnTo>
                  <a:pt x="166688" y="128662"/>
                </a:lnTo>
                <a:cubicBezTo>
                  <a:pt x="166688" y="133610"/>
                  <a:pt x="163599" y="138075"/>
                  <a:pt x="158948" y="139824"/>
                </a:cubicBezTo>
                <a:lnTo>
                  <a:pt x="146038" y="144661"/>
                </a:lnTo>
                <a:cubicBezTo>
                  <a:pt x="128848" y="151098"/>
                  <a:pt x="109724" y="150093"/>
                  <a:pt x="93315" y="141908"/>
                </a:cubicBezTo>
                <a:cubicBezTo>
                  <a:pt x="79214" y="134838"/>
                  <a:pt x="63029" y="133090"/>
                  <a:pt x="47737" y="136922"/>
                </a:cubicBezTo>
                <a:lnTo>
                  <a:pt x="23812" y="142875"/>
                </a:lnTo>
                <a:lnTo>
                  <a:pt x="23812" y="178594"/>
                </a:lnTo>
                <a:cubicBezTo>
                  <a:pt x="23812" y="185179"/>
                  <a:pt x="18492" y="190500"/>
                  <a:pt x="11906" y="190500"/>
                </a:cubicBezTo>
                <a:cubicBezTo>
                  <a:pt x="5321" y="190500"/>
                  <a:pt x="0" y="185179"/>
                  <a:pt x="0" y="178594"/>
                </a:cubicBezTo>
                <a:lnTo>
                  <a:pt x="0" y="11906"/>
                </a:lnTo>
                <a:cubicBezTo>
                  <a:pt x="0" y="5321"/>
                  <a:pt x="5321" y="0"/>
                  <a:pt x="11906" y="0"/>
                </a:cubicBezTo>
                <a:close/>
                <a:moveTo>
                  <a:pt x="23812" y="69614"/>
                </a:moveTo>
                <a:lnTo>
                  <a:pt x="47625" y="64443"/>
                </a:lnTo>
                <a:lnTo>
                  <a:pt x="47625" y="88813"/>
                </a:lnTo>
                <a:lnTo>
                  <a:pt x="23812" y="93985"/>
                </a:lnTo>
                <a:lnTo>
                  <a:pt x="23812" y="118356"/>
                </a:lnTo>
                <a:lnTo>
                  <a:pt x="41970" y="113816"/>
                </a:lnTo>
                <a:cubicBezTo>
                  <a:pt x="43867" y="113333"/>
                  <a:pt x="45727" y="112923"/>
                  <a:pt x="47625" y="112588"/>
                </a:cubicBezTo>
                <a:lnTo>
                  <a:pt x="47625" y="88813"/>
                </a:lnTo>
                <a:lnTo>
                  <a:pt x="62099" y="85688"/>
                </a:lnTo>
                <a:cubicBezTo>
                  <a:pt x="65187" y="85018"/>
                  <a:pt x="68312" y="84758"/>
                  <a:pt x="71438" y="84906"/>
                </a:cubicBezTo>
                <a:lnTo>
                  <a:pt x="71438" y="61094"/>
                </a:lnTo>
                <a:cubicBezTo>
                  <a:pt x="76498" y="61243"/>
                  <a:pt x="81558" y="62061"/>
                  <a:pt x="86469" y="63475"/>
                </a:cubicBezTo>
                <a:lnTo>
                  <a:pt x="95250" y="66042"/>
                </a:lnTo>
                <a:lnTo>
                  <a:pt x="95250" y="90860"/>
                </a:lnTo>
                <a:lnTo>
                  <a:pt x="79735" y="86283"/>
                </a:lnTo>
                <a:cubicBezTo>
                  <a:pt x="77019" y="85502"/>
                  <a:pt x="74228" y="85018"/>
                  <a:pt x="71438" y="84869"/>
                </a:cubicBezTo>
                <a:lnTo>
                  <a:pt x="71438" y="111435"/>
                </a:lnTo>
                <a:cubicBezTo>
                  <a:pt x="79549" y="112142"/>
                  <a:pt x="87548" y="113928"/>
                  <a:pt x="95250" y="116793"/>
                </a:cubicBezTo>
                <a:lnTo>
                  <a:pt x="95250" y="90822"/>
                </a:lnTo>
                <a:lnTo>
                  <a:pt x="103696" y="93315"/>
                </a:lnTo>
                <a:cubicBezTo>
                  <a:pt x="108719" y="94804"/>
                  <a:pt x="113854" y="95696"/>
                  <a:pt x="119063" y="96069"/>
                </a:cubicBezTo>
                <a:lnTo>
                  <a:pt x="119063" y="72182"/>
                </a:lnTo>
                <a:cubicBezTo>
                  <a:pt x="116160" y="71884"/>
                  <a:pt x="113258" y="71326"/>
                  <a:pt x="110430" y="70507"/>
                </a:cubicBezTo>
                <a:lnTo>
                  <a:pt x="95250" y="66042"/>
                </a:lnTo>
                <a:lnTo>
                  <a:pt x="95250" y="42974"/>
                </a:lnTo>
                <a:cubicBezTo>
                  <a:pt x="90413" y="41560"/>
                  <a:pt x="85651" y="39700"/>
                  <a:pt x="81037" y="37393"/>
                </a:cubicBezTo>
                <a:cubicBezTo>
                  <a:pt x="77986" y="35868"/>
                  <a:pt x="74749" y="34789"/>
                  <a:pt x="71438" y="34119"/>
                </a:cubicBezTo>
                <a:lnTo>
                  <a:pt x="71438" y="61057"/>
                </a:lnTo>
                <a:cubicBezTo>
                  <a:pt x="66601" y="60908"/>
                  <a:pt x="61764" y="61354"/>
                  <a:pt x="57038" y="62396"/>
                </a:cubicBezTo>
                <a:lnTo>
                  <a:pt x="47625" y="64443"/>
                </a:lnTo>
                <a:lnTo>
                  <a:pt x="47625" y="36463"/>
                </a:lnTo>
                <a:lnTo>
                  <a:pt x="23812" y="42416"/>
                </a:lnTo>
                <a:lnTo>
                  <a:pt x="23812" y="69614"/>
                </a:lnTo>
                <a:close/>
                <a:moveTo>
                  <a:pt x="119063" y="124904"/>
                </a:moveTo>
                <a:cubicBezTo>
                  <a:pt x="125313" y="125462"/>
                  <a:pt x="131676" y="124644"/>
                  <a:pt x="137666" y="122374"/>
                </a:cubicBezTo>
                <a:lnTo>
                  <a:pt x="142875" y="120439"/>
                </a:lnTo>
                <a:lnTo>
                  <a:pt x="142875" y="93762"/>
                </a:lnTo>
                <a:lnTo>
                  <a:pt x="139936" y="94431"/>
                </a:lnTo>
                <a:cubicBezTo>
                  <a:pt x="133090" y="96031"/>
                  <a:pt x="126057" y="96552"/>
                  <a:pt x="119063" y="96106"/>
                </a:cubicBezTo>
                <a:lnTo>
                  <a:pt x="119063" y="124904"/>
                </a:lnTo>
                <a:close/>
                <a:moveTo>
                  <a:pt x="142875" y="69317"/>
                </a:moveTo>
                <a:lnTo>
                  <a:pt x="142875" y="42974"/>
                </a:lnTo>
                <a:cubicBezTo>
                  <a:pt x="135099" y="45244"/>
                  <a:pt x="127099" y="46360"/>
                  <a:pt x="119063" y="46360"/>
                </a:cubicBezTo>
                <a:lnTo>
                  <a:pt x="119063" y="72182"/>
                </a:lnTo>
                <a:cubicBezTo>
                  <a:pt x="124234" y="72703"/>
                  <a:pt x="129480" y="72368"/>
                  <a:pt x="134578" y="71214"/>
                </a:cubicBezTo>
                <a:lnTo>
                  <a:pt x="142875" y="6927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6962775" y="3571875"/>
            <a:ext cx="18002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2026年战略目标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91275" y="4105275"/>
            <a:ext cx="5295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AI-Native模式推广到所有研发部门，对业务快速推进起到至关重要的催化作用。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1275" y="4752975"/>
            <a:ext cx="1666875" cy="800100"/>
          </a:xfrm>
          <a:custGeom>
            <a:avLst/>
            <a:gdLst/>
            <a:ahLst/>
            <a:cxnLst/>
            <a:rect l="l" t="t" r="r" b="b"/>
            <a:pathLst>
              <a:path w="1666875" h="800100">
                <a:moveTo>
                  <a:pt x="76202" y="0"/>
                </a:moveTo>
                <a:lnTo>
                  <a:pt x="1590673" y="0"/>
                </a:lnTo>
                <a:cubicBezTo>
                  <a:pt x="1632758" y="0"/>
                  <a:pt x="1666875" y="34117"/>
                  <a:pt x="1666875" y="76202"/>
                </a:cubicBezTo>
                <a:lnTo>
                  <a:pt x="1666875" y="723898"/>
                </a:lnTo>
                <a:cubicBezTo>
                  <a:pt x="1666875" y="765955"/>
                  <a:pt x="1632730" y="800100"/>
                  <a:pt x="15906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6434138" y="4867275"/>
            <a:ext cx="1581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100%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72238" y="5248275"/>
            <a:ext cx="1504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部门覆盖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69250" y="4752975"/>
            <a:ext cx="1666875" cy="800100"/>
          </a:xfrm>
          <a:custGeom>
            <a:avLst/>
            <a:gdLst/>
            <a:ahLst/>
            <a:cxnLst/>
            <a:rect l="l" t="t" r="r" b="b"/>
            <a:pathLst>
              <a:path w="1666875" h="800100">
                <a:moveTo>
                  <a:pt x="76202" y="0"/>
                </a:moveTo>
                <a:lnTo>
                  <a:pt x="1590673" y="0"/>
                </a:lnTo>
                <a:cubicBezTo>
                  <a:pt x="1632758" y="0"/>
                  <a:pt x="1666875" y="34117"/>
                  <a:pt x="1666875" y="76202"/>
                </a:cubicBezTo>
                <a:lnTo>
                  <a:pt x="1666875" y="723898"/>
                </a:lnTo>
                <a:cubicBezTo>
                  <a:pt x="1666875" y="765955"/>
                  <a:pt x="1632730" y="800100"/>
                  <a:pt x="15906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8212113" y="4867275"/>
            <a:ext cx="1581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0B98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50%+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50213" y="5248275"/>
            <a:ext cx="1504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47225" y="4752975"/>
            <a:ext cx="1666875" cy="800100"/>
          </a:xfrm>
          <a:custGeom>
            <a:avLst/>
            <a:gdLst/>
            <a:ahLst/>
            <a:cxnLst/>
            <a:rect l="l" t="t" r="r" b="b"/>
            <a:pathLst>
              <a:path w="1666875" h="800100">
                <a:moveTo>
                  <a:pt x="76202" y="0"/>
                </a:moveTo>
                <a:lnTo>
                  <a:pt x="1590673" y="0"/>
                </a:lnTo>
                <a:cubicBezTo>
                  <a:pt x="1632758" y="0"/>
                  <a:pt x="1666875" y="34117"/>
                  <a:pt x="1666875" y="76202"/>
                </a:cubicBezTo>
                <a:lnTo>
                  <a:pt x="1666875" y="723898"/>
                </a:lnTo>
                <a:cubicBezTo>
                  <a:pt x="1666875" y="765955"/>
                  <a:pt x="1632730" y="800100"/>
                  <a:pt x="15906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9990088" y="4867275"/>
            <a:ext cx="1581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59E0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25%+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028188" y="5248275"/>
            <a:ext cx="1504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周期压缩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5763" y="598646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76200" y="0"/>
                </a:moveTo>
                <a:lnTo>
                  <a:pt x="11344275" y="0"/>
                </a:lnTo>
                <a:cubicBezTo>
                  <a:pt x="11386359" y="0"/>
                  <a:pt x="11420475" y="34116"/>
                  <a:pt x="11420475" y="76200"/>
                </a:cubicBezTo>
                <a:lnTo>
                  <a:pt x="11420475" y="466725"/>
                </a:lnTo>
                <a:cubicBezTo>
                  <a:pt x="11420475" y="508809"/>
                  <a:pt x="11386359" y="542925"/>
                  <a:pt x="11344275" y="542925"/>
                </a:cubicBezTo>
                <a:lnTo>
                  <a:pt x="76200" y="542925"/>
                </a:lnTo>
                <a:cubicBezTo>
                  <a:pt x="34116" y="542925"/>
                  <a:pt x="0" y="508809"/>
                  <a:pt x="0" y="4667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0075" y="61436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46" name="Text 44"/>
          <p:cNvSpPr/>
          <p:nvPr/>
        </p:nvSpPr>
        <p:spPr>
          <a:xfrm>
            <a:off x="981075" y="6143625"/>
            <a:ext cx="9410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核心洞察：</a:t>
            </a:r>
            <a:r>
              <a:rPr lang="en-US" sz="120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AI-Native转型不是简单的工具升级，而是研发范式的根本性变革。开发者从"代码书写者"进化为"意图架构师"与"可靠性仲裁官"。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35b9d49eb19a60bfa36d5c08c6e49f4009e7fe90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10625" b="1062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930003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5" name="Text 2"/>
          <p:cNvSpPr/>
          <p:nvPr/>
        </p:nvSpPr>
        <p:spPr>
          <a:xfrm>
            <a:off x="609600" y="1768078"/>
            <a:ext cx="4229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10B98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600" y="2149078"/>
            <a:ext cx="4457700" cy="857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变革目标体系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3311128"/>
            <a:ext cx="4181475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我们要达成什么？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4118372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9" name="Text 6"/>
          <p:cNvSpPr/>
          <p:nvPr/>
        </p:nvSpPr>
        <p:spPr>
          <a:xfrm>
            <a:off x="1562100" y="4004072"/>
            <a:ext cx="2571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结果目标与过程目标双轮驱动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90563" y="4580334"/>
            <a:ext cx="1676400" cy="504825"/>
          </a:xfrm>
          <a:custGeom>
            <a:avLst/>
            <a:gdLst/>
            <a:ahLst/>
            <a:cxnLst/>
            <a:rect l="l" t="t" r="r" b="b"/>
            <a:pathLst>
              <a:path w="1676400" h="504825">
                <a:moveTo>
                  <a:pt x="76198" y="0"/>
                </a:moveTo>
                <a:lnTo>
                  <a:pt x="1600202" y="0"/>
                </a:lnTo>
                <a:cubicBezTo>
                  <a:pt x="1642285" y="0"/>
                  <a:pt x="1676400" y="34115"/>
                  <a:pt x="1676400" y="76198"/>
                </a:cubicBezTo>
                <a:lnTo>
                  <a:pt x="1676400" y="428627"/>
                </a:lnTo>
                <a:cubicBezTo>
                  <a:pt x="1676400" y="470710"/>
                  <a:pt x="1642285" y="504825"/>
                  <a:pt x="1600202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7737" y="473749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12" name="Text 9"/>
          <p:cNvSpPr/>
          <p:nvPr/>
        </p:nvSpPr>
        <p:spPr>
          <a:xfrm>
            <a:off x="1276350" y="4699397"/>
            <a:ext cx="942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端到端效率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605088" y="4580334"/>
            <a:ext cx="1504950" cy="504825"/>
          </a:xfrm>
          <a:custGeom>
            <a:avLst/>
            <a:gdLst/>
            <a:ahLst/>
            <a:cxnLst/>
            <a:rect l="l" t="t" r="r" b="b"/>
            <a:pathLst>
              <a:path w="1504950" h="504825">
                <a:moveTo>
                  <a:pt x="76198" y="0"/>
                </a:moveTo>
                <a:lnTo>
                  <a:pt x="1428752" y="0"/>
                </a:lnTo>
                <a:cubicBezTo>
                  <a:pt x="1470835" y="0"/>
                  <a:pt x="1504950" y="34115"/>
                  <a:pt x="1504950" y="76198"/>
                </a:cubicBezTo>
                <a:lnTo>
                  <a:pt x="1504950" y="428627"/>
                </a:lnTo>
                <a:cubicBezTo>
                  <a:pt x="1504950" y="470710"/>
                  <a:pt x="1470835" y="504825"/>
                  <a:pt x="1428752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62263" y="473749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15" name="Text 12"/>
          <p:cNvSpPr/>
          <p:nvPr/>
        </p:nvSpPr>
        <p:spPr>
          <a:xfrm>
            <a:off x="3190875" y="4699397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能力度量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381000"/>
          </a:xfrm>
          <a:custGeom>
            <a:avLst/>
            <a:gdLst/>
            <a:ahLst/>
            <a:cxnLst/>
            <a:rect l="l" t="t" r="r" b="b"/>
            <a:pathLst>
              <a:path w="57150" h="381000">
                <a:moveTo>
                  <a:pt x="0" y="0"/>
                </a:moveTo>
                <a:lnTo>
                  <a:pt x="57150" y="0"/>
                </a:lnTo>
                <a:lnTo>
                  <a:pt x="571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552450" y="381000"/>
            <a:ext cx="4276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结果目标：端到端效率提升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600" y="838200"/>
            <a:ext cx="11287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按部门类别分层设定，精准考核端到端发布周期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00163"/>
            <a:ext cx="6734175" cy="2505075"/>
          </a:xfrm>
          <a:custGeom>
            <a:avLst/>
            <a:gdLst/>
            <a:ahLst/>
            <a:cxnLst/>
            <a:rect l="l" t="t" r="r" b="b"/>
            <a:pathLst>
              <a:path w="6734175" h="2505075">
                <a:moveTo>
                  <a:pt x="114307" y="0"/>
                </a:moveTo>
                <a:lnTo>
                  <a:pt x="6619868" y="0"/>
                </a:lnTo>
                <a:cubicBezTo>
                  <a:pt x="6682956" y="0"/>
                  <a:pt x="6734175" y="51219"/>
                  <a:pt x="6734175" y="114307"/>
                </a:cubicBezTo>
                <a:lnTo>
                  <a:pt x="6734175" y="2390768"/>
                </a:lnTo>
                <a:cubicBezTo>
                  <a:pt x="6734175" y="2453856"/>
                  <a:pt x="6682956" y="2505075"/>
                  <a:pt x="6619868" y="2505075"/>
                </a:cubicBezTo>
                <a:lnTo>
                  <a:pt x="114307" y="2505075"/>
                </a:lnTo>
                <a:cubicBezTo>
                  <a:pt x="51219" y="2505075"/>
                  <a:pt x="0" y="2453856"/>
                  <a:pt x="0" y="23907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5144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523875" y="151447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28725" y="1533525"/>
            <a:ext cx="13239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A2类部门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8725" y="1838325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创新业务 · 重点突破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86960" y="1495425"/>
            <a:ext cx="20351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zh-CN" altLang="en-US" sz="2700" b="1" dirty="0">
                <a:solidFill>
                  <a:srgbClr val="10B98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测开</a:t>
            </a:r>
            <a:r>
              <a:rPr lang="en-US" sz="2700" b="1" dirty="0">
                <a:solidFill>
                  <a:srgbClr val="10B98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100%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69496" y="1876425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提效目标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1025" y="2219325"/>
            <a:ext cx="2038350" cy="723900"/>
          </a:xfrm>
          <a:custGeom>
            <a:avLst/>
            <a:gdLst/>
            <a:ahLst/>
            <a:cxnLst/>
            <a:rect l="l" t="t" r="r" b="b"/>
            <a:pathLst>
              <a:path w="2038350" h="723900">
                <a:moveTo>
                  <a:pt x="76198" y="0"/>
                </a:moveTo>
                <a:lnTo>
                  <a:pt x="1962152" y="0"/>
                </a:lnTo>
                <a:cubicBezTo>
                  <a:pt x="2004207" y="0"/>
                  <a:pt x="2038350" y="34143"/>
                  <a:pt x="2038350" y="76198"/>
                </a:cubicBezTo>
                <a:lnTo>
                  <a:pt x="2038350" y="647702"/>
                </a:lnTo>
                <a:cubicBezTo>
                  <a:pt x="2038350" y="689757"/>
                  <a:pt x="2004207" y="723900"/>
                  <a:pt x="1962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638175" y="2333625"/>
            <a:ext cx="1924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40%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6750" y="2676525"/>
            <a:ext cx="1866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周期缩短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33675" y="2219325"/>
            <a:ext cx="2038350" cy="723900"/>
          </a:xfrm>
          <a:custGeom>
            <a:avLst/>
            <a:gdLst/>
            <a:ahLst/>
            <a:cxnLst/>
            <a:rect l="l" t="t" r="r" b="b"/>
            <a:pathLst>
              <a:path w="2038350" h="723900">
                <a:moveTo>
                  <a:pt x="76198" y="0"/>
                </a:moveTo>
                <a:lnTo>
                  <a:pt x="1962152" y="0"/>
                </a:lnTo>
                <a:cubicBezTo>
                  <a:pt x="2004207" y="0"/>
                  <a:pt x="2038350" y="34143"/>
                  <a:pt x="2038350" y="76198"/>
                </a:cubicBezTo>
                <a:lnTo>
                  <a:pt x="2038350" y="647702"/>
                </a:lnTo>
                <a:cubicBezTo>
                  <a:pt x="2038350" y="689757"/>
                  <a:pt x="2004207" y="723900"/>
                  <a:pt x="1962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2790825" y="2333625"/>
            <a:ext cx="1924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19400" y="2676525"/>
            <a:ext cx="1866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代表产品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86325" y="2219325"/>
            <a:ext cx="2038350" cy="723900"/>
          </a:xfrm>
          <a:custGeom>
            <a:avLst/>
            <a:gdLst/>
            <a:ahLst/>
            <a:cxnLst/>
            <a:rect l="l" t="t" r="r" b="b"/>
            <a:pathLst>
              <a:path w="2038350" h="723900">
                <a:moveTo>
                  <a:pt x="76198" y="0"/>
                </a:moveTo>
                <a:lnTo>
                  <a:pt x="1962152" y="0"/>
                </a:lnTo>
                <a:cubicBezTo>
                  <a:pt x="2004207" y="0"/>
                  <a:pt x="2038350" y="34143"/>
                  <a:pt x="2038350" y="76198"/>
                </a:cubicBezTo>
                <a:lnTo>
                  <a:pt x="2038350" y="647702"/>
                </a:lnTo>
                <a:cubicBezTo>
                  <a:pt x="2038350" y="689757"/>
                  <a:pt x="2004207" y="723900"/>
                  <a:pt x="1962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4943475" y="2333625"/>
            <a:ext cx="1924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Q1-Q3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72050" y="2676525"/>
            <a:ext cx="1866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全面实施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5788" y="3100388"/>
            <a:ext cx="1590675" cy="314325"/>
          </a:xfrm>
          <a:custGeom>
            <a:avLst/>
            <a:gdLst/>
            <a:ahLst/>
            <a:cxnLst/>
            <a:rect l="l" t="t" r="r" b="b"/>
            <a:pathLst>
              <a:path w="1590675" h="314325">
                <a:moveTo>
                  <a:pt x="76199" y="0"/>
                </a:moveTo>
                <a:lnTo>
                  <a:pt x="1514476" y="0"/>
                </a:lnTo>
                <a:cubicBezTo>
                  <a:pt x="1556560" y="0"/>
                  <a:pt x="1590675" y="34115"/>
                  <a:pt x="1590675" y="76199"/>
                </a:cubicBezTo>
                <a:lnTo>
                  <a:pt x="1590675" y="238126"/>
                </a:lnTo>
                <a:cubicBezTo>
                  <a:pt x="1590675" y="280210"/>
                  <a:pt x="1556560" y="314325"/>
                  <a:pt x="151447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5566" y="31908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752475" y="3095625"/>
            <a:ext cx="1476375" cy="304800"/>
          </a:xfrm>
          <a:prstGeom prst="rect">
            <a:avLst/>
          </a:prstGeom>
          <a:noFill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NMC网络管理平台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259137" y="3100388"/>
            <a:ext cx="1285875" cy="314325"/>
          </a:xfrm>
          <a:custGeom>
            <a:avLst/>
            <a:gdLst/>
            <a:ahLst/>
            <a:cxnLst/>
            <a:rect l="l" t="t" r="r" b="b"/>
            <a:pathLst>
              <a:path w="1285875" h="314325">
                <a:moveTo>
                  <a:pt x="76199" y="0"/>
                </a:moveTo>
                <a:lnTo>
                  <a:pt x="1209676" y="0"/>
                </a:lnTo>
                <a:cubicBezTo>
                  <a:pt x="1251760" y="0"/>
                  <a:pt x="1285875" y="34115"/>
                  <a:pt x="1285875" y="76199"/>
                </a:cubicBezTo>
                <a:lnTo>
                  <a:pt x="1285875" y="238126"/>
                </a:lnTo>
                <a:cubicBezTo>
                  <a:pt x="1285875" y="280210"/>
                  <a:pt x="1251760" y="314325"/>
                  <a:pt x="120967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88915" y="31908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25003" y="16669"/>
                </a:moveTo>
                <a:cubicBezTo>
                  <a:pt x="15809" y="16669"/>
                  <a:pt x="8334" y="24144"/>
                  <a:pt x="8334" y="33337"/>
                </a:cubicBezTo>
                <a:lnTo>
                  <a:pt x="8334" y="100013"/>
                </a:lnTo>
                <a:cubicBezTo>
                  <a:pt x="8334" y="109206"/>
                  <a:pt x="15809" y="116681"/>
                  <a:pt x="25003" y="116681"/>
                </a:cubicBezTo>
                <a:lnTo>
                  <a:pt x="91678" y="116681"/>
                </a:lnTo>
                <a:cubicBezTo>
                  <a:pt x="100872" y="116681"/>
                  <a:pt x="108347" y="109206"/>
                  <a:pt x="108347" y="100013"/>
                </a:cubicBezTo>
                <a:lnTo>
                  <a:pt x="108347" y="33337"/>
                </a:lnTo>
                <a:cubicBezTo>
                  <a:pt x="108347" y="24144"/>
                  <a:pt x="100872" y="16669"/>
                  <a:pt x="91678" y="16669"/>
                </a:cubicBezTo>
                <a:lnTo>
                  <a:pt x="25003" y="16669"/>
                </a:lnTo>
                <a:close/>
                <a:moveTo>
                  <a:pt x="120848" y="87511"/>
                </a:moveTo>
                <a:lnTo>
                  <a:pt x="139991" y="102825"/>
                </a:lnTo>
                <a:cubicBezTo>
                  <a:pt x="141085" y="103711"/>
                  <a:pt x="142440" y="104180"/>
                  <a:pt x="143846" y="104180"/>
                </a:cubicBezTo>
                <a:cubicBezTo>
                  <a:pt x="147258" y="104180"/>
                  <a:pt x="150019" y="101419"/>
                  <a:pt x="150019" y="98007"/>
                </a:cubicBezTo>
                <a:lnTo>
                  <a:pt x="150019" y="35343"/>
                </a:lnTo>
                <a:cubicBezTo>
                  <a:pt x="150019" y="31931"/>
                  <a:pt x="147258" y="29170"/>
                  <a:pt x="143846" y="29170"/>
                </a:cubicBezTo>
                <a:cubicBezTo>
                  <a:pt x="142440" y="29170"/>
                  <a:pt x="141085" y="29639"/>
                  <a:pt x="139991" y="30525"/>
                </a:cubicBezTo>
                <a:lnTo>
                  <a:pt x="120848" y="45839"/>
                </a:lnTo>
                <a:lnTo>
                  <a:pt x="120848" y="87511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2425824" y="3095625"/>
            <a:ext cx="1171575" cy="304800"/>
          </a:xfrm>
          <a:prstGeom prst="rect">
            <a:avLst/>
          </a:prstGeom>
          <a:noFill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同频会议主机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25974" y="3100388"/>
            <a:ext cx="1457325" cy="314325"/>
          </a:xfrm>
          <a:custGeom>
            <a:avLst/>
            <a:gdLst/>
            <a:ahLst/>
            <a:cxnLst/>
            <a:rect l="l" t="t" r="r" b="b"/>
            <a:pathLst>
              <a:path w="1457325" h="314325">
                <a:moveTo>
                  <a:pt x="76199" y="0"/>
                </a:moveTo>
                <a:lnTo>
                  <a:pt x="1381126" y="0"/>
                </a:lnTo>
                <a:cubicBezTo>
                  <a:pt x="1423210" y="0"/>
                  <a:pt x="1457325" y="34115"/>
                  <a:pt x="1457325" y="76199"/>
                </a:cubicBezTo>
                <a:lnTo>
                  <a:pt x="1457325" y="238126"/>
                </a:lnTo>
                <a:cubicBezTo>
                  <a:pt x="1457325" y="280210"/>
                  <a:pt x="1423210" y="314325"/>
                  <a:pt x="138112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64087" y="3190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45839" y="6251"/>
                </a:moveTo>
                <a:cubicBezTo>
                  <a:pt x="45839" y="2787"/>
                  <a:pt x="43052" y="0"/>
                  <a:pt x="39588" y="0"/>
                </a:cubicBezTo>
                <a:cubicBezTo>
                  <a:pt x="36124" y="0"/>
                  <a:pt x="33337" y="2787"/>
                  <a:pt x="33337" y="6251"/>
                </a:cubicBezTo>
                <a:lnTo>
                  <a:pt x="33337" y="16669"/>
                </a:lnTo>
                <a:cubicBezTo>
                  <a:pt x="24144" y="16669"/>
                  <a:pt x="16669" y="24144"/>
                  <a:pt x="16669" y="33337"/>
                </a:cubicBezTo>
                <a:lnTo>
                  <a:pt x="6251" y="33337"/>
                </a:lnTo>
                <a:cubicBezTo>
                  <a:pt x="2787" y="33337"/>
                  <a:pt x="0" y="36124"/>
                  <a:pt x="0" y="39588"/>
                </a:cubicBezTo>
                <a:cubicBezTo>
                  <a:pt x="0" y="43052"/>
                  <a:pt x="2787" y="45839"/>
                  <a:pt x="6251" y="45839"/>
                </a:cubicBezTo>
                <a:lnTo>
                  <a:pt x="16669" y="45839"/>
                </a:lnTo>
                <a:lnTo>
                  <a:pt x="16669" y="60424"/>
                </a:lnTo>
                <a:lnTo>
                  <a:pt x="6251" y="60424"/>
                </a:lnTo>
                <a:cubicBezTo>
                  <a:pt x="2787" y="60424"/>
                  <a:pt x="0" y="63211"/>
                  <a:pt x="0" y="66675"/>
                </a:cubicBezTo>
                <a:cubicBezTo>
                  <a:pt x="0" y="70139"/>
                  <a:pt x="2787" y="72926"/>
                  <a:pt x="6251" y="72926"/>
                </a:cubicBezTo>
                <a:lnTo>
                  <a:pt x="16669" y="72926"/>
                </a:lnTo>
                <a:lnTo>
                  <a:pt x="16669" y="87511"/>
                </a:lnTo>
                <a:lnTo>
                  <a:pt x="6251" y="87511"/>
                </a:lnTo>
                <a:cubicBezTo>
                  <a:pt x="2787" y="87511"/>
                  <a:pt x="0" y="90298"/>
                  <a:pt x="0" y="93762"/>
                </a:cubicBezTo>
                <a:cubicBezTo>
                  <a:pt x="0" y="97226"/>
                  <a:pt x="2787" y="100013"/>
                  <a:pt x="6251" y="100013"/>
                </a:cubicBezTo>
                <a:lnTo>
                  <a:pt x="16669" y="100013"/>
                </a:lnTo>
                <a:cubicBezTo>
                  <a:pt x="16669" y="109206"/>
                  <a:pt x="24144" y="116681"/>
                  <a:pt x="33337" y="116681"/>
                </a:cubicBezTo>
                <a:lnTo>
                  <a:pt x="33337" y="127099"/>
                </a:lnTo>
                <a:cubicBezTo>
                  <a:pt x="33337" y="130563"/>
                  <a:pt x="36124" y="133350"/>
                  <a:pt x="39588" y="133350"/>
                </a:cubicBezTo>
                <a:cubicBezTo>
                  <a:pt x="43052" y="133350"/>
                  <a:pt x="45839" y="130563"/>
                  <a:pt x="45839" y="127099"/>
                </a:cubicBezTo>
                <a:lnTo>
                  <a:pt x="45839" y="116681"/>
                </a:lnTo>
                <a:lnTo>
                  <a:pt x="60424" y="116681"/>
                </a:lnTo>
                <a:lnTo>
                  <a:pt x="60424" y="127099"/>
                </a:lnTo>
                <a:cubicBezTo>
                  <a:pt x="60424" y="130563"/>
                  <a:pt x="63211" y="133350"/>
                  <a:pt x="66675" y="133350"/>
                </a:cubicBezTo>
                <a:cubicBezTo>
                  <a:pt x="70139" y="133350"/>
                  <a:pt x="72926" y="130563"/>
                  <a:pt x="72926" y="127099"/>
                </a:cubicBezTo>
                <a:lnTo>
                  <a:pt x="72926" y="116681"/>
                </a:lnTo>
                <a:lnTo>
                  <a:pt x="87511" y="116681"/>
                </a:lnTo>
                <a:lnTo>
                  <a:pt x="87511" y="127099"/>
                </a:lnTo>
                <a:cubicBezTo>
                  <a:pt x="87511" y="130563"/>
                  <a:pt x="90298" y="133350"/>
                  <a:pt x="93762" y="133350"/>
                </a:cubicBezTo>
                <a:cubicBezTo>
                  <a:pt x="97226" y="133350"/>
                  <a:pt x="100013" y="130563"/>
                  <a:pt x="100013" y="127099"/>
                </a:cubicBezTo>
                <a:lnTo>
                  <a:pt x="100013" y="116681"/>
                </a:lnTo>
                <a:cubicBezTo>
                  <a:pt x="109206" y="116681"/>
                  <a:pt x="116681" y="109206"/>
                  <a:pt x="116681" y="100013"/>
                </a:cubicBezTo>
                <a:lnTo>
                  <a:pt x="127099" y="100013"/>
                </a:lnTo>
                <a:cubicBezTo>
                  <a:pt x="130563" y="100013"/>
                  <a:pt x="133350" y="97226"/>
                  <a:pt x="133350" y="93762"/>
                </a:cubicBezTo>
                <a:cubicBezTo>
                  <a:pt x="133350" y="90298"/>
                  <a:pt x="130563" y="87511"/>
                  <a:pt x="127099" y="87511"/>
                </a:cubicBezTo>
                <a:lnTo>
                  <a:pt x="116681" y="87511"/>
                </a:lnTo>
                <a:lnTo>
                  <a:pt x="116681" y="72926"/>
                </a:lnTo>
                <a:lnTo>
                  <a:pt x="127099" y="72926"/>
                </a:lnTo>
                <a:cubicBezTo>
                  <a:pt x="130563" y="72926"/>
                  <a:pt x="133350" y="70139"/>
                  <a:pt x="133350" y="66675"/>
                </a:cubicBezTo>
                <a:cubicBezTo>
                  <a:pt x="133350" y="63211"/>
                  <a:pt x="130563" y="60424"/>
                  <a:pt x="127099" y="60424"/>
                </a:cubicBezTo>
                <a:lnTo>
                  <a:pt x="116681" y="60424"/>
                </a:lnTo>
                <a:lnTo>
                  <a:pt x="116681" y="45839"/>
                </a:lnTo>
                <a:lnTo>
                  <a:pt x="127099" y="45839"/>
                </a:lnTo>
                <a:cubicBezTo>
                  <a:pt x="130563" y="45839"/>
                  <a:pt x="133350" y="43052"/>
                  <a:pt x="133350" y="39588"/>
                </a:cubicBezTo>
                <a:cubicBezTo>
                  <a:pt x="133350" y="36124"/>
                  <a:pt x="130563" y="33337"/>
                  <a:pt x="127099" y="33337"/>
                </a:cubicBez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100013" y="6251"/>
                </a:lnTo>
                <a:cubicBezTo>
                  <a:pt x="100013" y="2787"/>
                  <a:pt x="97226" y="0"/>
                  <a:pt x="93762" y="0"/>
                </a:cubicBezTo>
                <a:cubicBezTo>
                  <a:pt x="90298" y="0"/>
                  <a:pt x="87511" y="2787"/>
                  <a:pt x="87511" y="6251"/>
                </a:cubicBezTo>
                <a:lnTo>
                  <a:pt x="87511" y="16669"/>
                </a:lnTo>
                <a:lnTo>
                  <a:pt x="72926" y="16669"/>
                </a:lnTo>
                <a:lnTo>
                  <a:pt x="72926" y="6251"/>
                </a:lnTo>
                <a:cubicBezTo>
                  <a:pt x="72926" y="2787"/>
                  <a:pt x="70139" y="0"/>
                  <a:pt x="66675" y="0"/>
                </a:cubicBezTo>
                <a:cubicBezTo>
                  <a:pt x="63211" y="0"/>
                  <a:pt x="60424" y="2787"/>
                  <a:pt x="60424" y="6251"/>
                </a:cubicBezTo>
                <a:lnTo>
                  <a:pt x="60424" y="16669"/>
                </a:lnTo>
                <a:lnTo>
                  <a:pt x="45839" y="16669"/>
                </a:lnTo>
                <a:lnTo>
                  <a:pt x="45839" y="6251"/>
                </a:lnTo>
                <a:close/>
                <a:moveTo>
                  <a:pt x="41672" y="33337"/>
                </a:moveTo>
                <a:lnTo>
                  <a:pt x="91678" y="33337"/>
                </a:lnTo>
                <a:cubicBezTo>
                  <a:pt x="96288" y="33337"/>
                  <a:pt x="100013" y="37062"/>
                  <a:pt x="100013" y="41672"/>
                </a:cubicBezTo>
                <a:lnTo>
                  <a:pt x="100013" y="91678"/>
                </a:lnTo>
                <a:cubicBezTo>
                  <a:pt x="100013" y="96288"/>
                  <a:pt x="96288" y="100013"/>
                  <a:pt x="91678" y="100013"/>
                </a:cubicBezTo>
                <a:lnTo>
                  <a:pt x="41672" y="100013"/>
                </a:lnTo>
                <a:cubicBezTo>
                  <a:pt x="37062" y="100013"/>
                  <a:pt x="33337" y="96288"/>
                  <a:pt x="33337" y="91678"/>
                </a:cubicBezTo>
                <a:lnTo>
                  <a:pt x="33337" y="41672"/>
                </a:lnTo>
                <a:cubicBezTo>
                  <a:pt x="33337" y="37062"/>
                  <a:pt x="37062" y="33337"/>
                  <a:pt x="41672" y="33337"/>
                </a:cubicBezTo>
                <a:close/>
                <a:moveTo>
                  <a:pt x="45839" y="45839"/>
                </a:moveTo>
                <a:lnTo>
                  <a:pt x="45839" y="87511"/>
                </a:lnTo>
                <a:lnTo>
                  <a:pt x="87511" y="87511"/>
                </a:lnTo>
                <a:lnTo>
                  <a:pt x="87511" y="45839"/>
                </a:lnTo>
                <a:lnTo>
                  <a:pt x="45839" y="45839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3792662" y="3095625"/>
            <a:ext cx="1343025" cy="304800"/>
          </a:xfrm>
          <a:prstGeom prst="rect">
            <a:avLst/>
          </a:prstGeom>
          <a:noFill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IPSIP物联网平台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0683" y="3935413"/>
            <a:ext cx="6734175" cy="2505075"/>
          </a:xfrm>
          <a:custGeom>
            <a:avLst/>
            <a:gdLst/>
            <a:ahLst/>
            <a:cxnLst/>
            <a:rect l="l" t="t" r="r" b="b"/>
            <a:pathLst>
              <a:path w="6734175" h="2505075">
                <a:moveTo>
                  <a:pt x="114307" y="0"/>
                </a:moveTo>
                <a:lnTo>
                  <a:pt x="6619868" y="0"/>
                </a:lnTo>
                <a:cubicBezTo>
                  <a:pt x="6682956" y="0"/>
                  <a:pt x="6734175" y="51219"/>
                  <a:pt x="6734175" y="114307"/>
                </a:cubicBezTo>
                <a:lnTo>
                  <a:pt x="6734175" y="2390768"/>
                </a:lnTo>
                <a:cubicBezTo>
                  <a:pt x="6734175" y="2453856"/>
                  <a:pt x="6682956" y="2505075"/>
                  <a:pt x="6619868" y="2505075"/>
                </a:cubicBezTo>
                <a:lnTo>
                  <a:pt x="114307" y="2505075"/>
                </a:lnTo>
                <a:cubicBezTo>
                  <a:pt x="51219" y="2505075"/>
                  <a:pt x="0" y="2453856"/>
                  <a:pt x="0" y="23907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1025" y="41814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2" name="Text 30"/>
          <p:cNvSpPr/>
          <p:nvPr/>
        </p:nvSpPr>
        <p:spPr>
          <a:xfrm>
            <a:off x="523875" y="4181475"/>
            <a:ext cx="6477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28725" y="4200525"/>
            <a:ext cx="13239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B类部门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28725" y="4505325"/>
            <a:ext cx="1276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全面覆盖 · 规模推广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62855" y="4162425"/>
            <a:ext cx="185928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zh-CN" altLang="en-US" sz="2700" b="1" dirty="0">
                <a:solidFill>
                  <a:srgbClr val="3B82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测开</a:t>
            </a:r>
            <a:r>
              <a:rPr lang="en-US" sz="2700" b="1" dirty="0">
                <a:solidFill>
                  <a:srgbClr val="3B82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50%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69496" y="4543425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提效目标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1025" y="4886325"/>
            <a:ext cx="2038350" cy="723900"/>
          </a:xfrm>
          <a:custGeom>
            <a:avLst/>
            <a:gdLst/>
            <a:ahLst/>
            <a:cxnLst/>
            <a:rect l="l" t="t" r="r" b="b"/>
            <a:pathLst>
              <a:path w="2038350" h="723900">
                <a:moveTo>
                  <a:pt x="76198" y="0"/>
                </a:moveTo>
                <a:lnTo>
                  <a:pt x="1962152" y="0"/>
                </a:lnTo>
                <a:cubicBezTo>
                  <a:pt x="2004207" y="0"/>
                  <a:pt x="2038350" y="34143"/>
                  <a:pt x="2038350" y="76198"/>
                </a:cubicBezTo>
                <a:lnTo>
                  <a:pt x="2038350" y="647702"/>
                </a:lnTo>
                <a:cubicBezTo>
                  <a:pt x="2038350" y="689757"/>
                  <a:pt x="2004207" y="723900"/>
                  <a:pt x="1962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638175" y="5000625"/>
            <a:ext cx="1924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25%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6750" y="5343525"/>
            <a:ext cx="1866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周期缩短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733675" y="4886325"/>
            <a:ext cx="2038350" cy="723900"/>
          </a:xfrm>
          <a:custGeom>
            <a:avLst/>
            <a:gdLst/>
            <a:ahLst/>
            <a:cxnLst/>
            <a:rect l="l" t="t" r="r" b="b"/>
            <a:pathLst>
              <a:path w="2038350" h="723900">
                <a:moveTo>
                  <a:pt x="76198" y="0"/>
                </a:moveTo>
                <a:lnTo>
                  <a:pt x="1962152" y="0"/>
                </a:lnTo>
                <a:cubicBezTo>
                  <a:pt x="2004207" y="0"/>
                  <a:pt x="2038350" y="34143"/>
                  <a:pt x="2038350" y="76198"/>
                </a:cubicBezTo>
                <a:lnTo>
                  <a:pt x="2038350" y="647702"/>
                </a:lnTo>
                <a:cubicBezTo>
                  <a:pt x="2038350" y="689757"/>
                  <a:pt x="2004207" y="723900"/>
                  <a:pt x="1962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2790825" y="5000625"/>
            <a:ext cx="1924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819400" y="5343525"/>
            <a:ext cx="1866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代表产品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886325" y="4886325"/>
            <a:ext cx="2038350" cy="723900"/>
          </a:xfrm>
          <a:custGeom>
            <a:avLst/>
            <a:gdLst/>
            <a:ahLst/>
            <a:cxnLst/>
            <a:rect l="l" t="t" r="r" b="b"/>
            <a:pathLst>
              <a:path w="2038350" h="723900">
                <a:moveTo>
                  <a:pt x="76198" y="0"/>
                </a:moveTo>
                <a:lnTo>
                  <a:pt x="1962152" y="0"/>
                </a:lnTo>
                <a:cubicBezTo>
                  <a:pt x="2004207" y="0"/>
                  <a:pt x="2038350" y="34143"/>
                  <a:pt x="2038350" y="76198"/>
                </a:cubicBezTo>
                <a:lnTo>
                  <a:pt x="2038350" y="647702"/>
                </a:lnTo>
                <a:cubicBezTo>
                  <a:pt x="2038350" y="689757"/>
                  <a:pt x="2004207" y="723900"/>
                  <a:pt x="19621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4943475" y="5000625"/>
            <a:ext cx="1924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Q2-Q4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972050" y="5343525"/>
            <a:ext cx="18669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分阶段实施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85788" y="5767388"/>
            <a:ext cx="1552575" cy="314325"/>
          </a:xfrm>
          <a:custGeom>
            <a:avLst/>
            <a:gdLst/>
            <a:ahLst/>
            <a:cxnLst/>
            <a:rect l="l" t="t" r="r" b="b"/>
            <a:pathLst>
              <a:path w="1552575" h="314325">
                <a:moveTo>
                  <a:pt x="76199" y="0"/>
                </a:moveTo>
                <a:lnTo>
                  <a:pt x="1476376" y="0"/>
                </a:lnTo>
                <a:cubicBezTo>
                  <a:pt x="1518460" y="0"/>
                  <a:pt x="1552575" y="34115"/>
                  <a:pt x="1552575" y="76199"/>
                </a:cubicBezTo>
                <a:lnTo>
                  <a:pt x="1552575" y="238126"/>
                </a:lnTo>
                <a:cubicBezTo>
                  <a:pt x="1552575" y="280210"/>
                  <a:pt x="1518460" y="314325"/>
                  <a:pt x="147637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566" y="58578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25003"/>
                </a:moveTo>
                <a:cubicBezTo>
                  <a:pt x="51335" y="25003"/>
                  <a:pt x="29900" y="34379"/>
                  <a:pt x="14142" y="49642"/>
                </a:cubicBezTo>
                <a:cubicBezTo>
                  <a:pt x="10835" y="52845"/>
                  <a:pt x="5548" y="52767"/>
                  <a:pt x="2370" y="49459"/>
                </a:cubicBezTo>
                <a:cubicBezTo>
                  <a:pt x="-807" y="46152"/>
                  <a:pt x="-755" y="40864"/>
                  <a:pt x="2552" y="37687"/>
                </a:cubicBezTo>
                <a:cubicBezTo>
                  <a:pt x="21279" y="19508"/>
                  <a:pt x="46855" y="8334"/>
                  <a:pt x="75009" y="8334"/>
                </a:cubicBezTo>
                <a:cubicBezTo>
                  <a:pt x="103164" y="8334"/>
                  <a:pt x="128740" y="19508"/>
                  <a:pt x="147492" y="37687"/>
                </a:cubicBezTo>
                <a:cubicBezTo>
                  <a:pt x="150800" y="40891"/>
                  <a:pt x="150878" y="46178"/>
                  <a:pt x="147675" y="49459"/>
                </a:cubicBezTo>
                <a:cubicBezTo>
                  <a:pt x="144471" y="52741"/>
                  <a:pt x="139184" y="52845"/>
                  <a:pt x="135902" y="49642"/>
                </a:cubicBezTo>
                <a:cubicBezTo>
                  <a:pt x="120119" y="34379"/>
                  <a:pt x="98684" y="25003"/>
                  <a:pt x="75009" y="25003"/>
                </a:cubicBezTo>
                <a:close/>
                <a:moveTo>
                  <a:pt x="62508" y="112514"/>
                </a:moveTo>
                <a:cubicBezTo>
                  <a:pt x="62508" y="105614"/>
                  <a:pt x="68110" y="100013"/>
                  <a:pt x="75009" y="100013"/>
                </a:cubicBezTo>
                <a:cubicBezTo>
                  <a:pt x="81909" y="100013"/>
                  <a:pt x="87511" y="105614"/>
                  <a:pt x="87511" y="112514"/>
                </a:cubicBezTo>
                <a:cubicBezTo>
                  <a:pt x="87511" y="119414"/>
                  <a:pt x="81909" y="125016"/>
                  <a:pt x="75009" y="125016"/>
                </a:cubicBezTo>
                <a:cubicBezTo>
                  <a:pt x="68110" y="125016"/>
                  <a:pt x="62508" y="119414"/>
                  <a:pt x="62508" y="112514"/>
                </a:cubicBezTo>
                <a:close/>
                <a:moveTo>
                  <a:pt x="43755" y="84959"/>
                </a:moveTo>
                <a:cubicBezTo>
                  <a:pt x="40708" y="88423"/>
                  <a:pt x="35447" y="88735"/>
                  <a:pt x="31983" y="85688"/>
                </a:cubicBezTo>
                <a:cubicBezTo>
                  <a:pt x="28519" y="82641"/>
                  <a:pt x="28207" y="77379"/>
                  <a:pt x="31254" y="73915"/>
                </a:cubicBezTo>
                <a:cubicBezTo>
                  <a:pt x="41932" y="61831"/>
                  <a:pt x="57585" y="54173"/>
                  <a:pt x="75009" y="54173"/>
                </a:cubicBezTo>
                <a:cubicBezTo>
                  <a:pt x="92433" y="54173"/>
                  <a:pt x="108086" y="61831"/>
                  <a:pt x="118765" y="73915"/>
                </a:cubicBezTo>
                <a:cubicBezTo>
                  <a:pt x="121812" y="77379"/>
                  <a:pt x="121474" y="82641"/>
                  <a:pt x="118036" y="85688"/>
                </a:cubicBezTo>
                <a:cubicBezTo>
                  <a:pt x="114598" y="88735"/>
                  <a:pt x="109311" y="88396"/>
                  <a:pt x="106263" y="84959"/>
                </a:cubicBezTo>
                <a:cubicBezTo>
                  <a:pt x="98606" y="76286"/>
                  <a:pt x="87459" y="70842"/>
                  <a:pt x="75009" y="70842"/>
                </a:cubicBezTo>
                <a:cubicBezTo>
                  <a:pt x="62560" y="70842"/>
                  <a:pt x="51413" y="76286"/>
                  <a:pt x="43755" y="84959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48" name="Text 46"/>
          <p:cNvSpPr/>
          <p:nvPr/>
        </p:nvSpPr>
        <p:spPr>
          <a:xfrm>
            <a:off x="752475" y="5762625"/>
            <a:ext cx="1438275" cy="304800"/>
          </a:xfrm>
          <a:prstGeom prst="rect">
            <a:avLst/>
          </a:prstGeom>
          <a:noFill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无线产品线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2222302" y="5767388"/>
            <a:ext cx="1285875" cy="314325"/>
          </a:xfrm>
          <a:custGeom>
            <a:avLst/>
            <a:gdLst/>
            <a:ahLst/>
            <a:cxnLst/>
            <a:rect l="l" t="t" r="r" b="b"/>
            <a:pathLst>
              <a:path w="1285875" h="314325">
                <a:moveTo>
                  <a:pt x="76199" y="0"/>
                </a:moveTo>
                <a:lnTo>
                  <a:pt x="1209676" y="0"/>
                </a:lnTo>
                <a:cubicBezTo>
                  <a:pt x="1251760" y="0"/>
                  <a:pt x="1285875" y="34115"/>
                  <a:pt x="1285875" y="76199"/>
                </a:cubicBezTo>
                <a:lnTo>
                  <a:pt x="1285875" y="238126"/>
                </a:lnTo>
                <a:cubicBezTo>
                  <a:pt x="1285875" y="280210"/>
                  <a:pt x="1251760" y="314325"/>
                  <a:pt x="120967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60414" y="5857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39224"/>
                </a:moveTo>
                <a:lnTo>
                  <a:pt x="105899" y="64227"/>
                </a:lnTo>
                <a:cubicBezTo>
                  <a:pt x="103503" y="66623"/>
                  <a:pt x="99934" y="67326"/>
                  <a:pt x="96809" y="66024"/>
                </a:cubicBezTo>
                <a:cubicBezTo>
                  <a:pt x="93684" y="64722"/>
                  <a:pt x="91678" y="61700"/>
                  <a:pt x="91678" y="58341"/>
                </a:cubicBezTo>
                <a:lnTo>
                  <a:pt x="91678" y="41672"/>
                </a:lnTo>
                <a:lnTo>
                  <a:pt x="8334" y="41672"/>
                </a:lnTo>
                <a:cubicBezTo>
                  <a:pt x="3724" y="41672"/>
                  <a:pt x="0" y="37947"/>
                  <a:pt x="0" y="33337"/>
                </a:cubicBezTo>
                <a:cubicBezTo>
                  <a:pt x="0" y="28728"/>
                  <a:pt x="3724" y="25003"/>
                  <a:pt x="8334" y="25003"/>
                </a:cubicBezTo>
                <a:lnTo>
                  <a:pt x="91678" y="25003"/>
                </a:lnTo>
                <a:lnTo>
                  <a:pt x="91678" y="8334"/>
                </a:lnTo>
                <a:cubicBezTo>
                  <a:pt x="91678" y="4975"/>
                  <a:pt x="93710" y="1927"/>
                  <a:pt x="96835" y="625"/>
                </a:cubicBezTo>
                <a:cubicBezTo>
                  <a:pt x="99960" y="-677"/>
                  <a:pt x="103529" y="52"/>
                  <a:pt x="105925" y="2422"/>
                </a:cubicBezTo>
                <a:lnTo>
                  <a:pt x="130928" y="27425"/>
                </a:lnTo>
                <a:cubicBezTo>
                  <a:pt x="134183" y="30681"/>
                  <a:pt x="134183" y="35968"/>
                  <a:pt x="130928" y="39224"/>
                </a:cubicBezTo>
                <a:close/>
                <a:moveTo>
                  <a:pt x="27425" y="130902"/>
                </a:moveTo>
                <a:lnTo>
                  <a:pt x="2422" y="105899"/>
                </a:lnTo>
                <a:cubicBezTo>
                  <a:pt x="-833" y="102643"/>
                  <a:pt x="-833" y="97356"/>
                  <a:pt x="2422" y="94100"/>
                </a:cubicBezTo>
                <a:lnTo>
                  <a:pt x="27425" y="69097"/>
                </a:lnTo>
                <a:cubicBezTo>
                  <a:pt x="29821" y="66701"/>
                  <a:pt x="33390" y="65998"/>
                  <a:pt x="36515" y="67300"/>
                </a:cubicBezTo>
                <a:cubicBezTo>
                  <a:pt x="39640" y="68602"/>
                  <a:pt x="41672" y="71650"/>
                  <a:pt x="41672" y="75009"/>
                </a:cubicBezTo>
                <a:lnTo>
                  <a:pt x="41672" y="91678"/>
                </a:lnTo>
                <a:lnTo>
                  <a:pt x="125016" y="91678"/>
                </a:lnTo>
                <a:cubicBezTo>
                  <a:pt x="129626" y="91678"/>
                  <a:pt x="133350" y="95403"/>
                  <a:pt x="133350" y="100013"/>
                </a:cubicBezTo>
                <a:cubicBezTo>
                  <a:pt x="133350" y="104622"/>
                  <a:pt x="129626" y="108347"/>
                  <a:pt x="125016" y="108347"/>
                </a:cubicBezTo>
                <a:lnTo>
                  <a:pt x="41672" y="108347"/>
                </a:lnTo>
                <a:lnTo>
                  <a:pt x="41672" y="125016"/>
                </a:lnTo>
                <a:cubicBezTo>
                  <a:pt x="41672" y="128375"/>
                  <a:pt x="39640" y="131423"/>
                  <a:pt x="36515" y="132725"/>
                </a:cubicBezTo>
                <a:cubicBezTo>
                  <a:pt x="33390" y="134027"/>
                  <a:pt x="29821" y="133298"/>
                  <a:pt x="27425" y="130928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51" name="Text 49"/>
          <p:cNvSpPr/>
          <p:nvPr/>
        </p:nvSpPr>
        <p:spPr>
          <a:xfrm>
            <a:off x="2388989" y="5762625"/>
            <a:ext cx="1171575" cy="304800"/>
          </a:xfrm>
          <a:prstGeom prst="rect">
            <a:avLst/>
          </a:prstGeom>
          <a:noFill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交换机产品线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319963" y="1300163"/>
            <a:ext cx="4486275" cy="2371725"/>
          </a:xfrm>
          <a:custGeom>
            <a:avLst/>
            <a:gdLst/>
            <a:ahLst/>
            <a:cxnLst/>
            <a:rect l="l" t="t" r="r" b="b"/>
            <a:pathLst>
              <a:path w="4486275" h="2371725">
                <a:moveTo>
                  <a:pt x="114293" y="0"/>
                </a:moveTo>
                <a:lnTo>
                  <a:pt x="4371982" y="0"/>
                </a:lnTo>
                <a:cubicBezTo>
                  <a:pt x="4435062" y="0"/>
                  <a:pt x="4486275" y="51213"/>
                  <a:pt x="4486275" y="114293"/>
                </a:cubicBezTo>
                <a:lnTo>
                  <a:pt x="4486275" y="2257432"/>
                </a:lnTo>
                <a:cubicBezTo>
                  <a:pt x="4486275" y="2320512"/>
                  <a:pt x="4435062" y="2371725"/>
                  <a:pt x="437198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15225" y="1495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54" name="Shape 52"/>
          <p:cNvSpPr/>
          <p:nvPr/>
        </p:nvSpPr>
        <p:spPr>
          <a:xfrm>
            <a:off x="7672388" y="16287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102840" y="96999"/>
                </a:moveTo>
                <a:cubicBezTo>
                  <a:pt x="105445" y="92832"/>
                  <a:pt x="104180" y="87325"/>
                  <a:pt x="100012" y="84683"/>
                </a:cubicBezTo>
                <a:cubicBezTo>
                  <a:pt x="95845" y="82042"/>
                  <a:pt x="90339" y="83344"/>
                  <a:pt x="87697" y="87511"/>
                </a:cubicBezTo>
                <a:lnTo>
                  <a:pt x="64852" y="124085"/>
                </a:lnTo>
                <a:lnTo>
                  <a:pt x="54806" y="110691"/>
                </a:lnTo>
                <a:cubicBezTo>
                  <a:pt x="51829" y="106747"/>
                  <a:pt x="46248" y="105928"/>
                  <a:pt x="42304" y="108905"/>
                </a:cubicBezTo>
                <a:cubicBezTo>
                  <a:pt x="38360" y="111882"/>
                  <a:pt x="37542" y="117463"/>
                  <a:pt x="40518" y="121407"/>
                </a:cubicBezTo>
                <a:lnTo>
                  <a:pt x="58378" y="145219"/>
                </a:lnTo>
                <a:cubicBezTo>
                  <a:pt x="60127" y="147563"/>
                  <a:pt x="62954" y="148903"/>
                  <a:pt x="65894" y="148791"/>
                </a:cubicBezTo>
                <a:cubicBezTo>
                  <a:pt x="68833" y="148679"/>
                  <a:pt x="71512" y="147117"/>
                  <a:pt x="73075" y="144587"/>
                </a:cubicBezTo>
                <a:lnTo>
                  <a:pt x="102840" y="9696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5" name="Text 53"/>
          <p:cNvSpPr/>
          <p:nvPr/>
        </p:nvSpPr>
        <p:spPr>
          <a:xfrm>
            <a:off x="8086725" y="159067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考核说明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515225" y="2105025"/>
            <a:ext cx="4171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端到端发布周期作为核心考核指标，直接纳入研发主管绩效评估。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534275" y="2771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58" name="Text 56"/>
          <p:cNvSpPr/>
          <p:nvPr/>
        </p:nvSpPr>
        <p:spPr>
          <a:xfrm>
            <a:off x="7781925" y="2752725"/>
            <a:ext cx="140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基于实际项目数据评估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534275" y="3038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60" name="Text 58"/>
          <p:cNvSpPr/>
          <p:nvPr/>
        </p:nvSpPr>
        <p:spPr>
          <a:xfrm>
            <a:off x="7781925" y="3019425"/>
            <a:ext cx="1133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横向对比同类项目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534275" y="3305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62" name="Text 60"/>
          <p:cNvSpPr/>
          <p:nvPr/>
        </p:nvSpPr>
        <p:spPr>
          <a:xfrm>
            <a:off x="7781925" y="3286125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季度复盘与优化</a:t>
            </a:r>
            <a:endParaRPr lang="en-US" sz="1600" dirty="0"/>
          </a:p>
        </p:txBody>
      </p:sp>
      <p:sp>
        <p:nvSpPr>
          <p:cNvPr id="82" name="Shape 47"/>
          <p:cNvSpPr/>
          <p:nvPr/>
        </p:nvSpPr>
        <p:spPr>
          <a:xfrm>
            <a:off x="3879652" y="5786438"/>
            <a:ext cx="1285875" cy="314325"/>
          </a:xfrm>
          <a:custGeom>
            <a:avLst/>
            <a:gdLst/>
            <a:ahLst/>
            <a:cxnLst/>
            <a:rect l="l" t="t" r="r" b="b"/>
            <a:pathLst>
              <a:path w="1285875" h="314325">
                <a:moveTo>
                  <a:pt x="76199" y="0"/>
                </a:moveTo>
                <a:lnTo>
                  <a:pt x="1209676" y="0"/>
                </a:lnTo>
                <a:cubicBezTo>
                  <a:pt x="1251760" y="0"/>
                  <a:pt x="1285875" y="34115"/>
                  <a:pt x="1285875" y="76199"/>
                </a:cubicBezTo>
                <a:lnTo>
                  <a:pt x="1285875" y="238126"/>
                </a:lnTo>
                <a:cubicBezTo>
                  <a:pt x="1285875" y="280210"/>
                  <a:pt x="1251760" y="314325"/>
                  <a:pt x="120967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3" name="Shape 48"/>
          <p:cNvSpPr/>
          <p:nvPr/>
        </p:nvSpPr>
        <p:spPr>
          <a:xfrm>
            <a:off x="4017764" y="58769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39224"/>
                </a:moveTo>
                <a:lnTo>
                  <a:pt x="105899" y="64227"/>
                </a:lnTo>
                <a:cubicBezTo>
                  <a:pt x="103503" y="66623"/>
                  <a:pt x="99934" y="67326"/>
                  <a:pt x="96809" y="66024"/>
                </a:cubicBezTo>
                <a:cubicBezTo>
                  <a:pt x="93684" y="64722"/>
                  <a:pt x="91678" y="61700"/>
                  <a:pt x="91678" y="58341"/>
                </a:cubicBezTo>
                <a:lnTo>
                  <a:pt x="91678" y="41672"/>
                </a:lnTo>
                <a:lnTo>
                  <a:pt x="8334" y="41672"/>
                </a:lnTo>
                <a:cubicBezTo>
                  <a:pt x="3724" y="41672"/>
                  <a:pt x="0" y="37947"/>
                  <a:pt x="0" y="33337"/>
                </a:cubicBezTo>
                <a:cubicBezTo>
                  <a:pt x="0" y="28728"/>
                  <a:pt x="3724" y="25003"/>
                  <a:pt x="8334" y="25003"/>
                </a:cubicBezTo>
                <a:lnTo>
                  <a:pt x="91678" y="25003"/>
                </a:lnTo>
                <a:lnTo>
                  <a:pt x="91678" y="8334"/>
                </a:lnTo>
                <a:cubicBezTo>
                  <a:pt x="91678" y="4975"/>
                  <a:pt x="93710" y="1927"/>
                  <a:pt x="96835" y="625"/>
                </a:cubicBezTo>
                <a:cubicBezTo>
                  <a:pt x="99960" y="-677"/>
                  <a:pt x="103529" y="52"/>
                  <a:pt x="105925" y="2422"/>
                </a:cubicBezTo>
                <a:lnTo>
                  <a:pt x="130928" y="27425"/>
                </a:lnTo>
                <a:cubicBezTo>
                  <a:pt x="134183" y="30681"/>
                  <a:pt x="134183" y="35968"/>
                  <a:pt x="130928" y="39224"/>
                </a:cubicBezTo>
                <a:close/>
                <a:moveTo>
                  <a:pt x="27425" y="130902"/>
                </a:moveTo>
                <a:lnTo>
                  <a:pt x="2422" y="105899"/>
                </a:lnTo>
                <a:cubicBezTo>
                  <a:pt x="-833" y="102643"/>
                  <a:pt x="-833" y="97356"/>
                  <a:pt x="2422" y="94100"/>
                </a:cubicBezTo>
                <a:lnTo>
                  <a:pt x="27425" y="69097"/>
                </a:lnTo>
                <a:cubicBezTo>
                  <a:pt x="29821" y="66701"/>
                  <a:pt x="33390" y="65998"/>
                  <a:pt x="36515" y="67300"/>
                </a:cubicBezTo>
                <a:cubicBezTo>
                  <a:pt x="39640" y="68602"/>
                  <a:pt x="41672" y="71650"/>
                  <a:pt x="41672" y="75009"/>
                </a:cubicBezTo>
                <a:lnTo>
                  <a:pt x="41672" y="91678"/>
                </a:lnTo>
                <a:lnTo>
                  <a:pt x="125016" y="91678"/>
                </a:lnTo>
                <a:cubicBezTo>
                  <a:pt x="129626" y="91678"/>
                  <a:pt x="133350" y="95403"/>
                  <a:pt x="133350" y="100013"/>
                </a:cubicBezTo>
                <a:cubicBezTo>
                  <a:pt x="133350" y="104622"/>
                  <a:pt x="129626" y="108347"/>
                  <a:pt x="125016" y="108347"/>
                </a:cubicBezTo>
                <a:lnTo>
                  <a:pt x="41672" y="108347"/>
                </a:lnTo>
                <a:lnTo>
                  <a:pt x="41672" y="125016"/>
                </a:lnTo>
                <a:cubicBezTo>
                  <a:pt x="41672" y="128375"/>
                  <a:pt x="39640" y="131423"/>
                  <a:pt x="36515" y="132725"/>
                </a:cubicBezTo>
                <a:cubicBezTo>
                  <a:pt x="33390" y="134027"/>
                  <a:pt x="29821" y="133298"/>
                  <a:pt x="27425" y="130928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84" name="Text 49"/>
          <p:cNvSpPr/>
          <p:nvPr/>
        </p:nvSpPr>
        <p:spPr>
          <a:xfrm>
            <a:off x="4046339" y="5781675"/>
            <a:ext cx="1171575" cy="304800"/>
          </a:xfrm>
          <a:prstGeom prst="rect">
            <a:avLst/>
          </a:prstGeom>
          <a:noFill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硬件</a:t>
            </a:r>
            <a:r>
              <a:rPr lang="en-US" sz="10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产品线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8062" y="358062"/>
            <a:ext cx="53709" cy="358062"/>
          </a:xfrm>
          <a:custGeom>
            <a:avLst/>
            <a:gdLst/>
            <a:ahLst/>
            <a:cxnLst/>
            <a:rect l="l" t="t" r="r" b="b"/>
            <a:pathLst>
              <a:path w="53709" h="358062">
                <a:moveTo>
                  <a:pt x="0" y="0"/>
                </a:moveTo>
                <a:lnTo>
                  <a:pt x="53709" y="0"/>
                </a:lnTo>
                <a:lnTo>
                  <a:pt x="53709" y="358062"/>
                </a:lnTo>
                <a:lnTo>
                  <a:pt x="0" y="358062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519189" y="358062"/>
            <a:ext cx="4556335" cy="3580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过程目标：AI-Native能力度量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2899" y="787736"/>
            <a:ext cx="11341604" cy="2506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四大核心指标，全方位监控转型进展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2585" y="1221740"/>
            <a:ext cx="5639435" cy="1866265"/>
          </a:xfrm>
          <a:custGeom>
            <a:avLst/>
            <a:gdLst/>
            <a:ahLst/>
            <a:cxnLst/>
            <a:rect l="l" t="t" r="r" b="b"/>
            <a:pathLst>
              <a:path w="5639471" h="2443771">
                <a:moveTo>
                  <a:pt x="107428" y="0"/>
                </a:moveTo>
                <a:lnTo>
                  <a:pt x="5532043" y="0"/>
                </a:lnTo>
                <a:cubicBezTo>
                  <a:pt x="5591374" y="0"/>
                  <a:pt x="5639471" y="48097"/>
                  <a:pt x="5639471" y="107428"/>
                </a:cubicBezTo>
                <a:lnTo>
                  <a:pt x="5639471" y="2336343"/>
                </a:lnTo>
                <a:cubicBezTo>
                  <a:pt x="5639471" y="2395674"/>
                  <a:pt x="5591374" y="2443771"/>
                  <a:pt x="5532043" y="2443771"/>
                </a:cubicBezTo>
                <a:lnTo>
                  <a:pt x="107428" y="2443771"/>
                </a:lnTo>
                <a:cubicBezTo>
                  <a:pt x="48097" y="2443771"/>
                  <a:pt x="0" y="2395674"/>
                  <a:pt x="0" y="2336343"/>
                </a:cubicBezTo>
                <a:lnTo>
                  <a:pt x="0" y="107428"/>
                </a:lnTo>
                <a:cubicBezTo>
                  <a:pt x="0" y="48137"/>
                  <a:pt x="48137" y="0"/>
                  <a:pt x="107428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6044" y="1405392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71614" y="0"/>
                </a:moveTo>
                <a:lnTo>
                  <a:pt x="358060" y="0"/>
                </a:lnTo>
                <a:cubicBezTo>
                  <a:pt x="397585" y="0"/>
                  <a:pt x="429674" y="32089"/>
                  <a:pt x="429674" y="71614"/>
                </a:cubicBezTo>
                <a:lnTo>
                  <a:pt x="429674" y="358060"/>
                </a:lnTo>
                <a:cubicBezTo>
                  <a:pt x="429674" y="397611"/>
                  <a:pt x="397611" y="429674"/>
                  <a:pt x="358060" y="429674"/>
                </a:cubicBezTo>
                <a:lnTo>
                  <a:pt x="71614" y="429674"/>
                </a:lnTo>
                <a:cubicBezTo>
                  <a:pt x="32089" y="429674"/>
                  <a:pt x="0" y="397585"/>
                  <a:pt x="0" y="358060"/>
                </a:cubicBezTo>
                <a:lnTo>
                  <a:pt x="0" y="71614"/>
                </a:lnTo>
                <a:cubicBezTo>
                  <a:pt x="0" y="32063"/>
                  <a:pt x="32063" y="0"/>
                  <a:pt x="71614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7" name="Text 5"/>
          <p:cNvSpPr/>
          <p:nvPr/>
        </p:nvSpPr>
        <p:spPr>
          <a:xfrm>
            <a:off x="501286" y="1405392"/>
            <a:ext cx="519189" cy="429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83137" y="1494907"/>
            <a:ext cx="1817163" cy="2506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AI-Native人群渗透率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6044" y="1978291"/>
            <a:ext cx="5272458" cy="429674"/>
          </a:xfrm>
          <a:custGeom>
            <a:avLst/>
            <a:gdLst/>
            <a:ahLst/>
            <a:cxnLst/>
            <a:rect l="l" t="t" r="r" b="b"/>
            <a:pathLst>
              <a:path w="5272458" h="429674">
                <a:moveTo>
                  <a:pt x="71614" y="0"/>
                </a:moveTo>
                <a:lnTo>
                  <a:pt x="5200844" y="0"/>
                </a:lnTo>
                <a:cubicBezTo>
                  <a:pt x="5240396" y="0"/>
                  <a:pt x="5272458" y="32063"/>
                  <a:pt x="5272458" y="71614"/>
                </a:cubicBezTo>
                <a:lnTo>
                  <a:pt x="5272458" y="358060"/>
                </a:lnTo>
                <a:cubicBezTo>
                  <a:pt x="5272458" y="397611"/>
                  <a:pt x="5240396" y="429674"/>
                  <a:pt x="5200844" y="429674"/>
                </a:cubicBezTo>
                <a:lnTo>
                  <a:pt x="71614" y="429674"/>
                </a:lnTo>
                <a:cubicBezTo>
                  <a:pt x="32089" y="429674"/>
                  <a:pt x="0" y="397585"/>
                  <a:pt x="0" y="358060"/>
                </a:cubicBezTo>
                <a:lnTo>
                  <a:pt x="0" y="71614"/>
                </a:lnTo>
                <a:cubicBezTo>
                  <a:pt x="0" y="32063"/>
                  <a:pt x="32063" y="0"/>
                  <a:pt x="7161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653463" y="2085709"/>
            <a:ext cx="528141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30" b="1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</a:t>
            </a:r>
            <a:endParaRPr lang="zh-CN" altLang="en-US" sz="1130" b="1" dirty="0">
              <a:solidFill>
                <a:srgbClr val="E5E7E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71139" y="2085709"/>
            <a:ext cx="814590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dirty="0">
                <a:solidFill>
                  <a:srgbClr val="10B98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6044" y="2515383"/>
            <a:ext cx="5272458" cy="429674"/>
          </a:xfrm>
          <a:custGeom>
            <a:avLst/>
            <a:gdLst/>
            <a:ahLst/>
            <a:cxnLst/>
            <a:rect l="l" t="t" r="r" b="b"/>
            <a:pathLst>
              <a:path w="5272458" h="429674">
                <a:moveTo>
                  <a:pt x="71614" y="0"/>
                </a:moveTo>
                <a:lnTo>
                  <a:pt x="5200844" y="0"/>
                </a:lnTo>
                <a:cubicBezTo>
                  <a:pt x="5240396" y="0"/>
                  <a:pt x="5272458" y="32063"/>
                  <a:pt x="5272458" y="71614"/>
                </a:cubicBezTo>
                <a:lnTo>
                  <a:pt x="5272458" y="358060"/>
                </a:lnTo>
                <a:cubicBezTo>
                  <a:pt x="5272458" y="397611"/>
                  <a:pt x="5240396" y="429674"/>
                  <a:pt x="5200844" y="429674"/>
                </a:cubicBezTo>
                <a:lnTo>
                  <a:pt x="71614" y="429674"/>
                </a:lnTo>
                <a:cubicBezTo>
                  <a:pt x="32089" y="429674"/>
                  <a:pt x="0" y="397585"/>
                  <a:pt x="0" y="358060"/>
                </a:cubicBezTo>
                <a:lnTo>
                  <a:pt x="0" y="71614"/>
                </a:lnTo>
                <a:cubicBezTo>
                  <a:pt x="0" y="32063"/>
                  <a:pt x="32063" y="0"/>
                  <a:pt x="7161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653463" y="2622802"/>
            <a:ext cx="546044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30" b="1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</a:t>
            </a:r>
            <a:endParaRPr lang="zh-CN" alt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2585" y="3817620"/>
            <a:ext cx="5639435" cy="2116455"/>
          </a:xfrm>
          <a:custGeom>
            <a:avLst/>
            <a:gdLst/>
            <a:ahLst/>
            <a:cxnLst/>
            <a:rect l="l" t="t" r="r" b="b"/>
            <a:pathLst>
              <a:path w="5639471" h="2372159">
                <a:moveTo>
                  <a:pt x="107411" y="0"/>
                </a:moveTo>
                <a:lnTo>
                  <a:pt x="5532060" y="0"/>
                </a:lnTo>
                <a:cubicBezTo>
                  <a:pt x="5591382" y="0"/>
                  <a:pt x="5639471" y="48090"/>
                  <a:pt x="5639471" y="107411"/>
                </a:cubicBezTo>
                <a:lnTo>
                  <a:pt x="5639471" y="2264747"/>
                </a:lnTo>
                <a:cubicBezTo>
                  <a:pt x="5639471" y="2324069"/>
                  <a:pt x="5591382" y="2372159"/>
                  <a:pt x="5532060" y="2372159"/>
                </a:cubicBezTo>
                <a:lnTo>
                  <a:pt x="107411" y="2372159"/>
                </a:lnTo>
                <a:cubicBezTo>
                  <a:pt x="48090" y="2372159"/>
                  <a:pt x="0" y="2324069"/>
                  <a:pt x="0" y="2264747"/>
                </a:cubicBezTo>
                <a:lnTo>
                  <a:pt x="0" y="107411"/>
                </a:lnTo>
                <a:cubicBezTo>
                  <a:pt x="0" y="48090"/>
                  <a:pt x="48090" y="0"/>
                  <a:pt x="10741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6044" y="4001339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71614" y="0"/>
                </a:moveTo>
                <a:lnTo>
                  <a:pt x="358060" y="0"/>
                </a:lnTo>
                <a:cubicBezTo>
                  <a:pt x="397585" y="0"/>
                  <a:pt x="429674" y="32089"/>
                  <a:pt x="429674" y="71614"/>
                </a:cubicBezTo>
                <a:lnTo>
                  <a:pt x="429674" y="358060"/>
                </a:lnTo>
                <a:cubicBezTo>
                  <a:pt x="429674" y="397611"/>
                  <a:pt x="397611" y="429674"/>
                  <a:pt x="358060" y="429674"/>
                </a:cubicBezTo>
                <a:lnTo>
                  <a:pt x="71614" y="429674"/>
                </a:lnTo>
                <a:cubicBezTo>
                  <a:pt x="32089" y="429674"/>
                  <a:pt x="0" y="397585"/>
                  <a:pt x="0" y="358060"/>
                </a:cubicBezTo>
                <a:lnTo>
                  <a:pt x="0" y="71614"/>
                </a:lnTo>
                <a:cubicBezTo>
                  <a:pt x="0" y="32063"/>
                  <a:pt x="32063" y="0"/>
                  <a:pt x="71614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501286" y="4001339"/>
            <a:ext cx="519189" cy="429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83137" y="4090855"/>
            <a:ext cx="1163700" cy="2506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产出物硅含量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6044" y="4574238"/>
            <a:ext cx="2578044" cy="644511"/>
          </a:xfrm>
          <a:custGeom>
            <a:avLst/>
            <a:gdLst/>
            <a:ahLst/>
            <a:cxnLst/>
            <a:rect l="l" t="t" r="r" b="b"/>
            <a:pathLst>
              <a:path w="2578044" h="644511">
                <a:moveTo>
                  <a:pt x="71612" y="0"/>
                </a:moveTo>
                <a:lnTo>
                  <a:pt x="2506432" y="0"/>
                </a:lnTo>
                <a:cubicBezTo>
                  <a:pt x="2545982" y="0"/>
                  <a:pt x="2578044" y="32062"/>
                  <a:pt x="2578044" y="71612"/>
                </a:cubicBezTo>
                <a:lnTo>
                  <a:pt x="2578044" y="572899"/>
                </a:lnTo>
                <a:cubicBezTo>
                  <a:pt x="2578044" y="612449"/>
                  <a:pt x="2545982" y="644511"/>
                  <a:pt x="2506432" y="644511"/>
                </a:cubicBezTo>
                <a:lnTo>
                  <a:pt x="71612" y="644511"/>
                </a:lnTo>
                <a:cubicBezTo>
                  <a:pt x="32062" y="644511"/>
                  <a:pt x="0" y="612449"/>
                  <a:pt x="0" y="572899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653463" y="4681656"/>
            <a:ext cx="2425868" cy="1790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463" y="4896493"/>
            <a:ext cx="2434819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PR硅含量占比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35423" y="4574238"/>
            <a:ext cx="2578044" cy="644511"/>
          </a:xfrm>
          <a:custGeom>
            <a:avLst/>
            <a:gdLst/>
            <a:ahLst/>
            <a:cxnLst/>
            <a:rect l="l" t="t" r="r" b="b"/>
            <a:pathLst>
              <a:path w="2578044" h="644511">
                <a:moveTo>
                  <a:pt x="71612" y="0"/>
                </a:moveTo>
                <a:lnTo>
                  <a:pt x="2506432" y="0"/>
                </a:lnTo>
                <a:cubicBezTo>
                  <a:pt x="2545982" y="0"/>
                  <a:pt x="2578044" y="32062"/>
                  <a:pt x="2578044" y="71612"/>
                </a:cubicBezTo>
                <a:lnTo>
                  <a:pt x="2578044" y="572899"/>
                </a:lnTo>
                <a:cubicBezTo>
                  <a:pt x="2578044" y="612449"/>
                  <a:pt x="2545982" y="644511"/>
                  <a:pt x="2506432" y="644511"/>
                </a:cubicBezTo>
                <a:lnTo>
                  <a:pt x="71612" y="644511"/>
                </a:lnTo>
                <a:cubicBezTo>
                  <a:pt x="32062" y="644511"/>
                  <a:pt x="0" y="612449"/>
                  <a:pt x="0" y="572899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3342841" y="4681656"/>
            <a:ext cx="2425868" cy="1790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42841" y="4896493"/>
            <a:ext cx="2434819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AI案例比例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10640" y="5381412"/>
            <a:ext cx="1405392" cy="1790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10B98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A2类 &gt;60% · B类 &gt;40%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0649" y="5397741"/>
            <a:ext cx="232740" cy="1790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96304" y="5632056"/>
            <a:ext cx="1423295" cy="1790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10B98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A2类 &gt;70% · B类 &gt;50%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60649" y="5648384"/>
            <a:ext cx="465480" cy="1790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Q3-Q4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88942" y="1221885"/>
            <a:ext cx="5639471" cy="2336352"/>
          </a:xfrm>
          <a:custGeom>
            <a:avLst/>
            <a:gdLst/>
            <a:ahLst/>
            <a:cxnLst/>
            <a:rect l="l" t="t" r="r" b="b"/>
            <a:pathLst>
              <a:path w="5639471" h="2336352">
                <a:moveTo>
                  <a:pt x="107425" y="0"/>
                </a:moveTo>
                <a:lnTo>
                  <a:pt x="5532046" y="0"/>
                </a:lnTo>
                <a:cubicBezTo>
                  <a:pt x="5591375" y="0"/>
                  <a:pt x="5639471" y="48096"/>
                  <a:pt x="5639471" y="107425"/>
                </a:cubicBezTo>
                <a:lnTo>
                  <a:pt x="5639471" y="2228927"/>
                </a:lnTo>
                <a:cubicBezTo>
                  <a:pt x="5639471" y="2288256"/>
                  <a:pt x="5591375" y="2336352"/>
                  <a:pt x="5532046" y="2336352"/>
                </a:cubicBezTo>
                <a:lnTo>
                  <a:pt x="107425" y="2336352"/>
                </a:lnTo>
                <a:cubicBezTo>
                  <a:pt x="48096" y="2336352"/>
                  <a:pt x="0" y="2288256"/>
                  <a:pt x="0" y="2228927"/>
                </a:cubicBezTo>
                <a:lnTo>
                  <a:pt x="0" y="107425"/>
                </a:lnTo>
                <a:cubicBezTo>
                  <a:pt x="0" y="48136"/>
                  <a:pt x="48136" y="0"/>
                  <a:pt x="107425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72449" y="1405392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71614" y="0"/>
                </a:moveTo>
                <a:lnTo>
                  <a:pt x="358060" y="0"/>
                </a:lnTo>
                <a:cubicBezTo>
                  <a:pt x="397585" y="0"/>
                  <a:pt x="429674" y="32089"/>
                  <a:pt x="429674" y="71614"/>
                </a:cubicBezTo>
                <a:lnTo>
                  <a:pt x="429674" y="358060"/>
                </a:lnTo>
                <a:cubicBezTo>
                  <a:pt x="429674" y="397611"/>
                  <a:pt x="397611" y="429674"/>
                  <a:pt x="358060" y="429674"/>
                </a:cubicBezTo>
                <a:lnTo>
                  <a:pt x="71614" y="429674"/>
                </a:lnTo>
                <a:cubicBezTo>
                  <a:pt x="32089" y="429674"/>
                  <a:pt x="0" y="397585"/>
                  <a:pt x="0" y="358060"/>
                </a:cubicBezTo>
                <a:lnTo>
                  <a:pt x="0" y="71614"/>
                </a:lnTo>
                <a:cubicBezTo>
                  <a:pt x="0" y="32063"/>
                  <a:pt x="32063" y="0"/>
                  <a:pt x="71614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39" name="Text 37"/>
          <p:cNvSpPr/>
          <p:nvPr/>
        </p:nvSpPr>
        <p:spPr>
          <a:xfrm>
            <a:off x="6327691" y="1405392"/>
            <a:ext cx="519189" cy="429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09541" y="1494907"/>
            <a:ext cx="1342731" cy="2506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阶段性效率提升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72449" y="1978291"/>
            <a:ext cx="5272458" cy="644511"/>
          </a:xfrm>
          <a:custGeom>
            <a:avLst/>
            <a:gdLst/>
            <a:ahLst/>
            <a:cxnLst/>
            <a:rect l="l" t="t" r="r" b="b"/>
            <a:pathLst>
              <a:path w="5272458" h="644511">
                <a:moveTo>
                  <a:pt x="71612" y="0"/>
                </a:moveTo>
                <a:lnTo>
                  <a:pt x="5200847" y="0"/>
                </a:lnTo>
                <a:cubicBezTo>
                  <a:pt x="5240397" y="0"/>
                  <a:pt x="5272458" y="32062"/>
                  <a:pt x="5272458" y="71612"/>
                </a:cubicBezTo>
                <a:lnTo>
                  <a:pt x="5272458" y="572899"/>
                </a:lnTo>
                <a:cubicBezTo>
                  <a:pt x="5272458" y="612449"/>
                  <a:pt x="5240397" y="644511"/>
                  <a:pt x="5200847" y="644511"/>
                </a:cubicBezTo>
                <a:lnTo>
                  <a:pt x="71612" y="644511"/>
                </a:lnTo>
                <a:cubicBezTo>
                  <a:pt x="32062" y="644511"/>
                  <a:pt x="0" y="612449"/>
                  <a:pt x="0" y="572899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512317" y="2121515"/>
            <a:ext cx="140987" cy="161128"/>
          </a:xfrm>
          <a:custGeom>
            <a:avLst/>
            <a:gdLst/>
            <a:ahLst/>
            <a:cxnLst/>
            <a:rect l="l" t="t" r="r" b="b"/>
            <a:pathLst>
              <a:path w="140987" h="161128">
                <a:moveTo>
                  <a:pt x="10070" y="0"/>
                </a:moveTo>
                <a:cubicBezTo>
                  <a:pt x="15641" y="0"/>
                  <a:pt x="20141" y="4500"/>
                  <a:pt x="20141" y="10070"/>
                </a:cubicBezTo>
                <a:lnTo>
                  <a:pt x="20141" y="15106"/>
                </a:lnTo>
                <a:lnTo>
                  <a:pt x="41855" y="9693"/>
                </a:lnTo>
                <a:cubicBezTo>
                  <a:pt x="53846" y="6703"/>
                  <a:pt x="66497" y="8088"/>
                  <a:pt x="77574" y="13627"/>
                </a:cubicBezTo>
                <a:cubicBezTo>
                  <a:pt x="92145" y="20928"/>
                  <a:pt x="109296" y="20928"/>
                  <a:pt x="123867" y="13627"/>
                </a:cubicBezTo>
                <a:lnTo>
                  <a:pt x="126888" y="12116"/>
                </a:lnTo>
                <a:cubicBezTo>
                  <a:pt x="133371" y="8843"/>
                  <a:pt x="140987" y="13564"/>
                  <a:pt x="140987" y="20802"/>
                </a:cubicBezTo>
                <a:lnTo>
                  <a:pt x="140987" y="108824"/>
                </a:lnTo>
                <a:cubicBezTo>
                  <a:pt x="140987" y="113010"/>
                  <a:pt x="138375" y="116786"/>
                  <a:pt x="134441" y="118265"/>
                </a:cubicBezTo>
                <a:lnTo>
                  <a:pt x="123521" y="122356"/>
                </a:lnTo>
                <a:cubicBezTo>
                  <a:pt x="108982" y="127801"/>
                  <a:pt x="92806" y="126951"/>
                  <a:pt x="78927" y="120028"/>
                </a:cubicBezTo>
                <a:cubicBezTo>
                  <a:pt x="67000" y="114048"/>
                  <a:pt x="53311" y="112569"/>
                  <a:pt x="40376" y="115811"/>
                </a:cubicBezTo>
                <a:lnTo>
                  <a:pt x="20141" y="120846"/>
                </a:lnTo>
                <a:lnTo>
                  <a:pt x="20141" y="151057"/>
                </a:lnTo>
                <a:cubicBezTo>
                  <a:pt x="20141" y="156628"/>
                  <a:pt x="15641" y="161128"/>
                  <a:pt x="10070" y="161128"/>
                </a:cubicBezTo>
                <a:cubicBezTo>
                  <a:pt x="4500" y="161128"/>
                  <a:pt x="0" y="156628"/>
                  <a:pt x="0" y="151057"/>
                </a:cubicBezTo>
                <a:lnTo>
                  <a:pt x="0" y="10070"/>
                </a:lnTo>
                <a:cubicBezTo>
                  <a:pt x="0" y="4500"/>
                  <a:pt x="4500" y="0"/>
                  <a:pt x="10070" y="0"/>
                </a:cubicBezTo>
                <a:close/>
                <a:moveTo>
                  <a:pt x="20141" y="58881"/>
                </a:moveTo>
                <a:lnTo>
                  <a:pt x="40282" y="54506"/>
                </a:lnTo>
                <a:lnTo>
                  <a:pt x="40282" y="75120"/>
                </a:lnTo>
                <a:lnTo>
                  <a:pt x="20141" y="79494"/>
                </a:lnTo>
                <a:lnTo>
                  <a:pt x="20141" y="100107"/>
                </a:lnTo>
                <a:lnTo>
                  <a:pt x="35498" y="96268"/>
                </a:lnTo>
                <a:cubicBezTo>
                  <a:pt x="37103" y="95858"/>
                  <a:pt x="38677" y="95512"/>
                  <a:pt x="40282" y="95229"/>
                </a:cubicBezTo>
                <a:lnTo>
                  <a:pt x="40282" y="75120"/>
                </a:lnTo>
                <a:lnTo>
                  <a:pt x="52524" y="72476"/>
                </a:lnTo>
                <a:cubicBezTo>
                  <a:pt x="55136" y="71910"/>
                  <a:pt x="57779" y="71689"/>
                  <a:pt x="60423" y="71815"/>
                </a:cubicBezTo>
                <a:lnTo>
                  <a:pt x="60423" y="51674"/>
                </a:lnTo>
                <a:cubicBezTo>
                  <a:pt x="64703" y="51800"/>
                  <a:pt x="68983" y="52492"/>
                  <a:pt x="73137" y="53688"/>
                </a:cubicBezTo>
                <a:lnTo>
                  <a:pt x="80564" y="55860"/>
                </a:lnTo>
                <a:lnTo>
                  <a:pt x="80564" y="76850"/>
                </a:lnTo>
                <a:lnTo>
                  <a:pt x="67441" y="72980"/>
                </a:lnTo>
                <a:cubicBezTo>
                  <a:pt x="65143" y="72319"/>
                  <a:pt x="62783" y="71910"/>
                  <a:pt x="60423" y="71784"/>
                </a:cubicBezTo>
                <a:lnTo>
                  <a:pt x="60423" y="94253"/>
                </a:lnTo>
                <a:cubicBezTo>
                  <a:pt x="67283" y="94851"/>
                  <a:pt x="74050" y="96362"/>
                  <a:pt x="80564" y="98785"/>
                </a:cubicBezTo>
                <a:lnTo>
                  <a:pt x="80564" y="76819"/>
                </a:lnTo>
                <a:lnTo>
                  <a:pt x="87708" y="78927"/>
                </a:lnTo>
                <a:cubicBezTo>
                  <a:pt x="91956" y="80186"/>
                  <a:pt x="96299" y="80942"/>
                  <a:pt x="100705" y="81256"/>
                </a:cubicBezTo>
                <a:lnTo>
                  <a:pt x="100705" y="61052"/>
                </a:lnTo>
                <a:cubicBezTo>
                  <a:pt x="98250" y="60801"/>
                  <a:pt x="95795" y="60328"/>
                  <a:pt x="93404" y="59636"/>
                </a:cubicBezTo>
                <a:lnTo>
                  <a:pt x="80564" y="55860"/>
                </a:lnTo>
                <a:lnTo>
                  <a:pt x="80564" y="36348"/>
                </a:lnTo>
                <a:cubicBezTo>
                  <a:pt x="76473" y="35152"/>
                  <a:pt x="72445" y="33579"/>
                  <a:pt x="68542" y="31628"/>
                </a:cubicBezTo>
                <a:cubicBezTo>
                  <a:pt x="65962" y="30337"/>
                  <a:pt x="63224" y="29425"/>
                  <a:pt x="60423" y="28858"/>
                </a:cubicBezTo>
                <a:lnTo>
                  <a:pt x="60423" y="51643"/>
                </a:lnTo>
                <a:cubicBezTo>
                  <a:pt x="56332" y="51517"/>
                  <a:pt x="52241" y="51894"/>
                  <a:pt x="48244" y="52776"/>
                </a:cubicBezTo>
                <a:lnTo>
                  <a:pt x="40282" y="54506"/>
                </a:lnTo>
                <a:lnTo>
                  <a:pt x="40282" y="30841"/>
                </a:lnTo>
                <a:lnTo>
                  <a:pt x="20141" y="35876"/>
                </a:lnTo>
                <a:lnTo>
                  <a:pt x="20141" y="58881"/>
                </a:lnTo>
                <a:close/>
                <a:moveTo>
                  <a:pt x="100705" y="105646"/>
                </a:moveTo>
                <a:cubicBezTo>
                  <a:pt x="105992" y="106118"/>
                  <a:pt x="111373" y="105425"/>
                  <a:pt x="116440" y="103506"/>
                </a:cubicBezTo>
                <a:lnTo>
                  <a:pt x="120846" y="101869"/>
                </a:lnTo>
                <a:lnTo>
                  <a:pt x="120846" y="79305"/>
                </a:lnTo>
                <a:lnTo>
                  <a:pt x="118360" y="79872"/>
                </a:lnTo>
                <a:cubicBezTo>
                  <a:pt x="112569" y="81225"/>
                  <a:pt x="106621" y="81665"/>
                  <a:pt x="100705" y="81288"/>
                </a:cubicBezTo>
                <a:lnTo>
                  <a:pt x="100705" y="105646"/>
                </a:lnTo>
                <a:close/>
                <a:moveTo>
                  <a:pt x="120846" y="58629"/>
                </a:moveTo>
                <a:lnTo>
                  <a:pt x="120846" y="36348"/>
                </a:lnTo>
                <a:cubicBezTo>
                  <a:pt x="114269" y="38268"/>
                  <a:pt x="107502" y="39212"/>
                  <a:pt x="100705" y="39212"/>
                </a:cubicBezTo>
                <a:lnTo>
                  <a:pt x="100705" y="61052"/>
                </a:lnTo>
                <a:cubicBezTo>
                  <a:pt x="105079" y="61493"/>
                  <a:pt x="109517" y="61210"/>
                  <a:pt x="113828" y="60234"/>
                </a:cubicBezTo>
                <a:lnTo>
                  <a:pt x="120846" y="58598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43" name="Text 41"/>
          <p:cNvSpPr/>
          <p:nvPr/>
        </p:nvSpPr>
        <p:spPr>
          <a:xfrm>
            <a:off x="6788695" y="2085709"/>
            <a:ext cx="1700793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关键里程碑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88695" y="2336352"/>
            <a:ext cx="1691841" cy="1790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开发提测、测试完成集成测试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72449" y="2730220"/>
            <a:ext cx="5272458" cy="644511"/>
          </a:xfrm>
          <a:custGeom>
            <a:avLst/>
            <a:gdLst/>
            <a:ahLst/>
            <a:cxnLst/>
            <a:rect l="l" t="t" r="r" b="b"/>
            <a:pathLst>
              <a:path w="5272458" h="644511">
                <a:moveTo>
                  <a:pt x="71612" y="0"/>
                </a:moveTo>
                <a:lnTo>
                  <a:pt x="5200847" y="0"/>
                </a:lnTo>
                <a:cubicBezTo>
                  <a:pt x="5240397" y="0"/>
                  <a:pt x="5272458" y="32062"/>
                  <a:pt x="5272458" y="71612"/>
                </a:cubicBezTo>
                <a:lnTo>
                  <a:pt x="5272458" y="572899"/>
                </a:lnTo>
                <a:cubicBezTo>
                  <a:pt x="5272458" y="612449"/>
                  <a:pt x="5240397" y="644511"/>
                  <a:pt x="5200847" y="644511"/>
                </a:cubicBezTo>
                <a:lnTo>
                  <a:pt x="71612" y="644511"/>
                </a:lnTo>
                <a:cubicBezTo>
                  <a:pt x="32062" y="644511"/>
                  <a:pt x="0" y="612449"/>
                  <a:pt x="0" y="572899"/>
                </a:cubicBezTo>
                <a:lnTo>
                  <a:pt x="0" y="71612"/>
                </a:lnTo>
                <a:cubicBezTo>
                  <a:pt x="0" y="32062"/>
                  <a:pt x="32062" y="0"/>
                  <a:pt x="7161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6502246" y="2873445"/>
            <a:ext cx="161128" cy="161128"/>
          </a:xfrm>
          <a:custGeom>
            <a:avLst/>
            <a:gdLst/>
            <a:ahLst/>
            <a:cxnLst/>
            <a:rect l="l" t="t" r="r" b="b"/>
            <a:pathLst>
              <a:path w="161128" h="161128">
                <a:moveTo>
                  <a:pt x="20141" y="20141"/>
                </a:moveTo>
                <a:cubicBezTo>
                  <a:pt x="20141" y="14571"/>
                  <a:pt x="15641" y="10070"/>
                  <a:pt x="10070" y="10070"/>
                </a:cubicBezTo>
                <a:cubicBezTo>
                  <a:pt x="4500" y="10070"/>
                  <a:pt x="0" y="14571"/>
                  <a:pt x="0" y="20141"/>
                </a:cubicBezTo>
                <a:lnTo>
                  <a:pt x="0" y="125881"/>
                </a:lnTo>
                <a:cubicBezTo>
                  <a:pt x="0" y="139791"/>
                  <a:pt x="11266" y="151057"/>
                  <a:pt x="25176" y="151057"/>
                </a:cubicBezTo>
                <a:lnTo>
                  <a:pt x="151057" y="151057"/>
                </a:lnTo>
                <a:cubicBezTo>
                  <a:pt x="156628" y="151057"/>
                  <a:pt x="161128" y="146557"/>
                  <a:pt x="161128" y="140987"/>
                </a:cubicBezTo>
                <a:cubicBezTo>
                  <a:pt x="161128" y="135417"/>
                  <a:pt x="156628" y="130916"/>
                  <a:pt x="151057" y="130916"/>
                </a:cubicBezTo>
                <a:lnTo>
                  <a:pt x="25176" y="130916"/>
                </a:lnTo>
                <a:cubicBezTo>
                  <a:pt x="22407" y="130916"/>
                  <a:pt x="20141" y="128650"/>
                  <a:pt x="20141" y="125881"/>
                </a:cubicBezTo>
                <a:lnTo>
                  <a:pt x="20141" y="20141"/>
                </a:lnTo>
                <a:close/>
                <a:moveTo>
                  <a:pt x="148099" y="47394"/>
                </a:moveTo>
                <a:cubicBezTo>
                  <a:pt x="152033" y="43460"/>
                  <a:pt x="152033" y="37072"/>
                  <a:pt x="148099" y="33138"/>
                </a:cubicBezTo>
                <a:cubicBezTo>
                  <a:pt x="144165" y="29204"/>
                  <a:pt x="137777" y="29204"/>
                  <a:pt x="133843" y="33138"/>
                </a:cubicBezTo>
                <a:lnTo>
                  <a:pt x="100705" y="66308"/>
                </a:lnTo>
                <a:lnTo>
                  <a:pt x="82641" y="48275"/>
                </a:lnTo>
                <a:cubicBezTo>
                  <a:pt x="78707" y="44342"/>
                  <a:pt x="72319" y="44342"/>
                  <a:pt x="68385" y="48275"/>
                </a:cubicBezTo>
                <a:lnTo>
                  <a:pt x="38173" y="78487"/>
                </a:lnTo>
                <a:cubicBezTo>
                  <a:pt x="34240" y="82421"/>
                  <a:pt x="34240" y="88809"/>
                  <a:pt x="38173" y="92743"/>
                </a:cubicBezTo>
                <a:cubicBezTo>
                  <a:pt x="42107" y="96677"/>
                  <a:pt x="48496" y="96677"/>
                  <a:pt x="52429" y="92743"/>
                </a:cubicBezTo>
                <a:lnTo>
                  <a:pt x="75529" y="69644"/>
                </a:lnTo>
                <a:lnTo>
                  <a:pt x="93593" y="87708"/>
                </a:lnTo>
                <a:cubicBezTo>
                  <a:pt x="97526" y="91641"/>
                  <a:pt x="103915" y="91641"/>
                  <a:pt x="107849" y="87708"/>
                </a:cubicBezTo>
                <a:lnTo>
                  <a:pt x="148131" y="47426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47" name="Text 45"/>
          <p:cNvSpPr/>
          <p:nvPr/>
        </p:nvSpPr>
        <p:spPr>
          <a:xfrm>
            <a:off x="6788695" y="2837639"/>
            <a:ext cx="1575471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效率评估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88785" y="3088005"/>
            <a:ext cx="4199255" cy="179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按项目统计阶段性提效数据 A 100%  B 50%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88942" y="3710414"/>
            <a:ext cx="5639471" cy="2407965"/>
          </a:xfrm>
          <a:custGeom>
            <a:avLst/>
            <a:gdLst/>
            <a:ahLst/>
            <a:cxnLst/>
            <a:rect l="l" t="t" r="r" b="b"/>
            <a:pathLst>
              <a:path w="5639471" h="2407965">
                <a:moveTo>
                  <a:pt x="107419" y="0"/>
                </a:moveTo>
                <a:lnTo>
                  <a:pt x="5532052" y="0"/>
                </a:lnTo>
                <a:cubicBezTo>
                  <a:pt x="5591378" y="0"/>
                  <a:pt x="5639471" y="48093"/>
                  <a:pt x="5639471" y="107419"/>
                </a:cubicBezTo>
                <a:lnTo>
                  <a:pt x="5639471" y="2300545"/>
                </a:lnTo>
                <a:cubicBezTo>
                  <a:pt x="5639471" y="2359871"/>
                  <a:pt x="5591378" y="2407965"/>
                  <a:pt x="5532052" y="2407965"/>
                </a:cubicBezTo>
                <a:lnTo>
                  <a:pt x="107419" y="2407965"/>
                </a:lnTo>
                <a:cubicBezTo>
                  <a:pt x="48093" y="2407965"/>
                  <a:pt x="0" y="2359871"/>
                  <a:pt x="0" y="2300545"/>
                </a:cubicBezTo>
                <a:lnTo>
                  <a:pt x="0" y="107419"/>
                </a:lnTo>
                <a:cubicBezTo>
                  <a:pt x="0" y="48133"/>
                  <a:pt x="48133" y="0"/>
                  <a:pt x="107419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72449" y="3893921"/>
            <a:ext cx="429674" cy="429674"/>
          </a:xfrm>
          <a:custGeom>
            <a:avLst/>
            <a:gdLst/>
            <a:ahLst/>
            <a:cxnLst/>
            <a:rect l="l" t="t" r="r" b="b"/>
            <a:pathLst>
              <a:path w="429674" h="429674">
                <a:moveTo>
                  <a:pt x="71614" y="0"/>
                </a:moveTo>
                <a:lnTo>
                  <a:pt x="358060" y="0"/>
                </a:lnTo>
                <a:cubicBezTo>
                  <a:pt x="397585" y="0"/>
                  <a:pt x="429674" y="32089"/>
                  <a:pt x="429674" y="71614"/>
                </a:cubicBezTo>
                <a:lnTo>
                  <a:pt x="429674" y="358060"/>
                </a:lnTo>
                <a:cubicBezTo>
                  <a:pt x="429674" y="397611"/>
                  <a:pt x="397611" y="429674"/>
                  <a:pt x="358060" y="429674"/>
                </a:cubicBezTo>
                <a:lnTo>
                  <a:pt x="71614" y="429674"/>
                </a:lnTo>
                <a:cubicBezTo>
                  <a:pt x="32089" y="429674"/>
                  <a:pt x="0" y="397585"/>
                  <a:pt x="0" y="358060"/>
                </a:cubicBezTo>
                <a:lnTo>
                  <a:pt x="0" y="71614"/>
                </a:lnTo>
                <a:cubicBezTo>
                  <a:pt x="0" y="32063"/>
                  <a:pt x="32063" y="0"/>
                  <a:pt x="71614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10B981"/>
              </a:gs>
            </a:gsLst>
            <a:lin ang="2700000" scaled="1"/>
          </a:gradFill>
        </p:spPr>
      </p:sp>
      <p:sp>
        <p:nvSpPr>
          <p:cNvPr id="51" name="Text 49"/>
          <p:cNvSpPr/>
          <p:nvPr/>
        </p:nvSpPr>
        <p:spPr>
          <a:xfrm>
            <a:off x="6327691" y="3893921"/>
            <a:ext cx="519189" cy="429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09541" y="3983436"/>
            <a:ext cx="1163700" cy="2506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其他关键指标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72449" y="4466819"/>
            <a:ext cx="2578044" cy="680317"/>
          </a:xfrm>
          <a:custGeom>
            <a:avLst/>
            <a:gdLst/>
            <a:ahLst/>
            <a:cxnLst/>
            <a:rect l="l" t="t" r="r" b="b"/>
            <a:pathLst>
              <a:path w="2578044" h="680317">
                <a:moveTo>
                  <a:pt x="71610" y="0"/>
                </a:moveTo>
                <a:lnTo>
                  <a:pt x="2506434" y="0"/>
                </a:lnTo>
                <a:cubicBezTo>
                  <a:pt x="2545983" y="0"/>
                  <a:pt x="2578044" y="32061"/>
                  <a:pt x="2578044" y="71610"/>
                </a:cubicBezTo>
                <a:lnTo>
                  <a:pt x="2578044" y="608707"/>
                </a:lnTo>
                <a:cubicBezTo>
                  <a:pt x="2578044" y="648256"/>
                  <a:pt x="2545983" y="680317"/>
                  <a:pt x="2506434" y="680317"/>
                </a:cubicBezTo>
                <a:lnTo>
                  <a:pt x="71610" y="680317"/>
                </a:lnTo>
                <a:cubicBezTo>
                  <a:pt x="32087" y="680317"/>
                  <a:pt x="0" y="648230"/>
                  <a:pt x="0" y="608707"/>
                </a:cubicBezTo>
                <a:lnTo>
                  <a:pt x="0" y="71610"/>
                </a:lnTo>
                <a:cubicBezTo>
                  <a:pt x="0" y="32061"/>
                  <a:pt x="32061" y="0"/>
                  <a:pt x="7161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7542583" y="4574238"/>
            <a:ext cx="241692" cy="214837"/>
          </a:xfrm>
          <a:custGeom>
            <a:avLst/>
            <a:gdLst/>
            <a:ahLst/>
            <a:cxnLst/>
            <a:rect l="l" t="t" r="r" b="b"/>
            <a:pathLst>
              <a:path w="241692" h="214837">
                <a:moveTo>
                  <a:pt x="80564" y="40282"/>
                </a:moveTo>
                <a:cubicBezTo>
                  <a:pt x="80564" y="18043"/>
                  <a:pt x="98607" y="0"/>
                  <a:pt x="120846" y="0"/>
                </a:cubicBezTo>
                <a:cubicBezTo>
                  <a:pt x="143085" y="0"/>
                  <a:pt x="161128" y="18043"/>
                  <a:pt x="161128" y="40282"/>
                </a:cubicBezTo>
                <a:lnTo>
                  <a:pt x="161128" y="41793"/>
                </a:lnTo>
                <a:cubicBezTo>
                  <a:pt x="161128" y="48380"/>
                  <a:pt x="155799" y="53709"/>
                  <a:pt x="149211" y="53709"/>
                </a:cubicBezTo>
                <a:lnTo>
                  <a:pt x="92523" y="53709"/>
                </a:lnTo>
                <a:cubicBezTo>
                  <a:pt x="85935" y="53709"/>
                  <a:pt x="80606" y="48380"/>
                  <a:pt x="80606" y="41793"/>
                </a:cubicBezTo>
                <a:lnTo>
                  <a:pt x="80606" y="40282"/>
                </a:lnTo>
                <a:close/>
                <a:moveTo>
                  <a:pt x="225579" y="45653"/>
                </a:moveTo>
                <a:cubicBezTo>
                  <a:pt x="230027" y="51569"/>
                  <a:pt x="228810" y="60003"/>
                  <a:pt x="222893" y="64451"/>
                </a:cubicBezTo>
                <a:lnTo>
                  <a:pt x="181856" y="95208"/>
                </a:lnTo>
                <a:cubicBezTo>
                  <a:pt x="184080" y="98943"/>
                  <a:pt x="185758" y="103055"/>
                  <a:pt x="186807" y="107419"/>
                </a:cubicBezTo>
                <a:lnTo>
                  <a:pt x="228264" y="107419"/>
                </a:lnTo>
                <a:cubicBezTo>
                  <a:pt x="235691" y="107419"/>
                  <a:pt x="241692" y="113419"/>
                  <a:pt x="241692" y="120846"/>
                </a:cubicBezTo>
                <a:cubicBezTo>
                  <a:pt x="241692" y="128273"/>
                  <a:pt x="235691" y="134273"/>
                  <a:pt x="228264" y="134273"/>
                </a:cubicBezTo>
                <a:lnTo>
                  <a:pt x="187982" y="134273"/>
                </a:lnTo>
                <a:lnTo>
                  <a:pt x="187982" y="147700"/>
                </a:lnTo>
                <a:cubicBezTo>
                  <a:pt x="187982" y="148791"/>
                  <a:pt x="187940" y="149924"/>
                  <a:pt x="187898" y="151015"/>
                </a:cubicBezTo>
                <a:lnTo>
                  <a:pt x="222893" y="177241"/>
                </a:lnTo>
                <a:cubicBezTo>
                  <a:pt x="228810" y="181688"/>
                  <a:pt x="230027" y="190122"/>
                  <a:pt x="225579" y="196039"/>
                </a:cubicBezTo>
                <a:cubicBezTo>
                  <a:pt x="221131" y="201955"/>
                  <a:pt x="212697" y="203172"/>
                  <a:pt x="206781" y="198724"/>
                </a:cubicBezTo>
                <a:lnTo>
                  <a:pt x="180304" y="178877"/>
                </a:lnTo>
                <a:cubicBezTo>
                  <a:pt x="170569" y="197423"/>
                  <a:pt x="152400" y="210851"/>
                  <a:pt x="130916" y="214082"/>
                </a:cubicBezTo>
                <a:lnTo>
                  <a:pt x="130916" y="117489"/>
                </a:lnTo>
                <a:cubicBezTo>
                  <a:pt x="130916" y="111908"/>
                  <a:pt x="126427" y="107419"/>
                  <a:pt x="120846" y="107419"/>
                </a:cubicBezTo>
                <a:cubicBezTo>
                  <a:pt x="115265" y="107419"/>
                  <a:pt x="110775" y="111908"/>
                  <a:pt x="110775" y="117489"/>
                </a:cubicBezTo>
                <a:lnTo>
                  <a:pt x="110775" y="214082"/>
                </a:lnTo>
                <a:cubicBezTo>
                  <a:pt x="89292" y="210851"/>
                  <a:pt x="71123" y="197423"/>
                  <a:pt x="61388" y="178877"/>
                </a:cubicBezTo>
                <a:lnTo>
                  <a:pt x="34911" y="198724"/>
                </a:lnTo>
                <a:cubicBezTo>
                  <a:pt x="28995" y="203172"/>
                  <a:pt x="20561" y="201955"/>
                  <a:pt x="16113" y="196039"/>
                </a:cubicBezTo>
                <a:cubicBezTo>
                  <a:pt x="11665" y="190122"/>
                  <a:pt x="12882" y="181688"/>
                  <a:pt x="18798" y="177241"/>
                </a:cubicBezTo>
                <a:lnTo>
                  <a:pt x="53793" y="151015"/>
                </a:lnTo>
                <a:cubicBezTo>
                  <a:pt x="53751" y="149924"/>
                  <a:pt x="53709" y="148833"/>
                  <a:pt x="53709" y="147700"/>
                </a:cubicBezTo>
                <a:lnTo>
                  <a:pt x="53709" y="134273"/>
                </a:lnTo>
                <a:lnTo>
                  <a:pt x="13427" y="134273"/>
                </a:lnTo>
                <a:cubicBezTo>
                  <a:pt x="6000" y="134273"/>
                  <a:pt x="0" y="128273"/>
                  <a:pt x="0" y="120846"/>
                </a:cubicBezTo>
                <a:cubicBezTo>
                  <a:pt x="0" y="113419"/>
                  <a:pt x="6000" y="107419"/>
                  <a:pt x="13427" y="107419"/>
                </a:cubicBezTo>
                <a:lnTo>
                  <a:pt x="54884" y="107419"/>
                </a:lnTo>
                <a:cubicBezTo>
                  <a:pt x="55933" y="103055"/>
                  <a:pt x="57612" y="98943"/>
                  <a:pt x="59835" y="95208"/>
                </a:cubicBezTo>
                <a:lnTo>
                  <a:pt x="18798" y="64451"/>
                </a:lnTo>
                <a:cubicBezTo>
                  <a:pt x="12882" y="60003"/>
                  <a:pt x="11665" y="51569"/>
                  <a:pt x="16113" y="45653"/>
                </a:cubicBezTo>
                <a:cubicBezTo>
                  <a:pt x="20561" y="39736"/>
                  <a:pt x="28995" y="38520"/>
                  <a:pt x="34911" y="42967"/>
                </a:cubicBezTo>
                <a:lnTo>
                  <a:pt x="80564" y="77207"/>
                </a:lnTo>
                <a:cubicBezTo>
                  <a:pt x="85725" y="75067"/>
                  <a:pt x="91390" y="73850"/>
                  <a:pt x="97348" y="73850"/>
                </a:cubicBezTo>
                <a:lnTo>
                  <a:pt x="144344" y="73850"/>
                </a:lnTo>
                <a:cubicBezTo>
                  <a:pt x="150302" y="73850"/>
                  <a:pt x="155967" y="75025"/>
                  <a:pt x="161128" y="77207"/>
                </a:cubicBezTo>
                <a:lnTo>
                  <a:pt x="206781" y="42967"/>
                </a:lnTo>
                <a:cubicBezTo>
                  <a:pt x="212697" y="38520"/>
                  <a:pt x="221131" y="39736"/>
                  <a:pt x="225579" y="45653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55" name="Text 53"/>
          <p:cNvSpPr/>
          <p:nvPr/>
        </p:nvSpPr>
        <p:spPr>
          <a:xfrm>
            <a:off x="6448537" y="4860687"/>
            <a:ext cx="2425868" cy="1790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AI发现和修复BUG占比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61898" y="4466819"/>
            <a:ext cx="2578044" cy="680317"/>
          </a:xfrm>
          <a:custGeom>
            <a:avLst/>
            <a:gdLst/>
            <a:ahLst/>
            <a:cxnLst/>
            <a:rect l="l" t="t" r="r" b="b"/>
            <a:pathLst>
              <a:path w="2578044" h="680317">
                <a:moveTo>
                  <a:pt x="71610" y="0"/>
                </a:moveTo>
                <a:lnTo>
                  <a:pt x="2506434" y="0"/>
                </a:lnTo>
                <a:cubicBezTo>
                  <a:pt x="2545983" y="0"/>
                  <a:pt x="2578044" y="32061"/>
                  <a:pt x="2578044" y="71610"/>
                </a:cubicBezTo>
                <a:lnTo>
                  <a:pt x="2578044" y="608707"/>
                </a:lnTo>
                <a:cubicBezTo>
                  <a:pt x="2578044" y="648256"/>
                  <a:pt x="2545983" y="680317"/>
                  <a:pt x="2506434" y="680317"/>
                </a:cubicBezTo>
                <a:lnTo>
                  <a:pt x="71610" y="680317"/>
                </a:lnTo>
                <a:cubicBezTo>
                  <a:pt x="32087" y="680317"/>
                  <a:pt x="0" y="648230"/>
                  <a:pt x="0" y="608707"/>
                </a:cubicBezTo>
                <a:lnTo>
                  <a:pt x="0" y="71610"/>
                </a:lnTo>
                <a:cubicBezTo>
                  <a:pt x="0" y="32061"/>
                  <a:pt x="32061" y="0"/>
                  <a:pt x="7161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10232032" y="4574238"/>
            <a:ext cx="241692" cy="214837"/>
          </a:xfrm>
          <a:custGeom>
            <a:avLst/>
            <a:gdLst/>
            <a:ahLst/>
            <a:cxnLst/>
            <a:rect l="l" t="t" r="r" b="b"/>
            <a:pathLst>
              <a:path w="241692" h="214837">
                <a:moveTo>
                  <a:pt x="151393" y="504"/>
                </a:moveTo>
                <a:cubicBezTo>
                  <a:pt x="144260" y="-1553"/>
                  <a:pt x="136833" y="2602"/>
                  <a:pt x="134777" y="9735"/>
                </a:cubicBezTo>
                <a:lnTo>
                  <a:pt x="81067" y="197717"/>
                </a:lnTo>
                <a:cubicBezTo>
                  <a:pt x="79011" y="204850"/>
                  <a:pt x="83165" y="212277"/>
                  <a:pt x="90299" y="214333"/>
                </a:cubicBezTo>
                <a:cubicBezTo>
                  <a:pt x="97432" y="216390"/>
                  <a:pt x="104859" y="212235"/>
                  <a:pt x="106915" y="205102"/>
                </a:cubicBezTo>
                <a:lnTo>
                  <a:pt x="160624" y="17120"/>
                </a:lnTo>
                <a:cubicBezTo>
                  <a:pt x="162680" y="9987"/>
                  <a:pt x="158526" y="2560"/>
                  <a:pt x="151393" y="504"/>
                </a:cubicBezTo>
                <a:close/>
                <a:moveTo>
                  <a:pt x="178499" y="57612"/>
                </a:moveTo>
                <a:cubicBezTo>
                  <a:pt x="173254" y="62857"/>
                  <a:pt x="173254" y="71375"/>
                  <a:pt x="178499" y="76620"/>
                </a:cubicBezTo>
                <a:lnTo>
                  <a:pt x="209298" y="107419"/>
                </a:lnTo>
                <a:lnTo>
                  <a:pt x="178499" y="138217"/>
                </a:lnTo>
                <a:cubicBezTo>
                  <a:pt x="173254" y="143462"/>
                  <a:pt x="173254" y="151980"/>
                  <a:pt x="178499" y="157225"/>
                </a:cubicBezTo>
                <a:cubicBezTo>
                  <a:pt x="183744" y="162470"/>
                  <a:pt x="192262" y="162470"/>
                  <a:pt x="197507" y="157225"/>
                </a:cubicBezTo>
                <a:lnTo>
                  <a:pt x="237789" y="116944"/>
                </a:lnTo>
                <a:cubicBezTo>
                  <a:pt x="243034" y="111698"/>
                  <a:pt x="243034" y="103181"/>
                  <a:pt x="237789" y="97935"/>
                </a:cubicBezTo>
                <a:lnTo>
                  <a:pt x="197507" y="57654"/>
                </a:lnTo>
                <a:cubicBezTo>
                  <a:pt x="192262" y="52408"/>
                  <a:pt x="183744" y="52408"/>
                  <a:pt x="178499" y="57654"/>
                </a:cubicBezTo>
                <a:close/>
                <a:moveTo>
                  <a:pt x="63234" y="57612"/>
                </a:moveTo>
                <a:cubicBezTo>
                  <a:pt x="57989" y="52367"/>
                  <a:pt x="49471" y="52367"/>
                  <a:pt x="44226" y="57612"/>
                </a:cubicBezTo>
                <a:lnTo>
                  <a:pt x="3944" y="97894"/>
                </a:lnTo>
                <a:cubicBezTo>
                  <a:pt x="-1301" y="103139"/>
                  <a:pt x="-1301" y="111656"/>
                  <a:pt x="3944" y="116902"/>
                </a:cubicBezTo>
                <a:lnTo>
                  <a:pt x="44226" y="157183"/>
                </a:lnTo>
                <a:cubicBezTo>
                  <a:pt x="49471" y="162429"/>
                  <a:pt x="57989" y="162429"/>
                  <a:pt x="63234" y="157183"/>
                </a:cubicBezTo>
                <a:cubicBezTo>
                  <a:pt x="68479" y="151938"/>
                  <a:pt x="68479" y="143420"/>
                  <a:pt x="63234" y="138175"/>
                </a:cubicBezTo>
                <a:lnTo>
                  <a:pt x="32435" y="107419"/>
                </a:lnTo>
                <a:lnTo>
                  <a:pt x="63192" y="76620"/>
                </a:lnTo>
                <a:cubicBezTo>
                  <a:pt x="68437" y="71375"/>
                  <a:pt x="68437" y="62857"/>
                  <a:pt x="63192" y="57612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58" name="Text 56"/>
          <p:cNvSpPr/>
          <p:nvPr/>
        </p:nvSpPr>
        <p:spPr>
          <a:xfrm>
            <a:off x="9137986" y="4860687"/>
            <a:ext cx="2425868" cy="1790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AI代码和bug相关性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72449" y="5254555"/>
            <a:ext cx="2578044" cy="680317"/>
          </a:xfrm>
          <a:custGeom>
            <a:avLst/>
            <a:gdLst/>
            <a:ahLst/>
            <a:cxnLst/>
            <a:rect l="l" t="t" r="r" b="b"/>
            <a:pathLst>
              <a:path w="2578044" h="680317">
                <a:moveTo>
                  <a:pt x="71610" y="0"/>
                </a:moveTo>
                <a:lnTo>
                  <a:pt x="2506434" y="0"/>
                </a:lnTo>
                <a:cubicBezTo>
                  <a:pt x="2545983" y="0"/>
                  <a:pt x="2578044" y="32061"/>
                  <a:pt x="2578044" y="71610"/>
                </a:cubicBezTo>
                <a:lnTo>
                  <a:pt x="2578044" y="608707"/>
                </a:lnTo>
                <a:cubicBezTo>
                  <a:pt x="2578044" y="648256"/>
                  <a:pt x="2545983" y="680317"/>
                  <a:pt x="2506434" y="680317"/>
                </a:cubicBezTo>
                <a:lnTo>
                  <a:pt x="71610" y="680317"/>
                </a:lnTo>
                <a:cubicBezTo>
                  <a:pt x="32087" y="680317"/>
                  <a:pt x="0" y="648230"/>
                  <a:pt x="0" y="608707"/>
                </a:cubicBezTo>
                <a:lnTo>
                  <a:pt x="0" y="71610"/>
                </a:lnTo>
                <a:cubicBezTo>
                  <a:pt x="0" y="32061"/>
                  <a:pt x="32061" y="0"/>
                  <a:pt x="7161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7556010" y="5361974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56143" y="15232"/>
                </a:moveTo>
                <a:cubicBezTo>
                  <a:pt x="60717" y="18421"/>
                  <a:pt x="61808" y="24715"/>
                  <a:pt x="58619" y="29246"/>
                </a:cubicBezTo>
                <a:lnTo>
                  <a:pt x="35121" y="62815"/>
                </a:lnTo>
                <a:cubicBezTo>
                  <a:pt x="33400" y="65248"/>
                  <a:pt x="30715" y="66801"/>
                  <a:pt x="27736" y="67053"/>
                </a:cubicBezTo>
                <a:cubicBezTo>
                  <a:pt x="24757" y="67304"/>
                  <a:pt x="21819" y="66297"/>
                  <a:pt x="19721" y="64199"/>
                </a:cubicBezTo>
                <a:lnTo>
                  <a:pt x="2937" y="47415"/>
                </a:lnTo>
                <a:cubicBezTo>
                  <a:pt x="-965" y="43471"/>
                  <a:pt x="-965" y="37093"/>
                  <a:pt x="2937" y="33149"/>
                </a:cubicBezTo>
                <a:cubicBezTo>
                  <a:pt x="6840" y="29204"/>
                  <a:pt x="13259" y="29246"/>
                  <a:pt x="17204" y="33149"/>
                </a:cubicBezTo>
                <a:lnTo>
                  <a:pt x="25512" y="41457"/>
                </a:lnTo>
                <a:lnTo>
                  <a:pt x="42128" y="17707"/>
                </a:lnTo>
                <a:cubicBezTo>
                  <a:pt x="45317" y="13134"/>
                  <a:pt x="51611" y="12043"/>
                  <a:pt x="56143" y="15232"/>
                </a:cubicBezTo>
                <a:close/>
                <a:moveTo>
                  <a:pt x="56143" y="82368"/>
                </a:moveTo>
                <a:cubicBezTo>
                  <a:pt x="60717" y="85557"/>
                  <a:pt x="61808" y="91851"/>
                  <a:pt x="58619" y="96383"/>
                </a:cubicBezTo>
                <a:lnTo>
                  <a:pt x="35121" y="129951"/>
                </a:lnTo>
                <a:cubicBezTo>
                  <a:pt x="33400" y="132385"/>
                  <a:pt x="30715" y="133937"/>
                  <a:pt x="27736" y="134189"/>
                </a:cubicBezTo>
                <a:cubicBezTo>
                  <a:pt x="24757" y="134441"/>
                  <a:pt x="21819" y="133434"/>
                  <a:pt x="19721" y="131336"/>
                </a:cubicBezTo>
                <a:lnTo>
                  <a:pt x="2937" y="114552"/>
                </a:lnTo>
                <a:cubicBezTo>
                  <a:pt x="-1007" y="110607"/>
                  <a:pt x="-1007" y="104230"/>
                  <a:pt x="2937" y="100327"/>
                </a:cubicBezTo>
                <a:cubicBezTo>
                  <a:pt x="6881" y="96425"/>
                  <a:pt x="13259" y="96383"/>
                  <a:pt x="17162" y="100327"/>
                </a:cubicBezTo>
                <a:lnTo>
                  <a:pt x="25470" y="108635"/>
                </a:lnTo>
                <a:lnTo>
                  <a:pt x="42086" y="84886"/>
                </a:lnTo>
                <a:cubicBezTo>
                  <a:pt x="45275" y="80312"/>
                  <a:pt x="51569" y="79221"/>
                  <a:pt x="56101" y="82410"/>
                </a:cubicBezTo>
                <a:close/>
                <a:moveTo>
                  <a:pt x="93991" y="40282"/>
                </a:moveTo>
                <a:cubicBezTo>
                  <a:pt x="93991" y="32855"/>
                  <a:pt x="99992" y="26855"/>
                  <a:pt x="107419" y="26855"/>
                </a:cubicBezTo>
                <a:lnTo>
                  <a:pt x="201410" y="26855"/>
                </a:lnTo>
                <a:cubicBezTo>
                  <a:pt x="208837" y="26855"/>
                  <a:pt x="214837" y="32855"/>
                  <a:pt x="214837" y="40282"/>
                </a:cubicBezTo>
                <a:cubicBezTo>
                  <a:pt x="214837" y="47709"/>
                  <a:pt x="208837" y="53709"/>
                  <a:pt x="201410" y="53709"/>
                </a:cubicBezTo>
                <a:lnTo>
                  <a:pt x="107419" y="53709"/>
                </a:lnTo>
                <a:cubicBezTo>
                  <a:pt x="99992" y="53709"/>
                  <a:pt x="93991" y="47709"/>
                  <a:pt x="93991" y="40282"/>
                </a:cubicBezTo>
                <a:close/>
                <a:moveTo>
                  <a:pt x="93991" y="107419"/>
                </a:moveTo>
                <a:cubicBezTo>
                  <a:pt x="93991" y="99992"/>
                  <a:pt x="99992" y="93991"/>
                  <a:pt x="107419" y="93991"/>
                </a:cubicBezTo>
                <a:lnTo>
                  <a:pt x="201410" y="93991"/>
                </a:lnTo>
                <a:cubicBezTo>
                  <a:pt x="208837" y="93991"/>
                  <a:pt x="214837" y="99992"/>
                  <a:pt x="214837" y="107419"/>
                </a:cubicBezTo>
                <a:cubicBezTo>
                  <a:pt x="214837" y="114845"/>
                  <a:pt x="208837" y="120846"/>
                  <a:pt x="201410" y="120846"/>
                </a:cubicBezTo>
                <a:lnTo>
                  <a:pt x="107419" y="120846"/>
                </a:lnTo>
                <a:cubicBezTo>
                  <a:pt x="99992" y="120846"/>
                  <a:pt x="93991" y="114845"/>
                  <a:pt x="93991" y="107419"/>
                </a:cubicBezTo>
                <a:close/>
                <a:moveTo>
                  <a:pt x="67137" y="174555"/>
                </a:moveTo>
                <a:cubicBezTo>
                  <a:pt x="67137" y="167128"/>
                  <a:pt x="73137" y="161128"/>
                  <a:pt x="80564" y="161128"/>
                </a:cubicBezTo>
                <a:lnTo>
                  <a:pt x="201410" y="161128"/>
                </a:lnTo>
                <a:cubicBezTo>
                  <a:pt x="208837" y="161128"/>
                  <a:pt x="214837" y="167128"/>
                  <a:pt x="214837" y="174555"/>
                </a:cubicBezTo>
                <a:cubicBezTo>
                  <a:pt x="214837" y="181982"/>
                  <a:pt x="208837" y="187982"/>
                  <a:pt x="201410" y="187982"/>
                </a:cubicBezTo>
                <a:lnTo>
                  <a:pt x="80564" y="187982"/>
                </a:lnTo>
                <a:cubicBezTo>
                  <a:pt x="73137" y="187982"/>
                  <a:pt x="67137" y="181982"/>
                  <a:pt x="67137" y="174555"/>
                </a:cubicBezTo>
                <a:close/>
                <a:moveTo>
                  <a:pt x="26855" y="157771"/>
                </a:moveTo>
                <a:cubicBezTo>
                  <a:pt x="36118" y="157771"/>
                  <a:pt x="43639" y="165292"/>
                  <a:pt x="43639" y="174555"/>
                </a:cubicBezTo>
                <a:cubicBezTo>
                  <a:pt x="43639" y="183818"/>
                  <a:pt x="36118" y="191339"/>
                  <a:pt x="26855" y="191339"/>
                </a:cubicBezTo>
                <a:cubicBezTo>
                  <a:pt x="17591" y="191339"/>
                  <a:pt x="10070" y="183818"/>
                  <a:pt x="10070" y="174555"/>
                </a:cubicBezTo>
                <a:cubicBezTo>
                  <a:pt x="10070" y="165292"/>
                  <a:pt x="17591" y="157771"/>
                  <a:pt x="26855" y="157771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61" name="Text 59"/>
          <p:cNvSpPr/>
          <p:nvPr/>
        </p:nvSpPr>
        <p:spPr>
          <a:xfrm>
            <a:off x="6448537" y="5648423"/>
            <a:ext cx="2425868" cy="1790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需求吞吐量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061898" y="5254555"/>
            <a:ext cx="2578044" cy="680317"/>
          </a:xfrm>
          <a:custGeom>
            <a:avLst/>
            <a:gdLst/>
            <a:ahLst/>
            <a:cxnLst/>
            <a:rect l="l" t="t" r="r" b="b"/>
            <a:pathLst>
              <a:path w="2578044" h="680317">
                <a:moveTo>
                  <a:pt x="71610" y="0"/>
                </a:moveTo>
                <a:lnTo>
                  <a:pt x="2506434" y="0"/>
                </a:lnTo>
                <a:cubicBezTo>
                  <a:pt x="2545983" y="0"/>
                  <a:pt x="2578044" y="32061"/>
                  <a:pt x="2578044" y="71610"/>
                </a:cubicBezTo>
                <a:lnTo>
                  <a:pt x="2578044" y="608707"/>
                </a:lnTo>
                <a:cubicBezTo>
                  <a:pt x="2578044" y="648256"/>
                  <a:pt x="2545983" y="680317"/>
                  <a:pt x="2506434" y="680317"/>
                </a:cubicBezTo>
                <a:lnTo>
                  <a:pt x="71610" y="680317"/>
                </a:lnTo>
                <a:cubicBezTo>
                  <a:pt x="32087" y="680317"/>
                  <a:pt x="0" y="648230"/>
                  <a:pt x="0" y="608707"/>
                </a:cubicBezTo>
                <a:lnTo>
                  <a:pt x="0" y="71610"/>
                </a:lnTo>
                <a:cubicBezTo>
                  <a:pt x="0" y="32061"/>
                  <a:pt x="32061" y="0"/>
                  <a:pt x="7161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3" name="Shape 61"/>
          <p:cNvSpPr/>
          <p:nvPr/>
        </p:nvSpPr>
        <p:spPr>
          <a:xfrm>
            <a:off x="10245459" y="5361974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107419" y="0"/>
                </a:moveTo>
                <a:cubicBezTo>
                  <a:pt x="166704" y="0"/>
                  <a:pt x="214837" y="48133"/>
                  <a:pt x="214837" y="107419"/>
                </a:cubicBezTo>
                <a:cubicBezTo>
                  <a:pt x="214837" y="166704"/>
                  <a:pt x="166704" y="214837"/>
                  <a:pt x="107419" y="214837"/>
                </a:cubicBezTo>
                <a:cubicBezTo>
                  <a:pt x="48133" y="214837"/>
                  <a:pt x="0" y="166704"/>
                  <a:pt x="0" y="107419"/>
                </a:cubicBezTo>
                <a:cubicBezTo>
                  <a:pt x="0" y="48133"/>
                  <a:pt x="48133" y="0"/>
                  <a:pt x="107419" y="0"/>
                </a:cubicBezTo>
                <a:close/>
                <a:moveTo>
                  <a:pt x="97348" y="50352"/>
                </a:moveTo>
                <a:lnTo>
                  <a:pt x="97348" y="107419"/>
                </a:lnTo>
                <a:cubicBezTo>
                  <a:pt x="97348" y="110775"/>
                  <a:pt x="99026" y="113922"/>
                  <a:pt x="101838" y="115811"/>
                </a:cubicBezTo>
                <a:lnTo>
                  <a:pt x="142120" y="142665"/>
                </a:lnTo>
                <a:cubicBezTo>
                  <a:pt x="146735" y="145770"/>
                  <a:pt x="152987" y="144511"/>
                  <a:pt x="156093" y="139854"/>
                </a:cubicBezTo>
                <a:cubicBezTo>
                  <a:pt x="159198" y="135196"/>
                  <a:pt x="157939" y="128986"/>
                  <a:pt x="153281" y="125881"/>
                </a:cubicBezTo>
                <a:lnTo>
                  <a:pt x="117489" y="102048"/>
                </a:lnTo>
                <a:lnTo>
                  <a:pt x="117489" y="50352"/>
                </a:lnTo>
                <a:cubicBezTo>
                  <a:pt x="117489" y="44772"/>
                  <a:pt x="112999" y="40282"/>
                  <a:pt x="107419" y="40282"/>
                </a:cubicBezTo>
                <a:cubicBezTo>
                  <a:pt x="101838" y="40282"/>
                  <a:pt x="97348" y="44772"/>
                  <a:pt x="97348" y="50352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64" name="Text 62"/>
          <p:cNvSpPr/>
          <p:nvPr/>
        </p:nvSpPr>
        <p:spPr>
          <a:xfrm>
            <a:off x="9137986" y="5648423"/>
            <a:ext cx="2425868" cy="1790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平均交付时长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62537" y="6342167"/>
            <a:ext cx="11466925" cy="510238"/>
          </a:xfrm>
          <a:custGeom>
            <a:avLst/>
            <a:gdLst/>
            <a:ahLst/>
            <a:cxnLst/>
            <a:rect l="l" t="t" r="r" b="b"/>
            <a:pathLst>
              <a:path w="11466925" h="510238">
                <a:moveTo>
                  <a:pt x="71612" y="0"/>
                </a:moveTo>
                <a:lnTo>
                  <a:pt x="11395313" y="0"/>
                </a:lnTo>
                <a:cubicBezTo>
                  <a:pt x="11434863" y="0"/>
                  <a:pt x="11466925" y="32062"/>
                  <a:pt x="11466925" y="71612"/>
                </a:cubicBezTo>
                <a:lnTo>
                  <a:pt x="11466925" y="438626"/>
                </a:lnTo>
                <a:cubicBezTo>
                  <a:pt x="11466925" y="478176"/>
                  <a:pt x="11434863" y="510238"/>
                  <a:pt x="11395313" y="510238"/>
                </a:cubicBezTo>
                <a:lnTo>
                  <a:pt x="71612" y="510238"/>
                </a:lnTo>
                <a:cubicBezTo>
                  <a:pt x="32088" y="510238"/>
                  <a:pt x="0" y="478150"/>
                  <a:pt x="0" y="438626"/>
                </a:cubicBezTo>
                <a:lnTo>
                  <a:pt x="0" y="71612"/>
                </a:lnTo>
                <a:cubicBezTo>
                  <a:pt x="0" y="32088"/>
                  <a:pt x="32088" y="0"/>
                  <a:pt x="71612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7093" y="6489868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107419" y="214837"/>
                </a:moveTo>
                <a:cubicBezTo>
                  <a:pt x="166704" y="214837"/>
                  <a:pt x="214837" y="166704"/>
                  <a:pt x="214837" y="107419"/>
                </a:cubicBezTo>
                <a:cubicBezTo>
                  <a:pt x="214837" y="48133"/>
                  <a:pt x="166704" y="0"/>
                  <a:pt x="107419" y="0"/>
                </a:cubicBezTo>
                <a:cubicBezTo>
                  <a:pt x="48133" y="0"/>
                  <a:pt x="0" y="48133"/>
                  <a:pt x="0" y="107419"/>
                </a:cubicBezTo>
                <a:cubicBezTo>
                  <a:pt x="0" y="166704"/>
                  <a:pt x="48133" y="214837"/>
                  <a:pt x="107419" y="214837"/>
                </a:cubicBezTo>
                <a:close/>
                <a:moveTo>
                  <a:pt x="93991" y="67137"/>
                </a:moveTo>
                <a:cubicBezTo>
                  <a:pt x="93991" y="59726"/>
                  <a:pt x="100008" y="53709"/>
                  <a:pt x="107419" y="53709"/>
                </a:cubicBezTo>
                <a:cubicBezTo>
                  <a:pt x="114829" y="53709"/>
                  <a:pt x="120846" y="59726"/>
                  <a:pt x="120846" y="67137"/>
                </a:cubicBezTo>
                <a:cubicBezTo>
                  <a:pt x="120846" y="74547"/>
                  <a:pt x="114829" y="80564"/>
                  <a:pt x="107419" y="80564"/>
                </a:cubicBezTo>
                <a:cubicBezTo>
                  <a:pt x="100008" y="80564"/>
                  <a:pt x="93991" y="74547"/>
                  <a:pt x="93991" y="67137"/>
                </a:cubicBezTo>
                <a:close/>
                <a:moveTo>
                  <a:pt x="90634" y="93991"/>
                </a:moveTo>
                <a:lnTo>
                  <a:pt x="110775" y="93991"/>
                </a:lnTo>
                <a:cubicBezTo>
                  <a:pt x="116356" y="93991"/>
                  <a:pt x="120846" y="98481"/>
                  <a:pt x="120846" y="104062"/>
                </a:cubicBezTo>
                <a:lnTo>
                  <a:pt x="120846" y="140987"/>
                </a:lnTo>
                <a:lnTo>
                  <a:pt x="124203" y="140987"/>
                </a:lnTo>
                <a:cubicBezTo>
                  <a:pt x="129783" y="140987"/>
                  <a:pt x="134273" y="145477"/>
                  <a:pt x="134273" y="151057"/>
                </a:cubicBezTo>
                <a:cubicBezTo>
                  <a:pt x="134273" y="156638"/>
                  <a:pt x="129783" y="161128"/>
                  <a:pt x="124203" y="161128"/>
                </a:cubicBezTo>
                <a:lnTo>
                  <a:pt x="90634" y="161128"/>
                </a:lnTo>
                <a:cubicBezTo>
                  <a:pt x="85054" y="161128"/>
                  <a:pt x="80564" y="156638"/>
                  <a:pt x="80564" y="151057"/>
                </a:cubicBezTo>
                <a:cubicBezTo>
                  <a:pt x="80564" y="145477"/>
                  <a:pt x="85054" y="140987"/>
                  <a:pt x="90634" y="140987"/>
                </a:cubicBezTo>
                <a:lnTo>
                  <a:pt x="100705" y="140987"/>
                </a:lnTo>
                <a:lnTo>
                  <a:pt x="100705" y="114132"/>
                </a:lnTo>
                <a:lnTo>
                  <a:pt x="90634" y="114132"/>
                </a:lnTo>
                <a:cubicBezTo>
                  <a:pt x="85054" y="114132"/>
                  <a:pt x="80564" y="109642"/>
                  <a:pt x="80564" y="104062"/>
                </a:cubicBezTo>
                <a:cubicBezTo>
                  <a:pt x="80564" y="98481"/>
                  <a:pt x="85054" y="93991"/>
                  <a:pt x="90634" y="93991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67" name="Text 65"/>
          <p:cNvSpPr/>
          <p:nvPr/>
        </p:nvSpPr>
        <p:spPr>
          <a:xfrm>
            <a:off x="922009" y="6489868"/>
            <a:ext cx="7089621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度量原则：</a:t>
            </a:r>
            <a:r>
              <a:rPr lang="en-US" sz="113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过程目标用于运营参考和持续优化，端到端周期用于考核评估，两者相辅相成，确保转型目标达成。</a:t>
            </a:r>
            <a:endParaRPr lang="en-US" sz="1600" dirty="0"/>
          </a:p>
        </p:txBody>
      </p:sp>
      <p:sp>
        <p:nvSpPr>
          <p:cNvPr id="68" name="Text 9"/>
          <p:cNvSpPr/>
          <p:nvPr/>
        </p:nvSpPr>
        <p:spPr>
          <a:xfrm>
            <a:off x="4171139" y="2574024"/>
            <a:ext cx="814590" cy="214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0" dirty="0">
                <a:solidFill>
                  <a:srgbClr val="10B98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69" name="Text 30"/>
          <p:cNvSpPr/>
          <p:nvPr/>
        </p:nvSpPr>
        <p:spPr>
          <a:xfrm>
            <a:off x="3636340" y="5436657"/>
            <a:ext cx="1405392" cy="1790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10B98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A2类 &gt;70% · B类 &gt;30%</a:t>
            </a:r>
            <a:endParaRPr lang="en-US" sz="1600" dirty="0"/>
          </a:p>
        </p:txBody>
      </p:sp>
      <p:sp>
        <p:nvSpPr>
          <p:cNvPr id="70" name="Text 32"/>
          <p:cNvSpPr/>
          <p:nvPr/>
        </p:nvSpPr>
        <p:spPr>
          <a:xfrm>
            <a:off x="3622004" y="5687301"/>
            <a:ext cx="1423295" cy="1790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10B98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A2类 &gt;80% · B类 &gt;50%</a:t>
            </a:r>
            <a:endParaRPr lang="en-US" sz="1600" dirty="0"/>
          </a:p>
        </p:txBody>
      </p:sp>
      <p:sp>
        <p:nvSpPr>
          <p:cNvPr id="72" name="Text 10"/>
          <p:cNvSpPr/>
          <p:nvPr/>
        </p:nvSpPr>
        <p:spPr>
          <a:xfrm>
            <a:off x="3403411" y="2086134"/>
            <a:ext cx="767953" cy="198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8F8F8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按项目统计</a:t>
            </a:r>
            <a:endParaRPr lang="en-US" sz="1600" dirty="0"/>
          </a:p>
        </p:txBody>
      </p:sp>
      <p:sp>
        <p:nvSpPr>
          <p:cNvPr id="73" name="Text 10"/>
          <p:cNvSpPr/>
          <p:nvPr/>
        </p:nvSpPr>
        <p:spPr>
          <a:xfrm>
            <a:off x="3403411" y="2590324"/>
            <a:ext cx="767953" cy="1984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95" dirty="0">
                <a:solidFill>
                  <a:srgbClr val="8F8F8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按项目统计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b4dc0edd624eae574427004287460dcc446b4529.jpg"/>
          <p:cNvPicPr>
            <a:picLocks noChangeAspect="1"/>
          </p:cNvPicPr>
          <p:nvPr/>
        </p:nvPicPr>
        <p:blipFill>
          <a:blip r:embed="rId1">
            <a:alphaModFix amt="3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930003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5" name="Text 2"/>
          <p:cNvSpPr/>
          <p:nvPr/>
        </p:nvSpPr>
        <p:spPr>
          <a:xfrm>
            <a:off x="609600" y="1339453"/>
            <a:ext cx="44291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F59E0B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600" y="1720453"/>
            <a:ext cx="4657725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核心Owner的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责任分工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3739753"/>
            <a:ext cx="4381500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谁来推动？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4546997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9" name="Text 6"/>
          <p:cNvSpPr/>
          <p:nvPr/>
        </p:nvSpPr>
        <p:spPr>
          <a:xfrm>
            <a:off x="1562100" y="4432697"/>
            <a:ext cx="2762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四</a:t>
            </a:r>
            <a:r>
              <a:rPr lang="en-US" sz="15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大责任主体，明确职责与协同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90563" y="5008959"/>
            <a:ext cx="1504950" cy="504825"/>
          </a:xfrm>
          <a:custGeom>
            <a:avLst/>
            <a:gdLst/>
            <a:ahLst/>
            <a:cxnLst/>
            <a:rect l="l" t="t" r="r" b="b"/>
            <a:pathLst>
              <a:path w="1504950" h="504825">
                <a:moveTo>
                  <a:pt x="76198" y="0"/>
                </a:moveTo>
                <a:lnTo>
                  <a:pt x="1428752" y="0"/>
                </a:lnTo>
                <a:cubicBezTo>
                  <a:pt x="1470835" y="0"/>
                  <a:pt x="1504950" y="34115"/>
                  <a:pt x="1504950" y="76198"/>
                </a:cubicBezTo>
                <a:lnTo>
                  <a:pt x="1504950" y="428627"/>
                </a:lnTo>
                <a:cubicBezTo>
                  <a:pt x="1504950" y="470710"/>
                  <a:pt x="1470835" y="504825"/>
                  <a:pt x="1428752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23925" y="516612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12" name="Text 9"/>
          <p:cNvSpPr/>
          <p:nvPr/>
        </p:nvSpPr>
        <p:spPr>
          <a:xfrm>
            <a:off x="1276350" y="5128022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责任矩阵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33638" y="5008959"/>
            <a:ext cx="1504950" cy="504825"/>
          </a:xfrm>
          <a:custGeom>
            <a:avLst/>
            <a:gdLst/>
            <a:ahLst/>
            <a:cxnLst/>
            <a:rect l="l" t="t" r="r" b="b"/>
            <a:pathLst>
              <a:path w="1504950" h="504825">
                <a:moveTo>
                  <a:pt x="76198" y="0"/>
                </a:moveTo>
                <a:lnTo>
                  <a:pt x="1428752" y="0"/>
                </a:lnTo>
                <a:cubicBezTo>
                  <a:pt x="1470835" y="0"/>
                  <a:pt x="1504950" y="34115"/>
                  <a:pt x="1504950" y="76198"/>
                </a:cubicBezTo>
                <a:lnTo>
                  <a:pt x="1504950" y="428627"/>
                </a:lnTo>
                <a:cubicBezTo>
                  <a:pt x="1504950" y="470710"/>
                  <a:pt x="1470835" y="504825"/>
                  <a:pt x="1428752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78906" y="516612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5" name="Text 12"/>
          <p:cNvSpPr/>
          <p:nvPr/>
        </p:nvSpPr>
        <p:spPr>
          <a:xfrm>
            <a:off x="3019425" y="5128022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协同推进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610" y="339610"/>
            <a:ext cx="50942" cy="339610"/>
          </a:xfrm>
          <a:custGeom>
            <a:avLst/>
            <a:gdLst/>
            <a:ahLst/>
            <a:cxnLst/>
            <a:rect l="l" t="t" r="r" b="b"/>
            <a:pathLst>
              <a:path w="50942" h="339610">
                <a:moveTo>
                  <a:pt x="0" y="0"/>
                </a:moveTo>
                <a:lnTo>
                  <a:pt x="50942" y="0"/>
                </a:lnTo>
                <a:lnTo>
                  <a:pt x="50942" y="339610"/>
                </a:lnTo>
                <a:lnTo>
                  <a:pt x="0" y="33961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492435" y="339610"/>
            <a:ext cx="3506474" cy="339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组织架构：</a:t>
            </a:r>
            <a:r>
              <a:rPr lang="zh-CN" altLang="en-US" sz="240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四</a:t>
            </a:r>
            <a:r>
              <a:rPr lang="en-US" sz="240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大责任主体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3376" y="747142"/>
            <a:ext cx="11385426" cy="237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5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产线研发主管是第一责任人，各角色协同推进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8100" y="1163164"/>
            <a:ext cx="5671487" cy="1935777"/>
          </a:xfrm>
          <a:custGeom>
            <a:avLst/>
            <a:gdLst/>
            <a:ahLst/>
            <a:cxnLst/>
            <a:rect l="l" t="t" r="r" b="b"/>
            <a:pathLst>
              <a:path w="5671487" h="1935777">
                <a:moveTo>
                  <a:pt x="101880" y="0"/>
                </a:moveTo>
                <a:lnTo>
                  <a:pt x="5569608" y="0"/>
                </a:lnTo>
                <a:cubicBezTo>
                  <a:pt x="5625874" y="0"/>
                  <a:pt x="5671487" y="45613"/>
                  <a:pt x="5671487" y="101880"/>
                </a:cubicBezTo>
                <a:lnTo>
                  <a:pt x="5671487" y="1833897"/>
                </a:lnTo>
                <a:cubicBezTo>
                  <a:pt x="5671487" y="1890164"/>
                  <a:pt x="5625874" y="1935777"/>
                  <a:pt x="5569608" y="1935777"/>
                </a:cubicBezTo>
                <a:lnTo>
                  <a:pt x="101880" y="1935777"/>
                </a:lnTo>
                <a:cubicBezTo>
                  <a:pt x="45613" y="1935777"/>
                  <a:pt x="0" y="1890164"/>
                  <a:pt x="0" y="1833897"/>
                </a:cubicBezTo>
                <a:lnTo>
                  <a:pt x="0" y="101880"/>
                </a:lnTo>
                <a:cubicBezTo>
                  <a:pt x="0" y="45651"/>
                  <a:pt x="45651" y="0"/>
                  <a:pt x="10188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5000"/>
                </a:srgbClr>
              </a:gs>
              <a:gs pos="100000">
                <a:srgbClr val="3B82F6">
                  <a:alpha val="10000"/>
                </a:srgbClr>
              </a:gs>
            </a:gsLst>
            <a:lin ang="2700000" scaled="1"/>
          </a:gra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97891" y="1171655"/>
            <a:ext cx="815064" cy="815064"/>
          </a:xfrm>
          <a:custGeom>
            <a:avLst/>
            <a:gdLst/>
            <a:ahLst/>
            <a:cxnLst/>
            <a:rect l="l" t="t" r="r" b="b"/>
            <a:pathLst>
              <a:path w="815064" h="815064">
                <a:moveTo>
                  <a:pt x="0" y="0"/>
                </a:moveTo>
                <a:lnTo>
                  <a:pt x="815064" y="0"/>
                </a:lnTo>
                <a:lnTo>
                  <a:pt x="815064" y="815064"/>
                </a:lnTo>
                <a:lnTo>
                  <a:pt x="407532" y="815064"/>
                </a:lnTo>
                <a:cubicBezTo>
                  <a:pt x="182458" y="815064"/>
                  <a:pt x="0" y="632606"/>
                  <a:pt x="0" y="407532"/>
                </a:cubicBez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343855" y="3213560"/>
            <a:ext cx="5679978" cy="1833894"/>
          </a:xfrm>
          <a:custGeom>
            <a:avLst/>
            <a:gdLst/>
            <a:ahLst/>
            <a:cxnLst/>
            <a:rect l="l" t="t" r="r" b="b"/>
            <a:pathLst>
              <a:path w="5679978" h="1833894">
                <a:moveTo>
                  <a:pt x="101891" y="0"/>
                </a:moveTo>
                <a:lnTo>
                  <a:pt x="5578087" y="0"/>
                </a:lnTo>
                <a:cubicBezTo>
                  <a:pt x="5634359" y="0"/>
                  <a:pt x="5679978" y="45618"/>
                  <a:pt x="5679978" y="101891"/>
                </a:cubicBezTo>
                <a:lnTo>
                  <a:pt x="5679978" y="1732003"/>
                </a:lnTo>
                <a:cubicBezTo>
                  <a:pt x="5679978" y="1788276"/>
                  <a:pt x="5634359" y="1833894"/>
                  <a:pt x="5578087" y="1833894"/>
                </a:cubicBezTo>
                <a:lnTo>
                  <a:pt x="101891" y="1833894"/>
                </a:lnTo>
                <a:cubicBezTo>
                  <a:pt x="45618" y="1833894"/>
                  <a:pt x="0" y="1788276"/>
                  <a:pt x="0" y="1732003"/>
                </a:cubicBezTo>
                <a:lnTo>
                  <a:pt x="0" y="101891"/>
                </a:lnTo>
                <a:cubicBezTo>
                  <a:pt x="0" y="45618"/>
                  <a:pt x="45618" y="0"/>
                  <a:pt x="10189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7905" y="3404591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9" name="Shape 7"/>
          <p:cNvSpPr/>
          <p:nvPr/>
        </p:nvSpPr>
        <p:spPr>
          <a:xfrm>
            <a:off x="636769" y="3523454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63677" y="21226"/>
                </a:moveTo>
                <a:cubicBezTo>
                  <a:pt x="63677" y="15355"/>
                  <a:pt x="68419" y="10613"/>
                  <a:pt x="74290" y="10613"/>
                </a:cubicBezTo>
                <a:lnTo>
                  <a:pt x="95515" y="10613"/>
                </a:lnTo>
                <a:cubicBezTo>
                  <a:pt x="101386" y="10613"/>
                  <a:pt x="106128" y="15355"/>
                  <a:pt x="106128" y="21226"/>
                </a:cubicBezTo>
                <a:lnTo>
                  <a:pt x="106128" y="42451"/>
                </a:lnTo>
                <a:cubicBezTo>
                  <a:pt x="106128" y="48321"/>
                  <a:pt x="101386" y="53064"/>
                  <a:pt x="95515" y="53064"/>
                </a:cubicBezTo>
                <a:lnTo>
                  <a:pt x="92862" y="53064"/>
                </a:lnTo>
                <a:lnTo>
                  <a:pt x="92862" y="74290"/>
                </a:lnTo>
                <a:lnTo>
                  <a:pt x="132660" y="74290"/>
                </a:lnTo>
                <a:cubicBezTo>
                  <a:pt x="145860" y="74290"/>
                  <a:pt x="156539" y="84969"/>
                  <a:pt x="156539" y="98169"/>
                </a:cubicBezTo>
                <a:lnTo>
                  <a:pt x="156539" y="116741"/>
                </a:lnTo>
                <a:lnTo>
                  <a:pt x="159192" y="116741"/>
                </a:lnTo>
                <a:cubicBezTo>
                  <a:pt x="165062" y="116741"/>
                  <a:pt x="169805" y="121484"/>
                  <a:pt x="169805" y="127354"/>
                </a:cubicBezTo>
                <a:lnTo>
                  <a:pt x="169805" y="148579"/>
                </a:lnTo>
                <a:cubicBezTo>
                  <a:pt x="169805" y="154450"/>
                  <a:pt x="165062" y="159192"/>
                  <a:pt x="159192" y="159192"/>
                </a:cubicBezTo>
                <a:lnTo>
                  <a:pt x="137967" y="159192"/>
                </a:lnTo>
                <a:cubicBezTo>
                  <a:pt x="132096" y="159192"/>
                  <a:pt x="127354" y="154450"/>
                  <a:pt x="127354" y="148579"/>
                </a:cubicBezTo>
                <a:lnTo>
                  <a:pt x="127354" y="127354"/>
                </a:lnTo>
                <a:cubicBezTo>
                  <a:pt x="127354" y="121484"/>
                  <a:pt x="132096" y="116741"/>
                  <a:pt x="137967" y="116741"/>
                </a:cubicBezTo>
                <a:lnTo>
                  <a:pt x="140620" y="116741"/>
                </a:lnTo>
                <a:lnTo>
                  <a:pt x="140620" y="98169"/>
                </a:lnTo>
                <a:cubicBezTo>
                  <a:pt x="140620" y="93758"/>
                  <a:pt x="137071" y="90209"/>
                  <a:pt x="132660" y="90209"/>
                </a:cubicBezTo>
                <a:lnTo>
                  <a:pt x="92862" y="90209"/>
                </a:lnTo>
                <a:lnTo>
                  <a:pt x="92862" y="116741"/>
                </a:lnTo>
                <a:lnTo>
                  <a:pt x="95515" y="116741"/>
                </a:lnTo>
                <a:cubicBezTo>
                  <a:pt x="101386" y="116741"/>
                  <a:pt x="106128" y="121484"/>
                  <a:pt x="106128" y="127354"/>
                </a:cubicBezTo>
                <a:lnTo>
                  <a:pt x="106128" y="148579"/>
                </a:lnTo>
                <a:cubicBezTo>
                  <a:pt x="106128" y="154450"/>
                  <a:pt x="101386" y="159192"/>
                  <a:pt x="95515" y="159192"/>
                </a:cubicBezTo>
                <a:lnTo>
                  <a:pt x="74290" y="159192"/>
                </a:lnTo>
                <a:cubicBezTo>
                  <a:pt x="68419" y="159192"/>
                  <a:pt x="63677" y="154450"/>
                  <a:pt x="63677" y="148579"/>
                </a:cubicBezTo>
                <a:lnTo>
                  <a:pt x="63677" y="127354"/>
                </a:lnTo>
                <a:cubicBezTo>
                  <a:pt x="63677" y="121484"/>
                  <a:pt x="68419" y="116741"/>
                  <a:pt x="74290" y="116741"/>
                </a:cubicBezTo>
                <a:lnTo>
                  <a:pt x="76943" y="116741"/>
                </a:lnTo>
                <a:lnTo>
                  <a:pt x="76943" y="90209"/>
                </a:lnTo>
                <a:lnTo>
                  <a:pt x="37145" y="90209"/>
                </a:lnTo>
                <a:cubicBezTo>
                  <a:pt x="32734" y="90209"/>
                  <a:pt x="29185" y="93758"/>
                  <a:pt x="29185" y="98169"/>
                </a:cubicBezTo>
                <a:lnTo>
                  <a:pt x="29185" y="116741"/>
                </a:lnTo>
                <a:lnTo>
                  <a:pt x="31838" y="116741"/>
                </a:lnTo>
                <a:cubicBezTo>
                  <a:pt x="37709" y="116741"/>
                  <a:pt x="42451" y="121484"/>
                  <a:pt x="42451" y="127354"/>
                </a:cubicBezTo>
                <a:lnTo>
                  <a:pt x="42451" y="148579"/>
                </a:lnTo>
                <a:cubicBezTo>
                  <a:pt x="42451" y="154450"/>
                  <a:pt x="37709" y="159192"/>
                  <a:pt x="31838" y="159192"/>
                </a:cubicBezTo>
                <a:lnTo>
                  <a:pt x="10613" y="159192"/>
                </a:lnTo>
                <a:cubicBezTo>
                  <a:pt x="4743" y="159192"/>
                  <a:pt x="0" y="154450"/>
                  <a:pt x="0" y="148579"/>
                </a:cubicBezTo>
                <a:lnTo>
                  <a:pt x="0" y="127354"/>
                </a:lnTo>
                <a:cubicBezTo>
                  <a:pt x="0" y="121484"/>
                  <a:pt x="4743" y="116741"/>
                  <a:pt x="10613" y="116741"/>
                </a:cubicBezTo>
                <a:lnTo>
                  <a:pt x="13266" y="116741"/>
                </a:lnTo>
                <a:lnTo>
                  <a:pt x="13266" y="98169"/>
                </a:lnTo>
                <a:cubicBezTo>
                  <a:pt x="13266" y="84969"/>
                  <a:pt x="23945" y="74290"/>
                  <a:pt x="37145" y="74290"/>
                </a:cubicBezTo>
                <a:lnTo>
                  <a:pt x="76943" y="74290"/>
                </a:lnTo>
                <a:lnTo>
                  <a:pt x="76943" y="53064"/>
                </a:lnTo>
                <a:lnTo>
                  <a:pt x="74290" y="53064"/>
                </a:lnTo>
                <a:cubicBezTo>
                  <a:pt x="68419" y="53064"/>
                  <a:pt x="63677" y="48321"/>
                  <a:pt x="63677" y="42451"/>
                </a:cubicBezTo>
                <a:lnTo>
                  <a:pt x="63677" y="2122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1027320" y="3387610"/>
            <a:ext cx="933928" cy="237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产研变革组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7320" y="3655053"/>
            <a:ext cx="534886" cy="157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10B98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全局推动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7905" y="3964947"/>
            <a:ext cx="5391309" cy="195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角色定位：</a:t>
            </a:r>
            <a:r>
              <a:rPr lang="en-US" sz="93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体系代表，从全局推动AI-Native落地并带来业务质的变化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4602" y="4293944"/>
            <a:ext cx="59432" cy="118864"/>
          </a:xfrm>
          <a:custGeom>
            <a:avLst/>
            <a:gdLst/>
            <a:ahLst/>
            <a:cxnLst/>
            <a:rect l="l" t="t" r="r" b="b"/>
            <a:pathLst>
              <a:path w="59432" h="118864">
                <a:moveTo>
                  <a:pt x="57366" y="54185"/>
                </a:moveTo>
                <a:cubicBezTo>
                  <a:pt x="60268" y="57087"/>
                  <a:pt x="60268" y="61800"/>
                  <a:pt x="57366" y="64702"/>
                </a:cubicBezTo>
                <a:lnTo>
                  <a:pt x="20221" y="101847"/>
                </a:lnTo>
                <a:cubicBezTo>
                  <a:pt x="17319" y="104748"/>
                  <a:pt x="12606" y="104748"/>
                  <a:pt x="9704" y="101847"/>
                </a:cubicBezTo>
                <a:cubicBezTo>
                  <a:pt x="6802" y="98945"/>
                  <a:pt x="6802" y="94232"/>
                  <a:pt x="9704" y="91330"/>
                </a:cubicBezTo>
                <a:lnTo>
                  <a:pt x="41602" y="59432"/>
                </a:lnTo>
                <a:lnTo>
                  <a:pt x="9727" y="27534"/>
                </a:lnTo>
                <a:cubicBezTo>
                  <a:pt x="6825" y="24632"/>
                  <a:pt x="6825" y="19919"/>
                  <a:pt x="9727" y="17017"/>
                </a:cubicBezTo>
                <a:cubicBezTo>
                  <a:pt x="12629" y="14115"/>
                  <a:pt x="17342" y="14115"/>
                  <a:pt x="20244" y="17017"/>
                </a:cubicBezTo>
                <a:lnTo>
                  <a:pt x="57389" y="54162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14" name="Text 12"/>
          <p:cNvSpPr/>
          <p:nvPr/>
        </p:nvSpPr>
        <p:spPr>
          <a:xfrm>
            <a:off x="734407" y="4259983"/>
            <a:ext cx="1519755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全局检视AI-Native转型进展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4602" y="4514691"/>
            <a:ext cx="59432" cy="118864"/>
          </a:xfrm>
          <a:custGeom>
            <a:avLst/>
            <a:gdLst/>
            <a:ahLst/>
            <a:cxnLst/>
            <a:rect l="l" t="t" r="r" b="b"/>
            <a:pathLst>
              <a:path w="59432" h="118864">
                <a:moveTo>
                  <a:pt x="57366" y="54185"/>
                </a:moveTo>
                <a:cubicBezTo>
                  <a:pt x="60268" y="57087"/>
                  <a:pt x="60268" y="61800"/>
                  <a:pt x="57366" y="64702"/>
                </a:cubicBezTo>
                <a:lnTo>
                  <a:pt x="20221" y="101847"/>
                </a:lnTo>
                <a:cubicBezTo>
                  <a:pt x="17319" y="104748"/>
                  <a:pt x="12606" y="104748"/>
                  <a:pt x="9704" y="101847"/>
                </a:cubicBezTo>
                <a:cubicBezTo>
                  <a:pt x="6802" y="98945"/>
                  <a:pt x="6802" y="94232"/>
                  <a:pt x="9704" y="91330"/>
                </a:cubicBezTo>
                <a:lnTo>
                  <a:pt x="41602" y="59432"/>
                </a:lnTo>
                <a:lnTo>
                  <a:pt x="9727" y="27534"/>
                </a:lnTo>
                <a:cubicBezTo>
                  <a:pt x="6825" y="24632"/>
                  <a:pt x="6825" y="19919"/>
                  <a:pt x="9727" y="17017"/>
                </a:cubicBezTo>
                <a:cubicBezTo>
                  <a:pt x="12629" y="14115"/>
                  <a:pt x="17342" y="14115"/>
                  <a:pt x="20244" y="17017"/>
                </a:cubicBezTo>
                <a:lnTo>
                  <a:pt x="57389" y="54162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16" name="Text 14"/>
          <p:cNvSpPr/>
          <p:nvPr/>
        </p:nvSpPr>
        <p:spPr>
          <a:xfrm>
            <a:off x="734407" y="4480730"/>
            <a:ext cx="1995209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识别AI-Native和流程适配的关键问题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4602" y="4735437"/>
            <a:ext cx="59432" cy="118864"/>
          </a:xfrm>
          <a:custGeom>
            <a:avLst/>
            <a:gdLst/>
            <a:ahLst/>
            <a:cxnLst/>
            <a:rect l="l" t="t" r="r" b="b"/>
            <a:pathLst>
              <a:path w="59432" h="118864">
                <a:moveTo>
                  <a:pt x="57366" y="54185"/>
                </a:moveTo>
                <a:cubicBezTo>
                  <a:pt x="60268" y="57087"/>
                  <a:pt x="60268" y="61800"/>
                  <a:pt x="57366" y="64702"/>
                </a:cubicBezTo>
                <a:lnTo>
                  <a:pt x="20221" y="101847"/>
                </a:lnTo>
                <a:cubicBezTo>
                  <a:pt x="17319" y="104748"/>
                  <a:pt x="12606" y="104748"/>
                  <a:pt x="9704" y="101847"/>
                </a:cubicBezTo>
                <a:cubicBezTo>
                  <a:pt x="6802" y="98945"/>
                  <a:pt x="6802" y="94232"/>
                  <a:pt x="9704" y="91330"/>
                </a:cubicBezTo>
                <a:lnTo>
                  <a:pt x="41602" y="59432"/>
                </a:lnTo>
                <a:lnTo>
                  <a:pt x="9727" y="27534"/>
                </a:lnTo>
                <a:cubicBezTo>
                  <a:pt x="6825" y="24632"/>
                  <a:pt x="6825" y="19919"/>
                  <a:pt x="9727" y="17017"/>
                </a:cubicBezTo>
                <a:cubicBezTo>
                  <a:pt x="12629" y="14115"/>
                  <a:pt x="17342" y="14115"/>
                  <a:pt x="20244" y="17017"/>
                </a:cubicBezTo>
                <a:lnTo>
                  <a:pt x="57389" y="54162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18" name="Text 16"/>
          <p:cNvSpPr/>
          <p:nvPr/>
        </p:nvSpPr>
        <p:spPr>
          <a:xfrm>
            <a:off x="734407" y="4701476"/>
            <a:ext cx="2436702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把部门最佳实践反馈给体系，形成规模化复制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9234" y="2205399"/>
            <a:ext cx="5679978" cy="1833894"/>
          </a:xfrm>
          <a:custGeom>
            <a:avLst/>
            <a:gdLst/>
            <a:ahLst/>
            <a:cxnLst/>
            <a:rect l="l" t="t" r="r" b="b"/>
            <a:pathLst>
              <a:path w="5679978" h="1833894">
                <a:moveTo>
                  <a:pt x="101891" y="0"/>
                </a:moveTo>
                <a:lnTo>
                  <a:pt x="5578087" y="0"/>
                </a:lnTo>
                <a:cubicBezTo>
                  <a:pt x="5634359" y="0"/>
                  <a:pt x="5679978" y="45618"/>
                  <a:pt x="5679978" y="101891"/>
                </a:cubicBezTo>
                <a:lnTo>
                  <a:pt x="5679978" y="1732003"/>
                </a:lnTo>
                <a:cubicBezTo>
                  <a:pt x="5679978" y="1788276"/>
                  <a:pt x="5634359" y="1833894"/>
                  <a:pt x="5578087" y="1833894"/>
                </a:cubicBezTo>
                <a:lnTo>
                  <a:pt x="101891" y="1833894"/>
                </a:lnTo>
                <a:cubicBezTo>
                  <a:pt x="45618" y="1833894"/>
                  <a:pt x="0" y="1788276"/>
                  <a:pt x="0" y="1732003"/>
                </a:cubicBezTo>
                <a:lnTo>
                  <a:pt x="0" y="101891"/>
                </a:lnTo>
                <a:cubicBezTo>
                  <a:pt x="0" y="45618"/>
                  <a:pt x="45618" y="0"/>
                  <a:pt x="10189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285" y="2396430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21" name="Shape 19"/>
          <p:cNvSpPr/>
          <p:nvPr/>
        </p:nvSpPr>
        <p:spPr>
          <a:xfrm>
            <a:off x="6492148" y="2515293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42451" y="106128"/>
                </a:moveTo>
                <a:lnTo>
                  <a:pt x="8125" y="106128"/>
                </a:lnTo>
                <a:cubicBezTo>
                  <a:pt x="-133" y="106128"/>
                  <a:pt x="-5207" y="97140"/>
                  <a:pt x="-962" y="90043"/>
                </a:cubicBezTo>
                <a:lnTo>
                  <a:pt x="16583" y="60792"/>
                </a:lnTo>
                <a:cubicBezTo>
                  <a:pt x="19468" y="55983"/>
                  <a:pt x="24642" y="53064"/>
                  <a:pt x="30247" y="53064"/>
                </a:cubicBezTo>
                <a:lnTo>
                  <a:pt x="61753" y="53064"/>
                </a:lnTo>
                <a:cubicBezTo>
                  <a:pt x="86992" y="10314"/>
                  <a:pt x="124634" y="8159"/>
                  <a:pt x="149806" y="11840"/>
                </a:cubicBezTo>
                <a:cubicBezTo>
                  <a:pt x="154052" y="12470"/>
                  <a:pt x="157368" y="15787"/>
                  <a:pt x="157965" y="19999"/>
                </a:cubicBezTo>
                <a:cubicBezTo>
                  <a:pt x="161646" y="45171"/>
                  <a:pt x="159491" y="82813"/>
                  <a:pt x="116741" y="108052"/>
                </a:cubicBezTo>
                <a:lnTo>
                  <a:pt x="116741" y="139558"/>
                </a:lnTo>
                <a:cubicBezTo>
                  <a:pt x="116741" y="145163"/>
                  <a:pt x="113822" y="150337"/>
                  <a:pt x="109013" y="153222"/>
                </a:cubicBezTo>
                <a:lnTo>
                  <a:pt x="79762" y="170767"/>
                </a:lnTo>
                <a:cubicBezTo>
                  <a:pt x="72698" y="175012"/>
                  <a:pt x="63677" y="169905"/>
                  <a:pt x="63677" y="161680"/>
                </a:cubicBezTo>
                <a:lnTo>
                  <a:pt x="63677" y="127354"/>
                </a:lnTo>
                <a:cubicBezTo>
                  <a:pt x="63677" y="115647"/>
                  <a:pt x="54159" y="106128"/>
                  <a:pt x="42451" y="106128"/>
                </a:cubicBezTo>
                <a:lnTo>
                  <a:pt x="42418" y="106128"/>
                </a:lnTo>
                <a:close/>
                <a:moveTo>
                  <a:pt x="132660" y="53064"/>
                </a:moveTo>
                <a:cubicBezTo>
                  <a:pt x="132660" y="44278"/>
                  <a:pt x="125527" y="37145"/>
                  <a:pt x="116741" y="37145"/>
                </a:cubicBezTo>
                <a:cubicBezTo>
                  <a:pt x="107955" y="37145"/>
                  <a:pt x="100822" y="44278"/>
                  <a:pt x="100822" y="53064"/>
                </a:cubicBezTo>
                <a:cubicBezTo>
                  <a:pt x="100822" y="61850"/>
                  <a:pt x="107955" y="68983"/>
                  <a:pt x="116741" y="68983"/>
                </a:cubicBezTo>
                <a:cubicBezTo>
                  <a:pt x="125527" y="68983"/>
                  <a:pt x="132660" y="61850"/>
                  <a:pt x="132660" y="5306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6882700" y="2379449"/>
            <a:ext cx="798084" cy="237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AI效能部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82700" y="2646892"/>
            <a:ext cx="772613" cy="157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3B82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编码工具支撑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73285" y="2956786"/>
            <a:ext cx="5391309" cy="195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角色定位：</a:t>
            </a:r>
            <a:r>
              <a:rPr lang="en-US" sz="93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开发AI-Native编码工具，对B类部门推广CoStrict优秀实践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19981" y="3285784"/>
            <a:ext cx="59432" cy="118864"/>
          </a:xfrm>
          <a:custGeom>
            <a:avLst/>
            <a:gdLst/>
            <a:ahLst/>
            <a:cxnLst/>
            <a:rect l="l" t="t" r="r" b="b"/>
            <a:pathLst>
              <a:path w="59432" h="118864">
                <a:moveTo>
                  <a:pt x="57366" y="54185"/>
                </a:moveTo>
                <a:cubicBezTo>
                  <a:pt x="60268" y="57087"/>
                  <a:pt x="60268" y="61800"/>
                  <a:pt x="57366" y="64702"/>
                </a:cubicBezTo>
                <a:lnTo>
                  <a:pt x="20221" y="101847"/>
                </a:lnTo>
                <a:cubicBezTo>
                  <a:pt x="17319" y="104748"/>
                  <a:pt x="12606" y="104748"/>
                  <a:pt x="9704" y="101847"/>
                </a:cubicBezTo>
                <a:cubicBezTo>
                  <a:pt x="6802" y="98945"/>
                  <a:pt x="6802" y="94232"/>
                  <a:pt x="9704" y="91330"/>
                </a:cubicBezTo>
                <a:lnTo>
                  <a:pt x="41602" y="59432"/>
                </a:lnTo>
                <a:lnTo>
                  <a:pt x="9727" y="27534"/>
                </a:lnTo>
                <a:cubicBezTo>
                  <a:pt x="6825" y="24632"/>
                  <a:pt x="6825" y="19919"/>
                  <a:pt x="9727" y="17017"/>
                </a:cubicBezTo>
                <a:cubicBezTo>
                  <a:pt x="12629" y="14115"/>
                  <a:pt x="17342" y="14115"/>
                  <a:pt x="20244" y="17017"/>
                </a:cubicBezTo>
                <a:lnTo>
                  <a:pt x="57389" y="54162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26" name="Text 24"/>
          <p:cNvSpPr/>
          <p:nvPr/>
        </p:nvSpPr>
        <p:spPr>
          <a:xfrm>
            <a:off x="6589786" y="3251823"/>
            <a:ext cx="2470663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将研发体系AI-Native最佳实践总结到商业化中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19981" y="3506530"/>
            <a:ext cx="59432" cy="118864"/>
          </a:xfrm>
          <a:custGeom>
            <a:avLst/>
            <a:gdLst/>
            <a:ahLst/>
            <a:cxnLst/>
            <a:rect l="l" t="t" r="r" b="b"/>
            <a:pathLst>
              <a:path w="59432" h="118864">
                <a:moveTo>
                  <a:pt x="57366" y="54185"/>
                </a:moveTo>
                <a:cubicBezTo>
                  <a:pt x="60268" y="57087"/>
                  <a:pt x="60268" y="61800"/>
                  <a:pt x="57366" y="64702"/>
                </a:cubicBezTo>
                <a:lnTo>
                  <a:pt x="20221" y="101847"/>
                </a:lnTo>
                <a:cubicBezTo>
                  <a:pt x="17319" y="104748"/>
                  <a:pt x="12606" y="104748"/>
                  <a:pt x="9704" y="101847"/>
                </a:cubicBezTo>
                <a:cubicBezTo>
                  <a:pt x="6802" y="98945"/>
                  <a:pt x="6802" y="94232"/>
                  <a:pt x="9704" y="91330"/>
                </a:cubicBezTo>
                <a:lnTo>
                  <a:pt x="41602" y="59432"/>
                </a:lnTo>
                <a:lnTo>
                  <a:pt x="9727" y="27534"/>
                </a:lnTo>
                <a:cubicBezTo>
                  <a:pt x="6825" y="24632"/>
                  <a:pt x="6825" y="19919"/>
                  <a:pt x="9727" y="17017"/>
                </a:cubicBezTo>
                <a:cubicBezTo>
                  <a:pt x="12629" y="14115"/>
                  <a:pt x="17342" y="14115"/>
                  <a:pt x="20244" y="17017"/>
                </a:cubicBezTo>
                <a:lnTo>
                  <a:pt x="57389" y="54162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28" name="Text 26"/>
          <p:cNvSpPr/>
          <p:nvPr/>
        </p:nvSpPr>
        <p:spPr>
          <a:xfrm>
            <a:off x="6589786" y="3472569"/>
            <a:ext cx="1519755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统筹AI-Native测试中台建设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19981" y="3727277"/>
            <a:ext cx="59432" cy="118864"/>
          </a:xfrm>
          <a:custGeom>
            <a:avLst/>
            <a:gdLst/>
            <a:ahLst/>
            <a:cxnLst/>
            <a:rect l="l" t="t" r="r" b="b"/>
            <a:pathLst>
              <a:path w="59432" h="118864">
                <a:moveTo>
                  <a:pt x="57366" y="54185"/>
                </a:moveTo>
                <a:cubicBezTo>
                  <a:pt x="60268" y="57087"/>
                  <a:pt x="60268" y="61800"/>
                  <a:pt x="57366" y="64702"/>
                </a:cubicBezTo>
                <a:lnTo>
                  <a:pt x="20221" y="101847"/>
                </a:lnTo>
                <a:cubicBezTo>
                  <a:pt x="17319" y="104748"/>
                  <a:pt x="12606" y="104748"/>
                  <a:pt x="9704" y="101847"/>
                </a:cubicBezTo>
                <a:cubicBezTo>
                  <a:pt x="6802" y="98945"/>
                  <a:pt x="6802" y="94232"/>
                  <a:pt x="9704" y="91330"/>
                </a:cubicBezTo>
                <a:lnTo>
                  <a:pt x="41602" y="59432"/>
                </a:lnTo>
                <a:lnTo>
                  <a:pt x="9727" y="27534"/>
                </a:lnTo>
                <a:cubicBezTo>
                  <a:pt x="6825" y="24632"/>
                  <a:pt x="6825" y="19919"/>
                  <a:pt x="9727" y="17017"/>
                </a:cubicBezTo>
                <a:cubicBezTo>
                  <a:pt x="12629" y="14115"/>
                  <a:pt x="17342" y="14115"/>
                  <a:pt x="20244" y="17017"/>
                </a:cubicBezTo>
                <a:lnTo>
                  <a:pt x="57389" y="54162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30" name="Text 28"/>
          <p:cNvSpPr/>
          <p:nvPr/>
        </p:nvSpPr>
        <p:spPr>
          <a:xfrm>
            <a:off x="6589786" y="3693316"/>
            <a:ext cx="1715031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优化测试AI人才结构和工作流程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9234" y="4259939"/>
            <a:ext cx="5679978" cy="1833894"/>
          </a:xfrm>
          <a:custGeom>
            <a:avLst/>
            <a:gdLst/>
            <a:ahLst/>
            <a:cxnLst/>
            <a:rect l="l" t="t" r="r" b="b"/>
            <a:pathLst>
              <a:path w="5679978" h="1833894">
                <a:moveTo>
                  <a:pt x="101891" y="0"/>
                </a:moveTo>
                <a:lnTo>
                  <a:pt x="5578087" y="0"/>
                </a:lnTo>
                <a:cubicBezTo>
                  <a:pt x="5634359" y="0"/>
                  <a:pt x="5679978" y="45618"/>
                  <a:pt x="5679978" y="101891"/>
                </a:cubicBezTo>
                <a:lnTo>
                  <a:pt x="5679978" y="1732003"/>
                </a:lnTo>
                <a:cubicBezTo>
                  <a:pt x="5679978" y="1788276"/>
                  <a:pt x="5634359" y="1833894"/>
                  <a:pt x="5578087" y="1833894"/>
                </a:cubicBezTo>
                <a:lnTo>
                  <a:pt x="101891" y="1833894"/>
                </a:lnTo>
                <a:cubicBezTo>
                  <a:pt x="45618" y="1833894"/>
                  <a:pt x="0" y="1788276"/>
                  <a:pt x="0" y="1732003"/>
                </a:cubicBezTo>
                <a:lnTo>
                  <a:pt x="0" y="101891"/>
                </a:lnTo>
                <a:cubicBezTo>
                  <a:pt x="0" y="45618"/>
                  <a:pt x="45618" y="0"/>
                  <a:pt x="101891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73285" y="4338575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33" name="Shape 31"/>
          <p:cNvSpPr/>
          <p:nvPr/>
        </p:nvSpPr>
        <p:spPr>
          <a:xfrm>
            <a:off x="6492148" y="4457438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113623" y="3118"/>
                </a:moveTo>
                <a:cubicBezTo>
                  <a:pt x="109478" y="-1028"/>
                  <a:pt x="102745" y="-1028"/>
                  <a:pt x="98600" y="3118"/>
                </a:cubicBezTo>
                <a:cubicBezTo>
                  <a:pt x="94454" y="7263"/>
                  <a:pt x="94454" y="13996"/>
                  <a:pt x="98600" y="18141"/>
                </a:cubicBezTo>
                <a:lnTo>
                  <a:pt x="101717" y="21226"/>
                </a:lnTo>
                <a:lnTo>
                  <a:pt x="9319" y="113623"/>
                </a:lnTo>
                <a:cubicBezTo>
                  <a:pt x="3350" y="119593"/>
                  <a:pt x="0" y="127685"/>
                  <a:pt x="0" y="136142"/>
                </a:cubicBezTo>
                <a:lnTo>
                  <a:pt x="0" y="137967"/>
                </a:lnTo>
                <a:cubicBezTo>
                  <a:pt x="0" y="155544"/>
                  <a:pt x="14261" y="169805"/>
                  <a:pt x="31838" y="169805"/>
                </a:cubicBezTo>
                <a:lnTo>
                  <a:pt x="33663" y="169805"/>
                </a:lnTo>
                <a:cubicBezTo>
                  <a:pt x="42120" y="169805"/>
                  <a:pt x="50212" y="166455"/>
                  <a:pt x="56182" y="160486"/>
                </a:cubicBezTo>
                <a:lnTo>
                  <a:pt x="148579" y="68088"/>
                </a:lnTo>
                <a:lnTo>
                  <a:pt x="151697" y="71205"/>
                </a:lnTo>
                <a:cubicBezTo>
                  <a:pt x="155843" y="75351"/>
                  <a:pt x="162575" y="75351"/>
                  <a:pt x="166721" y="71205"/>
                </a:cubicBezTo>
                <a:cubicBezTo>
                  <a:pt x="170866" y="67060"/>
                  <a:pt x="170866" y="60327"/>
                  <a:pt x="166721" y="56182"/>
                </a:cubicBezTo>
                <a:lnTo>
                  <a:pt x="113657" y="3118"/>
                </a:lnTo>
                <a:close/>
                <a:moveTo>
                  <a:pt x="68088" y="84903"/>
                </a:moveTo>
                <a:lnTo>
                  <a:pt x="116741" y="36249"/>
                </a:lnTo>
                <a:lnTo>
                  <a:pt x="133556" y="53064"/>
                </a:lnTo>
                <a:lnTo>
                  <a:pt x="101717" y="84903"/>
                </a:lnTo>
                <a:lnTo>
                  <a:pt x="68055" y="84903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6882700" y="4321594"/>
            <a:ext cx="1154674" cy="2377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测试中心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82700" y="4589037"/>
            <a:ext cx="1129203" cy="157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F59E0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测试提效第一责任人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73285" y="4898931"/>
            <a:ext cx="5391309" cy="1952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角色定位：</a:t>
            </a:r>
            <a:r>
              <a:rPr lang="en-US" sz="93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统一建设AI测试平台，推进测试团队转型为高效、智能、与业务深度结合的现代测试体系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19981" y="5227928"/>
            <a:ext cx="59432" cy="118864"/>
          </a:xfrm>
          <a:custGeom>
            <a:avLst/>
            <a:gdLst/>
            <a:ahLst/>
            <a:cxnLst/>
            <a:rect l="l" t="t" r="r" b="b"/>
            <a:pathLst>
              <a:path w="59432" h="118864">
                <a:moveTo>
                  <a:pt x="57366" y="54185"/>
                </a:moveTo>
                <a:cubicBezTo>
                  <a:pt x="60268" y="57087"/>
                  <a:pt x="60268" y="61800"/>
                  <a:pt x="57366" y="64702"/>
                </a:cubicBezTo>
                <a:lnTo>
                  <a:pt x="20221" y="101847"/>
                </a:lnTo>
                <a:cubicBezTo>
                  <a:pt x="17319" y="104748"/>
                  <a:pt x="12606" y="104748"/>
                  <a:pt x="9704" y="101847"/>
                </a:cubicBezTo>
                <a:cubicBezTo>
                  <a:pt x="6802" y="98945"/>
                  <a:pt x="6802" y="94232"/>
                  <a:pt x="9704" y="91330"/>
                </a:cubicBezTo>
                <a:lnTo>
                  <a:pt x="41602" y="59432"/>
                </a:lnTo>
                <a:lnTo>
                  <a:pt x="9727" y="27534"/>
                </a:lnTo>
                <a:cubicBezTo>
                  <a:pt x="6825" y="24632"/>
                  <a:pt x="6825" y="19919"/>
                  <a:pt x="9727" y="17017"/>
                </a:cubicBezTo>
                <a:cubicBezTo>
                  <a:pt x="12629" y="14115"/>
                  <a:pt x="17342" y="14115"/>
                  <a:pt x="20244" y="17017"/>
                </a:cubicBezTo>
                <a:lnTo>
                  <a:pt x="57389" y="54162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38" name="Text 36"/>
          <p:cNvSpPr/>
          <p:nvPr/>
        </p:nvSpPr>
        <p:spPr>
          <a:xfrm>
            <a:off x="6589786" y="5193967"/>
            <a:ext cx="1876345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统筹测试团队AI-Native目标与标准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19981" y="5448675"/>
            <a:ext cx="59432" cy="118864"/>
          </a:xfrm>
          <a:custGeom>
            <a:avLst/>
            <a:gdLst/>
            <a:ahLst/>
            <a:cxnLst/>
            <a:rect l="l" t="t" r="r" b="b"/>
            <a:pathLst>
              <a:path w="59432" h="118864">
                <a:moveTo>
                  <a:pt x="57366" y="54185"/>
                </a:moveTo>
                <a:cubicBezTo>
                  <a:pt x="60268" y="57087"/>
                  <a:pt x="60268" y="61800"/>
                  <a:pt x="57366" y="64702"/>
                </a:cubicBezTo>
                <a:lnTo>
                  <a:pt x="20221" y="101847"/>
                </a:lnTo>
                <a:cubicBezTo>
                  <a:pt x="17319" y="104748"/>
                  <a:pt x="12606" y="104748"/>
                  <a:pt x="9704" y="101847"/>
                </a:cubicBezTo>
                <a:cubicBezTo>
                  <a:pt x="6802" y="98945"/>
                  <a:pt x="6802" y="94232"/>
                  <a:pt x="9704" y="91330"/>
                </a:cubicBezTo>
                <a:lnTo>
                  <a:pt x="41602" y="59432"/>
                </a:lnTo>
                <a:lnTo>
                  <a:pt x="9727" y="27534"/>
                </a:lnTo>
                <a:cubicBezTo>
                  <a:pt x="6825" y="24632"/>
                  <a:pt x="6825" y="19919"/>
                  <a:pt x="9727" y="17017"/>
                </a:cubicBezTo>
                <a:cubicBezTo>
                  <a:pt x="12629" y="14115"/>
                  <a:pt x="17342" y="14115"/>
                  <a:pt x="20244" y="17017"/>
                </a:cubicBezTo>
                <a:lnTo>
                  <a:pt x="57389" y="54162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40" name="Text 38"/>
          <p:cNvSpPr/>
          <p:nvPr/>
        </p:nvSpPr>
        <p:spPr>
          <a:xfrm>
            <a:off x="6589786" y="5414714"/>
            <a:ext cx="1010340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建立度量复盘机制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9981" y="5669422"/>
            <a:ext cx="59432" cy="118864"/>
          </a:xfrm>
          <a:custGeom>
            <a:avLst/>
            <a:gdLst/>
            <a:ahLst/>
            <a:cxnLst/>
            <a:rect l="l" t="t" r="r" b="b"/>
            <a:pathLst>
              <a:path w="59432" h="118864">
                <a:moveTo>
                  <a:pt x="57366" y="54185"/>
                </a:moveTo>
                <a:cubicBezTo>
                  <a:pt x="60268" y="57087"/>
                  <a:pt x="60268" y="61800"/>
                  <a:pt x="57366" y="64702"/>
                </a:cubicBezTo>
                <a:lnTo>
                  <a:pt x="20221" y="101847"/>
                </a:lnTo>
                <a:cubicBezTo>
                  <a:pt x="17319" y="104748"/>
                  <a:pt x="12606" y="104748"/>
                  <a:pt x="9704" y="101847"/>
                </a:cubicBezTo>
                <a:cubicBezTo>
                  <a:pt x="6802" y="98945"/>
                  <a:pt x="6802" y="94232"/>
                  <a:pt x="9704" y="91330"/>
                </a:cubicBezTo>
                <a:lnTo>
                  <a:pt x="41602" y="59432"/>
                </a:lnTo>
                <a:lnTo>
                  <a:pt x="9727" y="27534"/>
                </a:lnTo>
                <a:cubicBezTo>
                  <a:pt x="6825" y="24632"/>
                  <a:pt x="6825" y="19919"/>
                  <a:pt x="9727" y="17017"/>
                </a:cubicBezTo>
                <a:cubicBezTo>
                  <a:pt x="12629" y="14115"/>
                  <a:pt x="17342" y="14115"/>
                  <a:pt x="20244" y="17017"/>
                </a:cubicBezTo>
                <a:lnTo>
                  <a:pt x="57389" y="54162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42" name="Text 40"/>
          <p:cNvSpPr/>
          <p:nvPr/>
        </p:nvSpPr>
        <p:spPr>
          <a:xfrm>
            <a:off x="6589786" y="5635461"/>
            <a:ext cx="772613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识别关键障碍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26396" y="1341460"/>
            <a:ext cx="475454" cy="475454"/>
          </a:xfrm>
          <a:custGeom>
            <a:avLst/>
            <a:gdLst/>
            <a:ahLst/>
            <a:cxnLst/>
            <a:rect l="l" t="t" r="r" b="b"/>
            <a:pathLst>
              <a:path w="475454" h="475454">
                <a:moveTo>
                  <a:pt x="101885" y="0"/>
                </a:moveTo>
                <a:lnTo>
                  <a:pt x="373569" y="0"/>
                </a:lnTo>
                <a:cubicBezTo>
                  <a:pt x="429839" y="0"/>
                  <a:pt x="475454" y="45615"/>
                  <a:pt x="475454" y="101885"/>
                </a:cubicBezTo>
                <a:lnTo>
                  <a:pt x="475454" y="373569"/>
                </a:lnTo>
                <a:cubicBezTo>
                  <a:pt x="475454" y="429839"/>
                  <a:pt x="429839" y="475454"/>
                  <a:pt x="373569" y="475454"/>
                </a:cubicBezTo>
                <a:lnTo>
                  <a:pt x="101885" y="475454"/>
                </a:lnTo>
                <a:cubicBezTo>
                  <a:pt x="45615" y="475454"/>
                  <a:pt x="0" y="429839"/>
                  <a:pt x="0" y="373569"/>
                </a:cubicBezTo>
                <a:lnTo>
                  <a:pt x="0" y="101885"/>
                </a:lnTo>
                <a:cubicBezTo>
                  <a:pt x="0" y="45653"/>
                  <a:pt x="45653" y="0"/>
                  <a:pt x="101885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56" name="Shape 54"/>
          <p:cNvSpPr/>
          <p:nvPr/>
        </p:nvSpPr>
        <p:spPr>
          <a:xfrm>
            <a:off x="674975" y="1477304"/>
            <a:ext cx="178295" cy="203766"/>
          </a:xfrm>
          <a:custGeom>
            <a:avLst/>
            <a:gdLst/>
            <a:ahLst/>
            <a:cxnLst/>
            <a:rect l="l" t="t" r="r" b="b"/>
            <a:pathLst>
              <a:path w="178295" h="203766">
                <a:moveTo>
                  <a:pt x="89148" y="98699"/>
                </a:moveTo>
                <a:cubicBezTo>
                  <a:pt x="62789" y="98699"/>
                  <a:pt x="41390" y="77300"/>
                  <a:pt x="41390" y="50942"/>
                </a:cubicBezTo>
                <a:cubicBezTo>
                  <a:pt x="41390" y="24583"/>
                  <a:pt x="62789" y="3184"/>
                  <a:pt x="89148" y="3184"/>
                </a:cubicBezTo>
                <a:cubicBezTo>
                  <a:pt x="115506" y="3184"/>
                  <a:pt x="136905" y="24583"/>
                  <a:pt x="136905" y="50942"/>
                </a:cubicBezTo>
                <a:cubicBezTo>
                  <a:pt x="136905" y="77300"/>
                  <a:pt x="115506" y="98699"/>
                  <a:pt x="89148" y="98699"/>
                </a:cubicBezTo>
                <a:close/>
                <a:moveTo>
                  <a:pt x="77009" y="120986"/>
                </a:moveTo>
                <a:lnTo>
                  <a:pt x="101286" y="120986"/>
                </a:lnTo>
                <a:cubicBezTo>
                  <a:pt x="105146" y="120986"/>
                  <a:pt x="108251" y="124090"/>
                  <a:pt x="108251" y="127951"/>
                </a:cubicBezTo>
                <a:cubicBezTo>
                  <a:pt x="108251" y="129622"/>
                  <a:pt x="107654" y="131214"/>
                  <a:pt x="106579" y="132488"/>
                </a:cubicBezTo>
                <a:lnTo>
                  <a:pt x="95675" y="145223"/>
                </a:lnTo>
                <a:lnTo>
                  <a:pt x="108012" y="191031"/>
                </a:lnTo>
                <a:lnTo>
                  <a:pt x="108251" y="191031"/>
                </a:lnTo>
                <a:lnTo>
                  <a:pt x="122021" y="135910"/>
                </a:lnTo>
                <a:cubicBezTo>
                  <a:pt x="122896" y="132448"/>
                  <a:pt x="126438" y="130339"/>
                  <a:pt x="129781" y="131612"/>
                </a:cubicBezTo>
                <a:cubicBezTo>
                  <a:pt x="154416" y="141004"/>
                  <a:pt x="171928" y="164883"/>
                  <a:pt x="171928" y="192822"/>
                </a:cubicBezTo>
                <a:cubicBezTo>
                  <a:pt x="171928" y="198831"/>
                  <a:pt x="167032" y="203726"/>
                  <a:pt x="161023" y="203726"/>
                </a:cubicBezTo>
                <a:lnTo>
                  <a:pt x="17272" y="203766"/>
                </a:lnTo>
                <a:cubicBezTo>
                  <a:pt x="11263" y="203766"/>
                  <a:pt x="6368" y="198871"/>
                  <a:pt x="6368" y="192861"/>
                </a:cubicBezTo>
                <a:cubicBezTo>
                  <a:pt x="6368" y="164923"/>
                  <a:pt x="23879" y="141044"/>
                  <a:pt x="48514" y="131652"/>
                </a:cubicBezTo>
                <a:cubicBezTo>
                  <a:pt x="51857" y="130378"/>
                  <a:pt x="55399" y="132488"/>
                  <a:pt x="56274" y="135950"/>
                </a:cubicBezTo>
                <a:lnTo>
                  <a:pt x="70045" y="191070"/>
                </a:lnTo>
                <a:lnTo>
                  <a:pt x="70283" y="191070"/>
                </a:lnTo>
                <a:lnTo>
                  <a:pt x="82621" y="145263"/>
                </a:lnTo>
                <a:lnTo>
                  <a:pt x="71716" y="132528"/>
                </a:lnTo>
                <a:cubicBezTo>
                  <a:pt x="70642" y="131254"/>
                  <a:pt x="70045" y="129662"/>
                  <a:pt x="70045" y="127991"/>
                </a:cubicBezTo>
                <a:cubicBezTo>
                  <a:pt x="70045" y="124130"/>
                  <a:pt x="73149" y="121026"/>
                  <a:pt x="77009" y="12102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1103733" y="1341460"/>
            <a:ext cx="1324479" cy="271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产线研发主管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03733" y="1625883"/>
            <a:ext cx="713181" cy="203766"/>
          </a:xfrm>
          <a:custGeom>
            <a:avLst/>
            <a:gdLst/>
            <a:ahLst/>
            <a:cxnLst/>
            <a:rect l="l" t="t" r="r" b="b"/>
            <a:pathLst>
              <a:path w="713181" h="203766">
                <a:moveTo>
                  <a:pt x="101883" y="0"/>
                </a:moveTo>
                <a:lnTo>
                  <a:pt x="611298" y="0"/>
                </a:lnTo>
                <a:cubicBezTo>
                  <a:pt x="667566" y="0"/>
                  <a:pt x="713181" y="45615"/>
                  <a:pt x="713181" y="101883"/>
                </a:cubicBezTo>
                <a:lnTo>
                  <a:pt x="713181" y="101883"/>
                </a:lnTo>
                <a:cubicBezTo>
                  <a:pt x="713181" y="158151"/>
                  <a:pt x="667566" y="203766"/>
                  <a:pt x="611298" y="203766"/>
                </a:cubicBezTo>
                <a:lnTo>
                  <a:pt x="101883" y="203766"/>
                </a:lnTo>
                <a:cubicBezTo>
                  <a:pt x="45615" y="203766"/>
                  <a:pt x="0" y="158151"/>
                  <a:pt x="0" y="101883"/>
                </a:cubicBezTo>
                <a:lnTo>
                  <a:pt x="0" y="101883"/>
                </a:lnTo>
                <a:cubicBezTo>
                  <a:pt x="0" y="45615"/>
                  <a:pt x="45615" y="0"/>
                  <a:pt x="101883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59" name="Text 57"/>
          <p:cNvSpPr/>
          <p:nvPr/>
        </p:nvSpPr>
        <p:spPr>
          <a:xfrm>
            <a:off x="1103733" y="1625883"/>
            <a:ext cx="764123" cy="203766"/>
          </a:xfrm>
          <a:prstGeom prst="rect">
            <a:avLst/>
          </a:prstGeom>
          <a:noFill/>
        </p:spPr>
        <p:txBody>
          <a:bodyPr wrap="square" lIns="101883" tIns="33961" rIns="101883" bIns="33961" rtlCol="0" anchor="ctr"/>
          <a:lstStyle/>
          <a:p>
            <a:pPr>
              <a:lnSpc>
                <a:spcPct val="110000"/>
              </a:lnSpc>
            </a:pPr>
            <a:r>
              <a:rPr lang="en-US" sz="800" b="1" dirty="0">
                <a:solidFill>
                  <a:srgbClr val="1A1D2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第一责任人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26396" y="1952758"/>
            <a:ext cx="5382819" cy="2207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角色定位：</a:t>
            </a:r>
            <a:r>
              <a:rPr lang="en-US" sz="107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本部门AI-Native转型的落地责任方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43376" y="2309348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67922" y="135844"/>
                </a:moveTo>
                <a:cubicBezTo>
                  <a:pt x="105409" y="135844"/>
                  <a:pt x="135844" y="105409"/>
                  <a:pt x="135844" y="67922"/>
                </a:cubicBezTo>
                <a:cubicBezTo>
                  <a:pt x="135844" y="30435"/>
                  <a:pt x="105409" y="0"/>
                  <a:pt x="67922" y="0"/>
                </a:cubicBezTo>
                <a:cubicBezTo>
                  <a:pt x="30435" y="0"/>
                  <a:pt x="0" y="30435"/>
                  <a:pt x="0" y="67922"/>
                </a:cubicBezTo>
                <a:cubicBezTo>
                  <a:pt x="0" y="105409"/>
                  <a:pt x="30435" y="135844"/>
                  <a:pt x="67922" y="135844"/>
                </a:cubicBezTo>
                <a:close/>
                <a:moveTo>
                  <a:pt x="90315" y="56434"/>
                </a:moveTo>
                <a:lnTo>
                  <a:pt x="69089" y="90395"/>
                </a:lnTo>
                <a:cubicBezTo>
                  <a:pt x="67975" y="92172"/>
                  <a:pt x="66065" y="93287"/>
                  <a:pt x="63969" y="93393"/>
                </a:cubicBezTo>
                <a:cubicBezTo>
                  <a:pt x="61873" y="93499"/>
                  <a:pt x="59856" y="92544"/>
                  <a:pt x="58609" y="90846"/>
                </a:cubicBezTo>
                <a:lnTo>
                  <a:pt x="45874" y="73865"/>
                </a:lnTo>
                <a:cubicBezTo>
                  <a:pt x="43751" y="71053"/>
                  <a:pt x="44335" y="67073"/>
                  <a:pt x="47147" y="64950"/>
                </a:cubicBezTo>
                <a:cubicBezTo>
                  <a:pt x="49960" y="62828"/>
                  <a:pt x="53940" y="63412"/>
                  <a:pt x="56062" y="66224"/>
                </a:cubicBezTo>
                <a:lnTo>
                  <a:pt x="63226" y="75775"/>
                </a:lnTo>
                <a:lnTo>
                  <a:pt x="79517" y="49694"/>
                </a:lnTo>
                <a:cubicBezTo>
                  <a:pt x="81374" y="46723"/>
                  <a:pt x="85300" y="45794"/>
                  <a:pt x="88299" y="47678"/>
                </a:cubicBezTo>
                <a:cubicBezTo>
                  <a:pt x="91297" y="49562"/>
                  <a:pt x="92199" y="53462"/>
                  <a:pt x="90315" y="5646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62" name="Text 60"/>
          <p:cNvSpPr/>
          <p:nvPr/>
        </p:nvSpPr>
        <p:spPr>
          <a:xfrm>
            <a:off x="764123" y="2275387"/>
            <a:ext cx="3031019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将公司年度目标转化为部门可落地的详细计划及管理措施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43376" y="2547075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67922" y="135844"/>
                </a:moveTo>
                <a:cubicBezTo>
                  <a:pt x="105409" y="135844"/>
                  <a:pt x="135844" y="105409"/>
                  <a:pt x="135844" y="67922"/>
                </a:cubicBezTo>
                <a:cubicBezTo>
                  <a:pt x="135844" y="30435"/>
                  <a:pt x="105409" y="0"/>
                  <a:pt x="67922" y="0"/>
                </a:cubicBezTo>
                <a:cubicBezTo>
                  <a:pt x="30435" y="0"/>
                  <a:pt x="0" y="30435"/>
                  <a:pt x="0" y="67922"/>
                </a:cubicBezTo>
                <a:cubicBezTo>
                  <a:pt x="0" y="105409"/>
                  <a:pt x="30435" y="135844"/>
                  <a:pt x="67922" y="135844"/>
                </a:cubicBezTo>
                <a:close/>
                <a:moveTo>
                  <a:pt x="90315" y="56434"/>
                </a:moveTo>
                <a:lnTo>
                  <a:pt x="69089" y="90395"/>
                </a:lnTo>
                <a:cubicBezTo>
                  <a:pt x="67975" y="92172"/>
                  <a:pt x="66065" y="93287"/>
                  <a:pt x="63969" y="93393"/>
                </a:cubicBezTo>
                <a:cubicBezTo>
                  <a:pt x="61873" y="93499"/>
                  <a:pt x="59856" y="92544"/>
                  <a:pt x="58609" y="90846"/>
                </a:cubicBezTo>
                <a:lnTo>
                  <a:pt x="45874" y="73865"/>
                </a:lnTo>
                <a:cubicBezTo>
                  <a:pt x="43751" y="71053"/>
                  <a:pt x="44335" y="67073"/>
                  <a:pt x="47147" y="64950"/>
                </a:cubicBezTo>
                <a:cubicBezTo>
                  <a:pt x="49960" y="62828"/>
                  <a:pt x="53940" y="63412"/>
                  <a:pt x="56062" y="66224"/>
                </a:cubicBezTo>
                <a:lnTo>
                  <a:pt x="63226" y="75775"/>
                </a:lnTo>
                <a:lnTo>
                  <a:pt x="79517" y="49694"/>
                </a:lnTo>
                <a:cubicBezTo>
                  <a:pt x="81374" y="46723"/>
                  <a:pt x="85300" y="45794"/>
                  <a:pt x="88299" y="47678"/>
                </a:cubicBezTo>
                <a:cubicBezTo>
                  <a:pt x="91297" y="49562"/>
                  <a:pt x="92199" y="53462"/>
                  <a:pt x="90315" y="5646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64" name="Text 62"/>
          <p:cNvSpPr/>
          <p:nvPr/>
        </p:nvSpPr>
        <p:spPr>
          <a:xfrm>
            <a:off x="764123" y="2513114"/>
            <a:ext cx="2198975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协调各部门协同，识别关键协同不畅问题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43376" y="2784802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67922" y="135844"/>
                </a:moveTo>
                <a:cubicBezTo>
                  <a:pt x="105409" y="135844"/>
                  <a:pt x="135844" y="105409"/>
                  <a:pt x="135844" y="67922"/>
                </a:cubicBezTo>
                <a:cubicBezTo>
                  <a:pt x="135844" y="30435"/>
                  <a:pt x="105409" y="0"/>
                  <a:pt x="67922" y="0"/>
                </a:cubicBezTo>
                <a:cubicBezTo>
                  <a:pt x="30435" y="0"/>
                  <a:pt x="0" y="30435"/>
                  <a:pt x="0" y="67922"/>
                </a:cubicBezTo>
                <a:cubicBezTo>
                  <a:pt x="0" y="105409"/>
                  <a:pt x="30435" y="135844"/>
                  <a:pt x="67922" y="135844"/>
                </a:cubicBezTo>
                <a:close/>
                <a:moveTo>
                  <a:pt x="90315" y="56434"/>
                </a:moveTo>
                <a:lnTo>
                  <a:pt x="69089" y="90395"/>
                </a:lnTo>
                <a:cubicBezTo>
                  <a:pt x="67975" y="92172"/>
                  <a:pt x="66065" y="93287"/>
                  <a:pt x="63969" y="93393"/>
                </a:cubicBezTo>
                <a:cubicBezTo>
                  <a:pt x="61873" y="93499"/>
                  <a:pt x="59856" y="92544"/>
                  <a:pt x="58609" y="90846"/>
                </a:cubicBezTo>
                <a:lnTo>
                  <a:pt x="45874" y="73865"/>
                </a:lnTo>
                <a:cubicBezTo>
                  <a:pt x="43751" y="71053"/>
                  <a:pt x="44335" y="67073"/>
                  <a:pt x="47147" y="64950"/>
                </a:cubicBezTo>
                <a:cubicBezTo>
                  <a:pt x="49960" y="62828"/>
                  <a:pt x="53940" y="63412"/>
                  <a:pt x="56062" y="66224"/>
                </a:cubicBezTo>
                <a:lnTo>
                  <a:pt x="63226" y="75775"/>
                </a:lnTo>
                <a:lnTo>
                  <a:pt x="79517" y="49694"/>
                </a:lnTo>
                <a:cubicBezTo>
                  <a:pt x="81374" y="46723"/>
                  <a:pt x="85300" y="45794"/>
                  <a:pt x="88299" y="47678"/>
                </a:cubicBezTo>
                <a:cubicBezTo>
                  <a:pt x="91297" y="49562"/>
                  <a:pt x="92199" y="53462"/>
                  <a:pt x="90315" y="5646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764123" y="2750841"/>
            <a:ext cx="3319688" cy="169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推广AI-Native优秀经验，确保知识库、SDD全流程及TDD落地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68727ce2c769a29824af52459336455cc85d58bf.jpg"/>
          <p:cNvPicPr>
            <a:picLocks noChangeAspect="1"/>
          </p:cNvPicPr>
          <p:nvPr/>
        </p:nvPicPr>
        <p:blipFill>
          <a:blip r:embed="rId1">
            <a:alphaModFix amt="30000"/>
          </a:blip>
          <a:srcRect l="2137" r="2137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930003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5" name="Text 2"/>
          <p:cNvSpPr/>
          <p:nvPr/>
        </p:nvSpPr>
        <p:spPr>
          <a:xfrm>
            <a:off x="609600" y="1768078"/>
            <a:ext cx="2857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3B82F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600" y="2149078"/>
            <a:ext cx="3086100" cy="857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考核机制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3311128"/>
            <a:ext cx="3876675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如何保障执行？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4118372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9" name="Text 6"/>
          <p:cNvSpPr/>
          <p:nvPr/>
        </p:nvSpPr>
        <p:spPr>
          <a:xfrm>
            <a:off x="1562100" y="4004072"/>
            <a:ext cx="2952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关键角色认证与团队考核双管齐下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90563" y="4580334"/>
            <a:ext cx="1504950" cy="504825"/>
          </a:xfrm>
          <a:custGeom>
            <a:avLst/>
            <a:gdLst/>
            <a:ahLst/>
            <a:cxnLst/>
            <a:rect l="l" t="t" r="r" b="b"/>
            <a:pathLst>
              <a:path w="1504950" h="504825">
                <a:moveTo>
                  <a:pt x="76198" y="0"/>
                </a:moveTo>
                <a:lnTo>
                  <a:pt x="1428752" y="0"/>
                </a:lnTo>
                <a:cubicBezTo>
                  <a:pt x="1470835" y="0"/>
                  <a:pt x="1504950" y="34115"/>
                  <a:pt x="1504950" y="76198"/>
                </a:cubicBezTo>
                <a:lnTo>
                  <a:pt x="1504950" y="428627"/>
                </a:lnTo>
                <a:cubicBezTo>
                  <a:pt x="1504950" y="470710"/>
                  <a:pt x="1470835" y="504825"/>
                  <a:pt x="1428752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5831" y="473749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8999" y="-2977"/>
                </a:moveTo>
                <a:cubicBezTo>
                  <a:pt x="86730" y="-5283"/>
                  <a:pt x="83418" y="-6214"/>
                  <a:pt x="80293" y="-5358"/>
                </a:cubicBezTo>
                <a:cubicBezTo>
                  <a:pt x="77167" y="-4502"/>
                  <a:pt x="74749" y="-2084"/>
                  <a:pt x="73968" y="1042"/>
                </a:cubicBezTo>
                <a:lnTo>
                  <a:pt x="68275" y="23440"/>
                </a:lnTo>
                <a:cubicBezTo>
                  <a:pt x="67866" y="25078"/>
                  <a:pt x="66191" y="26045"/>
                  <a:pt x="64591" y="25561"/>
                </a:cubicBezTo>
                <a:lnTo>
                  <a:pt x="42342" y="19310"/>
                </a:lnTo>
                <a:cubicBezTo>
                  <a:pt x="39216" y="18417"/>
                  <a:pt x="35868" y="19310"/>
                  <a:pt x="33598" y="21580"/>
                </a:cubicBezTo>
                <a:cubicBezTo>
                  <a:pt x="31328" y="23850"/>
                  <a:pt x="30435" y="27198"/>
                  <a:pt x="31328" y="30324"/>
                </a:cubicBezTo>
                <a:lnTo>
                  <a:pt x="37616" y="52574"/>
                </a:lnTo>
                <a:cubicBezTo>
                  <a:pt x="38063" y="54173"/>
                  <a:pt x="37095" y="55848"/>
                  <a:pt x="35496" y="56257"/>
                </a:cubicBezTo>
                <a:lnTo>
                  <a:pt x="13060" y="61950"/>
                </a:lnTo>
                <a:cubicBezTo>
                  <a:pt x="9934" y="62731"/>
                  <a:pt x="7479" y="65187"/>
                  <a:pt x="6623" y="68312"/>
                </a:cubicBezTo>
                <a:cubicBezTo>
                  <a:pt x="5767" y="71438"/>
                  <a:pt x="6697" y="74749"/>
                  <a:pt x="9004" y="77019"/>
                </a:cubicBezTo>
                <a:lnTo>
                  <a:pt x="25561" y="93129"/>
                </a:lnTo>
                <a:cubicBezTo>
                  <a:pt x="26752" y="94283"/>
                  <a:pt x="26752" y="96217"/>
                  <a:pt x="25561" y="97408"/>
                </a:cubicBezTo>
                <a:lnTo>
                  <a:pt x="9041" y="113519"/>
                </a:lnTo>
                <a:cubicBezTo>
                  <a:pt x="6734" y="115788"/>
                  <a:pt x="5804" y="119100"/>
                  <a:pt x="6660" y="122225"/>
                </a:cubicBezTo>
                <a:cubicBezTo>
                  <a:pt x="7516" y="125350"/>
                  <a:pt x="9971" y="127769"/>
                  <a:pt x="13097" y="128588"/>
                </a:cubicBezTo>
                <a:lnTo>
                  <a:pt x="35496" y="134280"/>
                </a:lnTo>
                <a:cubicBezTo>
                  <a:pt x="37133" y="134689"/>
                  <a:pt x="38100" y="136364"/>
                  <a:pt x="37616" y="137964"/>
                </a:cubicBezTo>
                <a:lnTo>
                  <a:pt x="31328" y="160176"/>
                </a:lnTo>
                <a:cubicBezTo>
                  <a:pt x="30435" y="163302"/>
                  <a:pt x="31328" y="166650"/>
                  <a:pt x="33598" y="168920"/>
                </a:cubicBezTo>
                <a:cubicBezTo>
                  <a:pt x="35868" y="171190"/>
                  <a:pt x="39216" y="172083"/>
                  <a:pt x="42342" y="171190"/>
                </a:cubicBezTo>
                <a:lnTo>
                  <a:pt x="64591" y="164902"/>
                </a:lnTo>
                <a:cubicBezTo>
                  <a:pt x="66191" y="164455"/>
                  <a:pt x="67866" y="165422"/>
                  <a:pt x="68275" y="167022"/>
                </a:cubicBezTo>
                <a:lnTo>
                  <a:pt x="73968" y="189421"/>
                </a:lnTo>
                <a:cubicBezTo>
                  <a:pt x="74749" y="192546"/>
                  <a:pt x="77205" y="195002"/>
                  <a:pt x="80330" y="195858"/>
                </a:cubicBezTo>
                <a:cubicBezTo>
                  <a:pt x="83455" y="196714"/>
                  <a:pt x="86767" y="195783"/>
                  <a:pt x="89036" y="193477"/>
                </a:cubicBezTo>
                <a:lnTo>
                  <a:pt x="105147" y="176919"/>
                </a:lnTo>
                <a:cubicBezTo>
                  <a:pt x="106300" y="175729"/>
                  <a:pt x="108235" y="175729"/>
                  <a:pt x="109426" y="176919"/>
                </a:cubicBezTo>
                <a:lnTo>
                  <a:pt x="125499" y="193477"/>
                </a:lnTo>
                <a:cubicBezTo>
                  <a:pt x="127769" y="195783"/>
                  <a:pt x="131080" y="196714"/>
                  <a:pt x="134206" y="195858"/>
                </a:cubicBezTo>
                <a:cubicBezTo>
                  <a:pt x="137331" y="195002"/>
                  <a:pt x="139750" y="192546"/>
                  <a:pt x="140568" y="189421"/>
                </a:cubicBezTo>
                <a:lnTo>
                  <a:pt x="146261" y="167060"/>
                </a:lnTo>
                <a:cubicBezTo>
                  <a:pt x="146670" y="165422"/>
                  <a:pt x="148344" y="164455"/>
                  <a:pt x="149944" y="164939"/>
                </a:cubicBezTo>
                <a:lnTo>
                  <a:pt x="172194" y="171227"/>
                </a:lnTo>
                <a:cubicBezTo>
                  <a:pt x="175320" y="172120"/>
                  <a:pt x="178668" y="171227"/>
                  <a:pt x="180938" y="168957"/>
                </a:cubicBezTo>
                <a:cubicBezTo>
                  <a:pt x="183207" y="166687"/>
                  <a:pt x="184100" y="163339"/>
                  <a:pt x="183207" y="160213"/>
                </a:cubicBezTo>
                <a:lnTo>
                  <a:pt x="176919" y="137964"/>
                </a:lnTo>
                <a:cubicBezTo>
                  <a:pt x="176473" y="136364"/>
                  <a:pt x="177440" y="134689"/>
                  <a:pt x="179040" y="134280"/>
                </a:cubicBezTo>
                <a:lnTo>
                  <a:pt x="201439" y="128588"/>
                </a:lnTo>
                <a:cubicBezTo>
                  <a:pt x="204564" y="127806"/>
                  <a:pt x="207020" y="125350"/>
                  <a:pt x="207876" y="122225"/>
                </a:cubicBezTo>
                <a:cubicBezTo>
                  <a:pt x="208731" y="119100"/>
                  <a:pt x="207801" y="115751"/>
                  <a:pt x="205494" y="113519"/>
                </a:cubicBezTo>
                <a:lnTo>
                  <a:pt x="188937" y="97408"/>
                </a:lnTo>
                <a:cubicBezTo>
                  <a:pt x="187747" y="96255"/>
                  <a:pt x="187747" y="94320"/>
                  <a:pt x="188937" y="93129"/>
                </a:cubicBezTo>
                <a:lnTo>
                  <a:pt x="205494" y="77019"/>
                </a:lnTo>
                <a:cubicBezTo>
                  <a:pt x="207801" y="74749"/>
                  <a:pt x="208731" y="71437"/>
                  <a:pt x="207876" y="68312"/>
                </a:cubicBezTo>
                <a:cubicBezTo>
                  <a:pt x="207020" y="65187"/>
                  <a:pt x="204564" y="62768"/>
                  <a:pt x="201439" y="61950"/>
                </a:cubicBezTo>
                <a:lnTo>
                  <a:pt x="179040" y="56257"/>
                </a:lnTo>
                <a:cubicBezTo>
                  <a:pt x="177403" y="55848"/>
                  <a:pt x="176436" y="54173"/>
                  <a:pt x="176919" y="52574"/>
                </a:cubicBezTo>
                <a:lnTo>
                  <a:pt x="183207" y="30324"/>
                </a:lnTo>
                <a:cubicBezTo>
                  <a:pt x="184100" y="27198"/>
                  <a:pt x="183207" y="23850"/>
                  <a:pt x="180938" y="21580"/>
                </a:cubicBezTo>
                <a:cubicBezTo>
                  <a:pt x="178668" y="19310"/>
                  <a:pt x="175320" y="18417"/>
                  <a:pt x="172194" y="19310"/>
                </a:cubicBezTo>
                <a:lnTo>
                  <a:pt x="149944" y="25598"/>
                </a:lnTo>
                <a:cubicBezTo>
                  <a:pt x="148344" y="26045"/>
                  <a:pt x="146670" y="25078"/>
                  <a:pt x="146261" y="23478"/>
                </a:cubicBezTo>
                <a:lnTo>
                  <a:pt x="140568" y="1042"/>
                </a:lnTo>
                <a:cubicBezTo>
                  <a:pt x="139787" y="-2084"/>
                  <a:pt x="137331" y="-4539"/>
                  <a:pt x="134206" y="-5395"/>
                </a:cubicBezTo>
                <a:cubicBezTo>
                  <a:pt x="131080" y="-6251"/>
                  <a:pt x="127769" y="-5321"/>
                  <a:pt x="125499" y="-3014"/>
                </a:cubicBezTo>
                <a:lnTo>
                  <a:pt x="109389" y="13581"/>
                </a:lnTo>
                <a:cubicBezTo>
                  <a:pt x="108235" y="14771"/>
                  <a:pt x="106300" y="14771"/>
                  <a:pt x="105110" y="13581"/>
                </a:cubicBezTo>
                <a:lnTo>
                  <a:pt x="88999" y="-2977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12" name="Text 9"/>
          <p:cNvSpPr/>
          <p:nvPr/>
        </p:nvSpPr>
        <p:spPr>
          <a:xfrm>
            <a:off x="1276350" y="4699397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认证体系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33638" y="4580334"/>
            <a:ext cx="1504950" cy="504825"/>
          </a:xfrm>
          <a:custGeom>
            <a:avLst/>
            <a:gdLst/>
            <a:ahLst/>
            <a:cxnLst/>
            <a:rect l="l" t="t" r="r" b="b"/>
            <a:pathLst>
              <a:path w="1504950" h="504825">
                <a:moveTo>
                  <a:pt x="76198" y="0"/>
                </a:moveTo>
                <a:lnTo>
                  <a:pt x="1428752" y="0"/>
                </a:lnTo>
                <a:cubicBezTo>
                  <a:pt x="1470835" y="0"/>
                  <a:pt x="1504950" y="34115"/>
                  <a:pt x="1504950" y="76198"/>
                </a:cubicBezTo>
                <a:lnTo>
                  <a:pt x="1504950" y="428627"/>
                </a:lnTo>
                <a:cubicBezTo>
                  <a:pt x="1504950" y="470710"/>
                  <a:pt x="1470835" y="504825"/>
                  <a:pt x="1428752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90813" y="473749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15" name="Text 12"/>
          <p:cNvSpPr/>
          <p:nvPr/>
        </p:nvSpPr>
        <p:spPr>
          <a:xfrm>
            <a:off x="3019425" y="4699397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激励驱动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8592" y="348592"/>
            <a:ext cx="52289" cy="348592"/>
          </a:xfrm>
          <a:custGeom>
            <a:avLst/>
            <a:gdLst/>
            <a:ahLst/>
            <a:cxnLst/>
            <a:rect l="l" t="t" r="r" b="b"/>
            <a:pathLst>
              <a:path w="52289" h="348592">
                <a:moveTo>
                  <a:pt x="0" y="0"/>
                </a:moveTo>
                <a:lnTo>
                  <a:pt x="52289" y="0"/>
                </a:lnTo>
                <a:lnTo>
                  <a:pt x="52289" y="348592"/>
                </a:lnTo>
                <a:lnTo>
                  <a:pt x="0" y="348592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505458" y="348592"/>
            <a:ext cx="4226676" cy="348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关键角色认证：三类核心角色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7747" y="766902"/>
            <a:ext cx="11364094" cy="2440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定期衡量关键角色AI-Native能力，确保胜任转型要求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2949" y="1189570"/>
            <a:ext cx="6780112" cy="2675442"/>
          </a:xfrm>
          <a:custGeom>
            <a:avLst/>
            <a:gdLst/>
            <a:ahLst/>
            <a:cxnLst/>
            <a:rect l="l" t="t" r="r" b="b"/>
            <a:pathLst>
              <a:path w="6780112" h="2675442">
                <a:moveTo>
                  <a:pt x="104583" y="0"/>
                </a:moveTo>
                <a:lnTo>
                  <a:pt x="6675528" y="0"/>
                </a:lnTo>
                <a:cubicBezTo>
                  <a:pt x="6733288" y="0"/>
                  <a:pt x="6780112" y="46823"/>
                  <a:pt x="6780112" y="104583"/>
                </a:cubicBezTo>
                <a:lnTo>
                  <a:pt x="6780112" y="2570859"/>
                </a:lnTo>
                <a:cubicBezTo>
                  <a:pt x="6780112" y="2628619"/>
                  <a:pt x="6733288" y="2675442"/>
                  <a:pt x="6675528" y="2675442"/>
                </a:cubicBezTo>
                <a:lnTo>
                  <a:pt x="104583" y="2675442"/>
                </a:lnTo>
                <a:cubicBezTo>
                  <a:pt x="46823" y="2675442"/>
                  <a:pt x="0" y="2628619"/>
                  <a:pt x="0" y="2570859"/>
                </a:cubicBezTo>
                <a:lnTo>
                  <a:pt x="0" y="104583"/>
                </a:lnTo>
                <a:cubicBezTo>
                  <a:pt x="0" y="46862"/>
                  <a:pt x="46862" y="0"/>
                  <a:pt x="10458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1603" y="1368223"/>
            <a:ext cx="488029" cy="488029"/>
          </a:xfrm>
          <a:custGeom>
            <a:avLst/>
            <a:gdLst/>
            <a:ahLst/>
            <a:cxnLst/>
            <a:rect l="l" t="t" r="r" b="b"/>
            <a:pathLst>
              <a:path w="488029" h="488029">
                <a:moveTo>
                  <a:pt x="104580" y="0"/>
                </a:moveTo>
                <a:lnTo>
                  <a:pt x="383449" y="0"/>
                </a:lnTo>
                <a:cubicBezTo>
                  <a:pt x="441168" y="0"/>
                  <a:pt x="488029" y="46861"/>
                  <a:pt x="488029" y="104580"/>
                </a:cubicBezTo>
                <a:lnTo>
                  <a:pt x="488029" y="383449"/>
                </a:lnTo>
                <a:cubicBezTo>
                  <a:pt x="488029" y="441168"/>
                  <a:pt x="441168" y="488029"/>
                  <a:pt x="383449" y="488029"/>
                </a:cubicBezTo>
                <a:lnTo>
                  <a:pt x="104580" y="488029"/>
                </a:lnTo>
                <a:cubicBezTo>
                  <a:pt x="46861" y="488029"/>
                  <a:pt x="0" y="441168"/>
                  <a:pt x="0" y="383449"/>
                </a:cubicBezTo>
                <a:lnTo>
                  <a:pt x="0" y="104580"/>
                </a:lnTo>
                <a:cubicBezTo>
                  <a:pt x="0" y="46861"/>
                  <a:pt x="46861" y="0"/>
                  <a:pt x="10458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7" name="Shape 5"/>
          <p:cNvSpPr/>
          <p:nvPr/>
        </p:nvSpPr>
        <p:spPr>
          <a:xfrm>
            <a:off x="684112" y="1507660"/>
            <a:ext cx="183011" cy="209155"/>
          </a:xfrm>
          <a:custGeom>
            <a:avLst/>
            <a:gdLst/>
            <a:ahLst/>
            <a:cxnLst/>
            <a:rect l="l" t="t" r="r" b="b"/>
            <a:pathLst>
              <a:path w="183011" h="209155">
                <a:moveTo>
                  <a:pt x="91505" y="101310"/>
                </a:moveTo>
                <a:cubicBezTo>
                  <a:pt x="64450" y="101310"/>
                  <a:pt x="42485" y="79344"/>
                  <a:pt x="42485" y="52289"/>
                </a:cubicBezTo>
                <a:cubicBezTo>
                  <a:pt x="42485" y="25234"/>
                  <a:pt x="64450" y="3268"/>
                  <a:pt x="91505" y="3268"/>
                </a:cubicBezTo>
                <a:cubicBezTo>
                  <a:pt x="118561" y="3268"/>
                  <a:pt x="140526" y="25234"/>
                  <a:pt x="140526" y="52289"/>
                </a:cubicBezTo>
                <a:cubicBezTo>
                  <a:pt x="140526" y="79344"/>
                  <a:pt x="118561" y="101310"/>
                  <a:pt x="91505" y="101310"/>
                </a:cubicBezTo>
                <a:close/>
                <a:moveTo>
                  <a:pt x="79046" y="124186"/>
                </a:moveTo>
                <a:lnTo>
                  <a:pt x="103965" y="124186"/>
                </a:lnTo>
                <a:cubicBezTo>
                  <a:pt x="107927" y="124186"/>
                  <a:pt x="111114" y="127372"/>
                  <a:pt x="111114" y="131335"/>
                </a:cubicBezTo>
                <a:cubicBezTo>
                  <a:pt x="111114" y="133050"/>
                  <a:pt x="110501" y="134684"/>
                  <a:pt x="109398" y="135992"/>
                </a:cubicBezTo>
                <a:lnTo>
                  <a:pt x="98205" y="149064"/>
                </a:lnTo>
                <a:lnTo>
                  <a:pt x="110869" y="196083"/>
                </a:lnTo>
                <a:lnTo>
                  <a:pt x="111114" y="196083"/>
                </a:lnTo>
                <a:lnTo>
                  <a:pt x="125248" y="139505"/>
                </a:lnTo>
                <a:cubicBezTo>
                  <a:pt x="126147" y="135951"/>
                  <a:pt x="129782" y="133786"/>
                  <a:pt x="133214" y="135093"/>
                </a:cubicBezTo>
                <a:cubicBezTo>
                  <a:pt x="158500" y="144734"/>
                  <a:pt x="176475" y="169244"/>
                  <a:pt x="176475" y="197921"/>
                </a:cubicBezTo>
                <a:cubicBezTo>
                  <a:pt x="176475" y="204090"/>
                  <a:pt x="171450" y="209114"/>
                  <a:pt x="165282" y="209114"/>
                </a:cubicBezTo>
                <a:lnTo>
                  <a:pt x="17729" y="209155"/>
                </a:lnTo>
                <a:cubicBezTo>
                  <a:pt x="11561" y="209155"/>
                  <a:pt x="6536" y="204130"/>
                  <a:pt x="6536" y="197962"/>
                </a:cubicBezTo>
                <a:cubicBezTo>
                  <a:pt x="6536" y="169285"/>
                  <a:pt x="24510" y="144775"/>
                  <a:pt x="49797" y="135134"/>
                </a:cubicBezTo>
                <a:cubicBezTo>
                  <a:pt x="53228" y="133827"/>
                  <a:pt x="56864" y="135992"/>
                  <a:pt x="57763" y="139546"/>
                </a:cubicBezTo>
                <a:lnTo>
                  <a:pt x="71897" y="196124"/>
                </a:lnTo>
                <a:lnTo>
                  <a:pt x="72142" y="196124"/>
                </a:lnTo>
                <a:lnTo>
                  <a:pt x="84806" y="149105"/>
                </a:lnTo>
                <a:lnTo>
                  <a:pt x="73613" y="136033"/>
                </a:lnTo>
                <a:cubicBezTo>
                  <a:pt x="72510" y="134725"/>
                  <a:pt x="71897" y="133091"/>
                  <a:pt x="71897" y="131376"/>
                </a:cubicBezTo>
                <a:cubicBezTo>
                  <a:pt x="71897" y="127413"/>
                  <a:pt x="75083" y="124227"/>
                  <a:pt x="79046" y="12422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159068" y="1472801"/>
            <a:ext cx="941198" cy="2788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研发主管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38201" y="1485873"/>
            <a:ext cx="1315934" cy="252729"/>
          </a:xfrm>
          <a:custGeom>
            <a:avLst/>
            <a:gdLst/>
            <a:ahLst/>
            <a:cxnLst/>
            <a:rect l="l" t="t" r="r" b="b"/>
            <a:pathLst>
              <a:path w="1315934" h="252729">
                <a:moveTo>
                  <a:pt x="69718" y="0"/>
                </a:moveTo>
                <a:lnTo>
                  <a:pt x="1246216" y="0"/>
                </a:lnTo>
                <a:cubicBezTo>
                  <a:pt x="1284695" y="0"/>
                  <a:pt x="1315934" y="31240"/>
                  <a:pt x="1315934" y="69718"/>
                </a:cubicBezTo>
                <a:lnTo>
                  <a:pt x="1315934" y="183011"/>
                </a:lnTo>
                <a:cubicBezTo>
                  <a:pt x="1315934" y="221490"/>
                  <a:pt x="1284695" y="252729"/>
                  <a:pt x="1246216" y="252729"/>
                </a:cubicBezTo>
                <a:lnTo>
                  <a:pt x="69718" y="252729"/>
                </a:lnTo>
                <a:cubicBezTo>
                  <a:pt x="31240" y="252729"/>
                  <a:pt x="0" y="221490"/>
                  <a:pt x="0" y="183011"/>
                </a:cubicBezTo>
                <a:lnTo>
                  <a:pt x="0" y="69718"/>
                </a:lnTo>
                <a:cubicBezTo>
                  <a:pt x="0" y="31214"/>
                  <a:pt x="31214" y="0"/>
                  <a:pt x="6971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33843" y="1481515"/>
            <a:ext cx="1368223" cy="244014"/>
          </a:xfrm>
          <a:prstGeom prst="rect">
            <a:avLst/>
          </a:prstGeom>
          <a:noFill/>
        </p:spPr>
        <p:txBody>
          <a:bodyPr wrap="square" lIns="104578" tIns="34859" rIns="104578" bIns="34859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3B82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团队转型第一责任人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9032" y="1995688"/>
            <a:ext cx="3128612" cy="1185212"/>
          </a:xfrm>
          <a:custGeom>
            <a:avLst/>
            <a:gdLst/>
            <a:ahLst/>
            <a:cxnLst/>
            <a:rect l="l" t="t" r="r" b="b"/>
            <a:pathLst>
              <a:path w="3128612" h="1185212">
                <a:moveTo>
                  <a:pt x="34859" y="0"/>
                </a:moveTo>
                <a:lnTo>
                  <a:pt x="3058898" y="0"/>
                </a:lnTo>
                <a:cubicBezTo>
                  <a:pt x="3097400" y="0"/>
                  <a:pt x="3128612" y="31212"/>
                  <a:pt x="3128612" y="69714"/>
                </a:cubicBezTo>
                <a:lnTo>
                  <a:pt x="3128612" y="1115498"/>
                </a:lnTo>
                <a:cubicBezTo>
                  <a:pt x="3128612" y="1154000"/>
                  <a:pt x="3097400" y="1185212"/>
                  <a:pt x="3058898" y="1185212"/>
                </a:cubicBezTo>
                <a:lnTo>
                  <a:pt x="34859" y="1185212"/>
                </a:lnTo>
                <a:cubicBezTo>
                  <a:pt x="15607" y="1185212"/>
                  <a:pt x="0" y="1169605"/>
                  <a:pt x="0" y="1150353"/>
                </a:cubicBezTo>
                <a:lnTo>
                  <a:pt x="0" y="34859"/>
                </a:lnTo>
                <a:cubicBezTo>
                  <a:pt x="0" y="15607"/>
                  <a:pt x="15607" y="0"/>
                  <a:pt x="348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549032" y="1995688"/>
            <a:ext cx="34859" cy="1185212"/>
          </a:xfrm>
          <a:custGeom>
            <a:avLst/>
            <a:gdLst/>
            <a:ahLst/>
            <a:cxnLst/>
            <a:rect l="l" t="t" r="r" b="b"/>
            <a:pathLst>
              <a:path w="34859" h="1185212">
                <a:moveTo>
                  <a:pt x="34859" y="0"/>
                </a:moveTo>
                <a:lnTo>
                  <a:pt x="34859" y="0"/>
                </a:lnTo>
                <a:lnTo>
                  <a:pt x="34859" y="1185212"/>
                </a:lnTo>
                <a:lnTo>
                  <a:pt x="34859" y="1185212"/>
                </a:lnTo>
                <a:cubicBezTo>
                  <a:pt x="15607" y="1185212"/>
                  <a:pt x="0" y="1169605"/>
                  <a:pt x="0" y="1150353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3" name="Shape 11"/>
          <p:cNvSpPr/>
          <p:nvPr/>
        </p:nvSpPr>
        <p:spPr>
          <a:xfrm>
            <a:off x="714613" y="2161269"/>
            <a:ext cx="156866" cy="139437"/>
          </a:xfrm>
          <a:custGeom>
            <a:avLst/>
            <a:gdLst/>
            <a:ahLst/>
            <a:cxnLst/>
            <a:rect l="l" t="t" r="r" b="b"/>
            <a:pathLst>
              <a:path w="156866" h="139437">
                <a:moveTo>
                  <a:pt x="84288" y="-5147"/>
                </a:moveTo>
                <a:cubicBezTo>
                  <a:pt x="83172" y="-7326"/>
                  <a:pt x="80911" y="-8715"/>
                  <a:pt x="78460" y="-8715"/>
                </a:cubicBezTo>
                <a:cubicBezTo>
                  <a:pt x="76009" y="-8715"/>
                  <a:pt x="73749" y="-7326"/>
                  <a:pt x="72632" y="-5147"/>
                </a:cubicBezTo>
                <a:lnTo>
                  <a:pt x="52588" y="34124"/>
                </a:lnTo>
                <a:lnTo>
                  <a:pt x="9042" y="41041"/>
                </a:lnTo>
                <a:cubicBezTo>
                  <a:pt x="6618" y="41423"/>
                  <a:pt x="4603" y="43138"/>
                  <a:pt x="3840" y="45480"/>
                </a:cubicBezTo>
                <a:cubicBezTo>
                  <a:pt x="3077" y="47822"/>
                  <a:pt x="3704" y="50382"/>
                  <a:pt x="5420" y="52125"/>
                </a:cubicBezTo>
                <a:lnTo>
                  <a:pt x="36575" y="83308"/>
                </a:lnTo>
                <a:lnTo>
                  <a:pt x="29712" y="126855"/>
                </a:lnTo>
                <a:cubicBezTo>
                  <a:pt x="29331" y="129279"/>
                  <a:pt x="30338" y="131730"/>
                  <a:pt x="32326" y="133173"/>
                </a:cubicBezTo>
                <a:cubicBezTo>
                  <a:pt x="34315" y="134616"/>
                  <a:pt x="36929" y="134834"/>
                  <a:pt x="39135" y="133718"/>
                </a:cubicBezTo>
                <a:lnTo>
                  <a:pt x="78460" y="113728"/>
                </a:lnTo>
                <a:lnTo>
                  <a:pt x="117759" y="133718"/>
                </a:lnTo>
                <a:cubicBezTo>
                  <a:pt x="119937" y="134834"/>
                  <a:pt x="122579" y="134616"/>
                  <a:pt x="124567" y="133173"/>
                </a:cubicBezTo>
                <a:cubicBezTo>
                  <a:pt x="126555" y="131730"/>
                  <a:pt x="127563" y="129306"/>
                  <a:pt x="127182" y="126855"/>
                </a:cubicBezTo>
                <a:lnTo>
                  <a:pt x="120291" y="83308"/>
                </a:lnTo>
                <a:lnTo>
                  <a:pt x="151447" y="52125"/>
                </a:lnTo>
                <a:cubicBezTo>
                  <a:pt x="153190" y="50382"/>
                  <a:pt x="153789" y="47822"/>
                  <a:pt x="153026" y="45480"/>
                </a:cubicBezTo>
                <a:cubicBezTo>
                  <a:pt x="152264" y="43138"/>
                  <a:pt x="150276" y="41423"/>
                  <a:pt x="147825" y="41041"/>
                </a:cubicBezTo>
                <a:lnTo>
                  <a:pt x="104305" y="34124"/>
                </a:lnTo>
                <a:lnTo>
                  <a:pt x="84288" y="-5147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14" name="Text 12"/>
          <p:cNvSpPr/>
          <p:nvPr/>
        </p:nvSpPr>
        <p:spPr>
          <a:xfrm>
            <a:off x="928035" y="2135125"/>
            <a:ext cx="2679890" cy="209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能力要求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5898" y="2413999"/>
            <a:ext cx="2893312" cy="5926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自身需具备足够的AI-Native能力，才能精准识别团队在转型过程中的关键挑战、向体系平台寻求合适的支撑、并带领团队共同突破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32195" y="1995688"/>
            <a:ext cx="3128612" cy="1185212"/>
          </a:xfrm>
          <a:custGeom>
            <a:avLst/>
            <a:gdLst/>
            <a:ahLst/>
            <a:cxnLst/>
            <a:rect l="l" t="t" r="r" b="b"/>
            <a:pathLst>
              <a:path w="3128612" h="1185212">
                <a:moveTo>
                  <a:pt x="34859" y="0"/>
                </a:moveTo>
                <a:lnTo>
                  <a:pt x="3058898" y="0"/>
                </a:lnTo>
                <a:cubicBezTo>
                  <a:pt x="3097400" y="0"/>
                  <a:pt x="3128612" y="31212"/>
                  <a:pt x="3128612" y="69714"/>
                </a:cubicBezTo>
                <a:lnTo>
                  <a:pt x="3128612" y="1115498"/>
                </a:lnTo>
                <a:cubicBezTo>
                  <a:pt x="3128612" y="1154000"/>
                  <a:pt x="3097400" y="1185212"/>
                  <a:pt x="3058898" y="1185212"/>
                </a:cubicBezTo>
                <a:lnTo>
                  <a:pt x="34859" y="1185212"/>
                </a:lnTo>
                <a:cubicBezTo>
                  <a:pt x="15607" y="1185212"/>
                  <a:pt x="0" y="1169605"/>
                  <a:pt x="0" y="1150353"/>
                </a:cubicBezTo>
                <a:lnTo>
                  <a:pt x="0" y="34859"/>
                </a:lnTo>
                <a:cubicBezTo>
                  <a:pt x="0" y="15607"/>
                  <a:pt x="15607" y="0"/>
                  <a:pt x="348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3832195" y="1995688"/>
            <a:ext cx="34859" cy="1185212"/>
          </a:xfrm>
          <a:custGeom>
            <a:avLst/>
            <a:gdLst/>
            <a:ahLst/>
            <a:cxnLst/>
            <a:rect l="l" t="t" r="r" b="b"/>
            <a:pathLst>
              <a:path w="34859" h="1185212">
                <a:moveTo>
                  <a:pt x="34859" y="0"/>
                </a:moveTo>
                <a:lnTo>
                  <a:pt x="34859" y="0"/>
                </a:lnTo>
                <a:lnTo>
                  <a:pt x="34859" y="1185212"/>
                </a:lnTo>
                <a:lnTo>
                  <a:pt x="34859" y="1185212"/>
                </a:lnTo>
                <a:cubicBezTo>
                  <a:pt x="15607" y="1185212"/>
                  <a:pt x="0" y="1169605"/>
                  <a:pt x="0" y="1150353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18" name="Shape 16"/>
          <p:cNvSpPr/>
          <p:nvPr/>
        </p:nvSpPr>
        <p:spPr>
          <a:xfrm>
            <a:off x="4023921" y="2161269"/>
            <a:ext cx="104578" cy="139437"/>
          </a:xfrm>
          <a:custGeom>
            <a:avLst/>
            <a:gdLst/>
            <a:ahLst/>
            <a:cxnLst/>
            <a:rect l="l" t="t" r="r" b="b"/>
            <a:pathLst>
              <a:path w="104578" h="139437">
                <a:moveTo>
                  <a:pt x="84806" y="8715"/>
                </a:moveTo>
                <a:lnTo>
                  <a:pt x="87148" y="8715"/>
                </a:lnTo>
                <a:cubicBezTo>
                  <a:pt x="96761" y="8715"/>
                  <a:pt x="104578" y="16531"/>
                  <a:pt x="104578" y="26144"/>
                </a:cubicBezTo>
                <a:lnTo>
                  <a:pt x="104578" y="122007"/>
                </a:lnTo>
                <a:cubicBezTo>
                  <a:pt x="104578" y="131621"/>
                  <a:pt x="96761" y="139437"/>
                  <a:pt x="87148" y="139437"/>
                </a:cubicBezTo>
                <a:lnTo>
                  <a:pt x="17430" y="139437"/>
                </a:lnTo>
                <a:cubicBezTo>
                  <a:pt x="7816" y="139437"/>
                  <a:pt x="0" y="131621"/>
                  <a:pt x="0" y="122007"/>
                </a:cubicBezTo>
                <a:lnTo>
                  <a:pt x="0" y="26144"/>
                </a:lnTo>
                <a:cubicBezTo>
                  <a:pt x="0" y="16531"/>
                  <a:pt x="7816" y="8715"/>
                  <a:pt x="17430" y="8715"/>
                </a:cubicBezTo>
                <a:lnTo>
                  <a:pt x="19772" y="8715"/>
                </a:lnTo>
                <a:cubicBezTo>
                  <a:pt x="22767" y="3513"/>
                  <a:pt x="28405" y="0"/>
                  <a:pt x="34859" y="0"/>
                </a:cubicBezTo>
                <a:lnTo>
                  <a:pt x="69718" y="0"/>
                </a:lnTo>
                <a:cubicBezTo>
                  <a:pt x="76173" y="0"/>
                  <a:pt x="81810" y="3513"/>
                  <a:pt x="84806" y="8715"/>
                </a:cubicBezTo>
                <a:close/>
                <a:moveTo>
                  <a:pt x="67540" y="30502"/>
                </a:moveTo>
                <a:cubicBezTo>
                  <a:pt x="71162" y="30502"/>
                  <a:pt x="74076" y="27588"/>
                  <a:pt x="74076" y="23966"/>
                </a:cubicBezTo>
                <a:cubicBezTo>
                  <a:pt x="74076" y="20344"/>
                  <a:pt x="71162" y="17430"/>
                  <a:pt x="67540" y="17430"/>
                </a:cubicBezTo>
                <a:lnTo>
                  <a:pt x="37038" y="17430"/>
                </a:lnTo>
                <a:cubicBezTo>
                  <a:pt x="33416" y="17430"/>
                  <a:pt x="30502" y="20344"/>
                  <a:pt x="30502" y="23966"/>
                </a:cubicBezTo>
                <a:cubicBezTo>
                  <a:pt x="30502" y="27588"/>
                  <a:pt x="33416" y="30502"/>
                  <a:pt x="37038" y="30502"/>
                </a:cubicBezTo>
                <a:lnTo>
                  <a:pt x="67540" y="30502"/>
                </a:lnTo>
                <a:close/>
                <a:moveTo>
                  <a:pt x="75274" y="70998"/>
                </a:moveTo>
                <a:cubicBezTo>
                  <a:pt x="77180" y="67948"/>
                  <a:pt x="76254" y="63918"/>
                  <a:pt x="73204" y="61984"/>
                </a:cubicBezTo>
                <a:cubicBezTo>
                  <a:pt x="70154" y="60050"/>
                  <a:pt x="66124" y="61004"/>
                  <a:pt x="64190" y="64054"/>
                </a:cubicBezTo>
                <a:lnTo>
                  <a:pt x="47468" y="90825"/>
                </a:lnTo>
                <a:lnTo>
                  <a:pt x="40115" y="81020"/>
                </a:lnTo>
                <a:cubicBezTo>
                  <a:pt x="37937" y="78134"/>
                  <a:pt x="33852" y="77534"/>
                  <a:pt x="30965" y="79713"/>
                </a:cubicBezTo>
                <a:cubicBezTo>
                  <a:pt x="28078" y="81892"/>
                  <a:pt x="27479" y="85977"/>
                  <a:pt x="29658" y="88864"/>
                </a:cubicBezTo>
                <a:lnTo>
                  <a:pt x="42730" y="106293"/>
                </a:lnTo>
                <a:cubicBezTo>
                  <a:pt x="44010" y="108009"/>
                  <a:pt x="46079" y="108989"/>
                  <a:pt x="48231" y="108908"/>
                </a:cubicBezTo>
                <a:cubicBezTo>
                  <a:pt x="50382" y="108826"/>
                  <a:pt x="52343" y="107682"/>
                  <a:pt x="53487" y="105830"/>
                </a:cubicBezTo>
                <a:lnTo>
                  <a:pt x="75274" y="70971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19" name="Text 17"/>
          <p:cNvSpPr/>
          <p:nvPr/>
        </p:nvSpPr>
        <p:spPr>
          <a:xfrm>
            <a:off x="4211199" y="2135125"/>
            <a:ext cx="2679890" cy="209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认证机制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14117" y="2448858"/>
            <a:ext cx="106756" cy="122007"/>
          </a:xfrm>
          <a:custGeom>
            <a:avLst/>
            <a:gdLst/>
            <a:ahLst/>
            <a:cxnLst/>
            <a:rect l="l" t="t" r="r" b="b"/>
            <a:pathLst>
              <a:path w="106756" h="122007">
                <a:moveTo>
                  <a:pt x="103611" y="16704"/>
                </a:moveTo>
                <a:cubicBezTo>
                  <a:pt x="107018" y="19183"/>
                  <a:pt x="107781" y="23949"/>
                  <a:pt x="105303" y="27356"/>
                </a:cubicBezTo>
                <a:lnTo>
                  <a:pt x="44299" y="111236"/>
                </a:lnTo>
                <a:cubicBezTo>
                  <a:pt x="42988" y="113047"/>
                  <a:pt x="40963" y="114167"/>
                  <a:pt x="38723" y="114358"/>
                </a:cubicBezTo>
                <a:cubicBezTo>
                  <a:pt x="36483" y="114549"/>
                  <a:pt x="34315" y="113714"/>
                  <a:pt x="32742" y="112142"/>
                </a:cubicBezTo>
                <a:lnTo>
                  <a:pt x="2240" y="81640"/>
                </a:lnTo>
                <a:cubicBezTo>
                  <a:pt x="-739" y="78661"/>
                  <a:pt x="-739" y="73824"/>
                  <a:pt x="2240" y="70845"/>
                </a:cubicBezTo>
                <a:cubicBezTo>
                  <a:pt x="5219" y="67866"/>
                  <a:pt x="10056" y="67866"/>
                  <a:pt x="13035" y="70845"/>
                </a:cubicBezTo>
                <a:lnTo>
                  <a:pt x="37222" y="95032"/>
                </a:lnTo>
                <a:lnTo>
                  <a:pt x="92983" y="18373"/>
                </a:lnTo>
                <a:cubicBezTo>
                  <a:pt x="95461" y="14965"/>
                  <a:pt x="100227" y="14202"/>
                  <a:pt x="103635" y="16681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4211289" y="2413999"/>
            <a:ext cx="1037061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每年两次实战集训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14117" y="2675442"/>
            <a:ext cx="106756" cy="122007"/>
          </a:xfrm>
          <a:custGeom>
            <a:avLst/>
            <a:gdLst/>
            <a:ahLst/>
            <a:cxnLst/>
            <a:rect l="l" t="t" r="r" b="b"/>
            <a:pathLst>
              <a:path w="106756" h="122007">
                <a:moveTo>
                  <a:pt x="103611" y="16704"/>
                </a:moveTo>
                <a:cubicBezTo>
                  <a:pt x="107018" y="19183"/>
                  <a:pt x="107781" y="23949"/>
                  <a:pt x="105303" y="27356"/>
                </a:cubicBezTo>
                <a:lnTo>
                  <a:pt x="44299" y="111236"/>
                </a:lnTo>
                <a:cubicBezTo>
                  <a:pt x="42988" y="113047"/>
                  <a:pt x="40963" y="114167"/>
                  <a:pt x="38723" y="114358"/>
                </a:cubicBezTo>
                <a:cubicBezTo>
                  <a:pt x="36483" y="114549"/>
                  <a:pt x="34315" y="113714"/>
                  <a:pt x="32742" y="112142"/>
                </a:cubicBezTo>
                <a:lnTo>
                  <a:pt x="2240" y="81640"/>
                </a:lnTo>
                <a:cubicBezTo>
                  <a:pt x="-739" y="78661"/>
                  <a:pt x="-739" y="73824"/>
                  <a:pt x="2240" y="70845"/>
                </a:cubicBezTo>
                <a:cubicBezTo>
                  <a:pt x="5219" y="67866"/>
                  <a:pt x="10056" y="67866"/>
                  <a:pt x="13035" y="70845"/>
                </a:cubicBezTo>
                <a:lnTo>
                  <a:pt x="37222" y="95032"/>
                </a:lnTo>
                <a:lnTo>
                  <a:pt x="92983" y="18373"/>
                </a:lnTo>
                <a:cubicBezTo>
                  <a:pt x="95461" y="14965"/>
                  <a:pt x="100227" y="14202"/>
                  <a:pt x="103635" y="16681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4211289" y="2640583"/>
            <a:ext cx="1647096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产研变革组组织专家团队面试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14117" y="2902027"/>
            <a:ext cx="106756" cy="122007"/>
          </a:xfrm>
          <a:custGeom>
            <a:avLst/>
            <a:gdLst/>
            <a:ahLst/>
            <a:cxnLst/>
            <a:rect l="l" t="t" r="r" b="b"/>
            <a:pathLst>
              <a:path w="106756" h="122007">
                <a:moveTo>
                  <a:pt x="103611" y="16704"/>
                </a:moveTo>
                <a:cubicBezTo>
                  <a:pt x="107018" y="19183"/>
                  <a:pt x="107781" y="23949"/>
                  <a:pt x="105303" y="27356"/>
                </a:cubicBezTo>
                <a:lnTo>
                  <a:pt x="44299" y="111236"/>
                </a:lnTo>
                <a:cubicBezTo>
                  <a:pt x="42988" y="113047"/>
                  <a:pt x="40963" y="114167"/>
                  <a:pt x="38723" y="114358"/>
                </a:cubicBezTo>
                <a:cubicBezTo>
                  <a:pt x="36483" y="114549"/>
                  <a:pt x="34315" y="113714"/>
                  <a:pt x="32742" y="112142"/>
                </a:cubicBezTo>
                <a:lnTo>
                  <a:pt x="2240" y="81640"/>
                </a:lnTo>
                <a:cubicBezTo>
                  <a:pt x="-739" y="78661"/>
                  <a:pt x="-739" y="73824"/>
                  <a:pt x="2240" y="70845"/>
                </a:cubicBezTo>
                <a:cubicBezTo>
                  <a:pt x="5219" y="67866"/>
                  <a:pt x="10056" y="67866"/>
                  <a:pt x="13035" y="70845"/>
                </a:cubicBezTo>
                <a:lnTo>
                  <a:pt x="37222" y="95032"/>
                </a:lnTo>
                <a:lnTo>
                  <a:pt x="92983" y="18373"/>
                </a:lnTo>
                <a:cubicBezTo>
                  <a:pt x="95461" y="14965"/>
                  <a:pt x="100227" y="14202"/>
                  <a:pt x="103635" y="16681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25" name="Text 23"/>
          <p:cNvSpPr/>
          <p:nvPr/>
        </p:nvSpPr>
        <p:spPr>
          <a:xfrm>
            <a:off x="4211289" y="2867168"/>
            <a:ext cx="1803963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清楚知道当前AI-Native能力边界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5960" y="3289836"/>
            <a:ext cx="6414090" cy="392166"/>
          </a:xfrm>
          <a:custGeom>
            <a:avLst/>
            <a:gdLst/>
            <a:ahLst/>
            <a:cxnLst/>
            <a:rect l="l" t="t" r="r" b="b"/>
            <a:pathLst>
              <a:path w="6414090" h="392166">
                <a:moveTo>
                  <a:pt x="69719" y="0"/>
                </a:moveTo>
                <a:lnTo>
                  <a:pt x="6344371" y="0"/>
                </a:lnTo>
                <a:cubicBezTo>
                  <a:pt x="6382876" y="0"/>
                  <a:pt x="6414090" y="31214"/>
                  <a:pt x="6414090" y="69719"/>
                </a:cubicBezTo>
                <a:lnTo>
                  <a:pt x="6414090" y="322447"/>
                </a:lnTo>
                <a:cubicBezTo>
                  <a:pt x="6414090" y="360951"/>
                  <a:pt x="6382876" y="392166"/>
                  <a:pt x="6344371" y="392166"/>
                </a:cubicBezTo>
                <a:lnTo>
                  <a:pt x="69719" y="392166"/>
                </a:lnTo>
                <a:cubicBezTo>
                  <a:pt x="31214" y="392166"/>
                  <a:pt x="0" y="360951"/>
                  <a:pt x="0" y="322447"/>
                </a:cubicBezTo>
                <a:lnTo>
                  <a:pt x="0" y="69719"/>
                </a:lnTo>
                <a:cubicBezTo>
                  <a:pt x="0" y="31240"/>
                  <a:pt x="31240" y="0"/>
                  <a:pt x="69719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325" y="3416200"/>
            <a:ext cx="122007" cy="122007"/>
          </a:xfrm>
          <a:custGeom>
            <a:avLst/>
            <a:gdLst/>
            <a:ahLst/>
            <a:cxnLst/>
            <a:rect l="l" t="t" r="r" b="b"/>
            <a:pathLst>
              <a:path w="122007" h="122007">
                <a:moveTo>
                  <a:pt x="61004" y="0"/>
                </a:moveTo>
                <a:cubicBezTo>
                  <a:pt x="64507" y="0"/>
                  <a:pt x="67723" y="1930"/>
                  <a:pt x="69392" y="5004"/>
                </a:cubicBezTo>
                <a:lnTo>
                  <a:pt x="120863" y="100322"/>
                </a:lnTo>
                <a:cubicBezTo>
                  <a:pt x="122460" y="103277"/>
                  <a:pt x="122388" y="106852"/>
                  <a:pt x="120673" y="109735"/>
                </a:cubicBezTo>
                <a:cubicBezTo>
                  <a:pt x="118957" y="112618"/>
                  <a:pt x="115835" y="114382"/>
                  <a:pt x="112475" y="114382"/>
                </a:cubicBezTo>
                <a:lnTo>
                  <a:pt x="9532" y="114382"/>
                </a:lnTo>
                <a:cubicBezTo>
                  <a:pt x="6172" y="114382"/>
                  <a:pt x="3074" y="112618"/>
                  <a:pt x="1334" y="109735"/>
                </a:cubicBezTo>
                <a:cubicBezTo>
                  <a:pt x="-405" y="106852"/>
                  <a:pt x="-453" y="103277"/>
                  <a:pt x="1144" y="100322"/>
                </a:cubicBezTo>
                <a:lnTo>
                  <a:pt x="52616" y="5004"/>
                </a:lnTo>
                <a:cubicBezTo>
                  <a:pt x="54284" y="1930"/>
                  <a:pt x="57501" y="0"/>
                  <a:pt x="61004" y="0"/>
                </a:cubicBezTo>
                <a:close/>
                <a:moveTo>
                  <a:pt x="61004" y="40034"/>
                </a:moveTo>
                <a:cubicBezTo>
                  <a:pt x="57834" y="40034"/>
                  <a:pt x="55284" y="42583"/>
                  <a:pt x="55284" y="45753"/>
                </a:cubicBezTo>
                <a:lnTo>
                  <a:pt x="55284" y="72442"/>
                </a:lnTo>
                <a:cubicBezTo>
                  <a:pt x="55284" y="75611"/>
                  <a:pt x="57834" y="78161"/>
                  <a:pt x="61004" y="78161"/>
                </a:cubicBezTo>
                <a:cubicBezTo>
                  <a:pt x="64173" y="78161"/>
                  <a:pt x="66723" y="75611"/>
                  <a:pt x="66723" y="72442"/>
                </a:cubicBezTo>
                <a:lnTo>
                  <a:pt x="66723" y="45753"/>
                </a:lnTo>
                <a:cubicBezTo>
                  <a:pt x="66723" y="42583"/>
                  <a:pt x="64173" y="40034"/>
                  <a:pt x="61004" y="40034"/>
                </a:cubicBezTo>
                <a:close/>
                <a:moveTo>
                  <a:pt x="67366" y="91505"/>
                </a:moveTo>
                <a:cubicBezTo>
                  <a:pt x="67511" y="89144"/>
                  <a:pt x="66333" y="86897"/>
                  <a:pt x="64308" y="85672"/>
                </a:cubicBezTo>
                <a:cubicBezTo>
                  <a:pt x="62284" y="84448"/>
                  <a:pt x="59747" y="84448"/>
                  <a:pt x="57722" y="85672"/>
                </a:cubicBezTo>
                <a:cubicBezTo>
                  <a:pt x="55698" y="86897"/>
                  <a:pt x="54520" y="89144"/>
                  <a:pt x="54665" y="91505"/>
                </a:cubicBezTo>
                <a:cubicBezTo>
                  <a:pt x="54520" y="93867"/>
                  <a:pt x="55698" y="96114"/>
                  <a:pt x="57722" y="97339"/>
                </a:cubicBezTo>
                <a:cubicBezTo>
                  <a:pt x="59747" y="98563"/>
                  <a:pt x="62284" y="98563"/>
                  <a:pt x="64308" y="97339"/>
                </a:cubicBezTo>
                <a:cubicBezTo>
                  <a:pt x="66333" y="96114"/>
                  <a:pt x="67511" y="93867"/>
                  <a:pt x="67366" y="91505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28" name="Text 26"/>
          <p:cNvSpPr/>
          <p:nvPr/>
        </p:nvSpPr>
        <p:spPr>
          <a:xfrm>
            <a:off x="849602" y="3398771"/>
            <a:ext cx="6052516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考核不通过：</a:t>
            </a:r>
            <a:r>
              <a:rPr lang="en-US" sz="96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给予一次补考机会（一周内），补考不过者向下调整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52949" y="4013164"/>
            <a:ext cx="6780112" cy="2841024"/>
          </a:xfrm>
          <a:custGeom>
            <a:avLst/>
            <a:gdLst/>
            <a:ahLst/>
            <a:cxnLst/>
            <a:rect l="l" t="t" r="r" b="b"/>
            <a:pathLst>
              <a:path w="6780112" h="2841024">
                <a:moveTo>
                  <a:pt x="104578" y="0"/>
                </a:moveTo>
                <a:lnTo>
                  <a:pt x="6675533" y="0"/>
                </a:lnTo>
                <a:cubicBezTo>
                  <a:pt x="6733290" y="0"/>
                  <a:pt x="6780112" y="46821"/>
                  <a:pt x="6780112" y="104578"/>
                </a:cubicBezTo>
                <a:lnTo>
                  <a:pt x="6780112" y="2736446"/>
                </a:lnTo>
                <a:cubicBezTo>
                  <a:pt x="6780112" y="2794202"/>
                  <a:pt x="6733290" y="2841024"/>
                  <a:pt x="6675533" y="2841024"/>
                </a:cubicBezTo>
                <a:lnTo>
                  <a:pt x="104578" y="2841024"/>
                </a:lnTo>
                <a:cubicBezTo>
                  <a:pt x="46821" y="2841024"/>
                  <a:pt x="0" y="2794202"/>
                  <a:pt x="0" y="2736446"/>
                </a:cubicBezTo>
                <a:lnTo>
                  <a:pt x="0" y="104578"/>
                </a:lnTo>
                <a:cubicBezTo>
                  <a:pt x="0" y="46860"/>
                  <a:pt x="46860" y="0"/>
                  <a:pt x="104578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1603" y="4191817"/>
            <a:ext cx="488029" cy="488029"/>
          </a:xfrm>
          <a:custGeom>
            <a:avLst/>
            <a:gdLst/>
            <a:ahLst/>
            <a:cxnLst/>
            <a:rect l="l" t="t" r="r" b="b"/>
            <a:pathLst>
              <a:path w="488029" h="488029">
                <a:moveTo>
                  <a:pt x="104580" y="0"/>
                </a:moveTo>
                <a:lnTo>
                  <a:pt x="383449" y="0"/>
                </a:lnTo>
                <a:cubicBezTo>
                  <a:pt x="441168" y="0"/>
                  <a:pt x="488029" y="46861"/>
                  <a:pt x="488029" y="104580"/>
                </a:cubicBezTo>
                <a:lnTo>
                  <a:pt x="488029" y="383449"/>
                </a:lnTo>
                <a:cubicBezTo>
                  <a:pt x="488029" y="441168"/>
                  <a:pt x="441168" y="488029"/>
                  <a:pt x="383449" y="488029"/>
                </a:cubicBezTo>
                <a:lnTo>
                  <a:pt x="104580" y="488029"/>
                </a:lnTo>
                <a:cubicBezTo>
                  <a:pt x="46861" y="488029"/>
                  <a:pt x="0" y="441168"/>
                  <a:pt x="0" y="383449"/>
                </a:cubicBezTo>
                <a:lnTo>
                  <a:pt x="0" y="104580"/>
                </a:lnTo>
                <a:cubicBezTo>
                  <a:pt x="0" y="46861"/>
                  <a:pt x="46861" y="0"/>
                  <a:pt x="104580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31" name="Shape 29"/>
          <p:cNvSpPr/>
          <p:nvPr/>
        </p:nvSpPr>
        <p:spPr>
          <a:xfrm>
            <a:off x="671039" y="4331254"/>
            <a:ext cx="209155" cy="209155"/>
          </a:xfrm>
          <a:custGeom>
            <a:avLst/>
            <a:gdLst/>
            <a:ahLst/>
            <a:cxnLst/>
            <a:rect l="l" t="t" r="r" b="b"/>
            <a:pathLst>
              <a:path w="209155" h="209155">
                <a:moveTo>
                  <a:pt x="188403" y="7721"/>
                </a:moveTo>
                <a:cubicBezTo>
                  <a:pt x="193101" y="9804"/>
                  <a:pt x="196083" y="14461"/>
                  <a:pt x="196083" y="19608"/>
                </a:cubicBezTo>
                <a:lnTo>
                  <a:pt x="196083" y="189547"/>
                </a:lnTo>
                <a:cubicBezTo>
                  <a:pt x="196083" y="194694"/>
                  <a:pt x="193101" y="199351"/>
                  <a:pt x="188403" y="201434"/>
                </a:cubicBezTo>
                <a:cubicBezTo>
                  <a:pt x="183705" y="203518"/>
                  <a:pt x="178272" y="202742"/>
                  <a:pt x="174391" y="199351"/>
                </a:cubicBezTo>
                <a:lnTo>
                  <a:pt x="155355" y="182725"/>
                </a:lnTo>
                <a:cubicBezTo>
                  <a:pt x="137544" y="167161"/>
                  <a:pt x="115035" y="158092"/>
                  <a:pt x="91465" y="156989"/>
                </a:cubicBezTo>
                <a:lnTo>
                  <a:pt x="91465" y="196083"/>
                </a:lnTo>
                <a:cubicBezTo>
                  <a:pt x="91465" y="203313"/>
                  <a:pt x="85623" y="209155"/>
                  <a:pt x="78392" y="209155"/>
                </a:cubicBezTo>
                <a:lnTo>
                  <a:pt x="65320" y="209155"/>
                </a:lnTo>
                <a:cubicBezTo>
                  <a:pt x="58090" y="209155"/>
                  <a:pt x="52248" y="203313"/>
                  <a:pt x="52248" y="196083"/>
                </a:cubicBezTo>
                <a:lnTo>
                  <a:pt x="52248" y="156866"/>
                </a:lnTo>
                <a:cubicBezTo>
                  <a:pt x="23407" y="156866"/>
                  <a:pt x="0" y="133459"/>
                  <a:pt x="0" y="104578"/>
                </a:cubicBezTo>
                <a:cubicBezTo>
                  <a:pt x="0" y="75696"/>
                  <a:pt x="23407" y="52289"/>
                  <a:pt x="52289" y="52289"/>
                </a:cubicBezTo>
                <a:lnTo>
                  <a:pt x="86808" y="52289"/>
                </a:lnTo>
                <a:cubicBezTo>
                  <a:pt x="112053" y="52207"/>
                  <a:pt x="136400" y="43016"/>
                  <a:pt x="155396" y="26430"/>
                </a:cubicBezTo>
                <a:lnTo>
                  <a:pt x="174432" y="9804"/>
                </a:lnTo>
                <a:cubicBezTo>
                  <a:pt x="178272" y="6414"/>
                  <a:pt x="183787" y="5637"/>
                  <a:pt x="188444" y="7721"/>
                </a:cubicBezTo>
                <a:close/>
                <a:moveTo>
                  <a:pt x="91505" y="130722"/>
                </a:moveTo>
                <a:lnTo>
                  <a:pt x="91505" y="130804"/>
                </a:lnTo>
                <a:cubicBezTo>
                  <a:pt x="120223" y="131907"/>
                  <a:pt x="147797" y="142446"/>
                  <a:pt x="169939" y="160788"/>
                </a:cubicBezTo>
                <a:lnTo>
                  <a:pt x="169939" y="48326"/>
                </a:lnTo>
                <a:cubicBezTo>
                  <a:pt x="147797" y="66668"/>
                  <a:pt x="120223" y="77208"/>
                  <a:pt x="91505" y="78311"/>
                </a:cubicBezTo>
                <a:lnTo>
                  <a:pt x="91505" y="13072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1159068" y="4296395"/>
            <a:ext cx="941198" cy="2788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AI布道师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04222" y="4309467"/>
            <a:ext cx="949913" cy="252729"/>
          </a:xfrm>
          <a:custGeom>
            <a:avLst/>
            <a:gdLst/>
            <a:ahLst/>
            <a:cxnLst/>
            <a:rect l="l" t="t" r="r" b="b"/>
            <a:pathLst>
              <a:path w="949913" h="252729">
                <a:moveTo>
                  <a:pt x="69718" y="0"/>
                </a:moveTo>
                <a:lnTo>
                  <a:pt x="880195" y="0"/>
                </a:lnTo>
                <a:cubicBezTo>
                  <a:pt x="918673" y="0"/>
                  <a:pt x="949913" y="31240"/>
                  <a:pt x="949913" y="69718"/>
                </a:cubicBezTo>
                <a:lnTo>
                  <a:pt x="949913" y="183011"/>
                </a:lnTo>
                <a:cubicBezTo>
                  <a:pt x="949913" y="221490"/>
                  <a:pt x="918673" y="252729"/>
                  <a:pt x="880195" y="252729"/>
                </a:cubicBezTo>
                <a:lnTo>
                  <a:pt x="69718" y="252729"/>
                </a:lnTo>
                <a:cubicBezTo>
                  <a:pt x="31240" y="252729"/>
                  <a:pt x="0" y="221490"/>
                  <a:pt x="0" y="183011"/>
                </a:cubicBezTo>
                <a:lnTo>
                  <a:pt x="0" y="69718"/>
                </a:lnTo>
                <a:cubicBezTo>
                  <a:pt x="0" y="31214"/>
                  <a:pt x="31214" y="0"/>
                  <a:pt x="69718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99865" y="4305109"/>
            <a:ext cx="1002202" cy="244014"/>
          </a:xfrm>
          <a:prstGeom prst="rect">
            <a:avLst/>
          </a:prstGeom>
          <a:noFill/>
        </p:spPr>
        <p:txBody>
          <a:bodyPr wrap="square" lIns="104578" tIns="34859" rIns="104578" bIns="34859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10B98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技术突破专家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9032" y="4819282"/>
            <a:ext cx="3128612" cy="1350793"/>
          </a:xfrm>
          <a:custGeom>
            <a:avLst/>
            <a:gdLst/>
            <a:ahLst/>
            <a:cxnLst/>
            <a:rect l="l" t="t" r="r" b="b"/>
            <a:pathLst>
              <a:path w="3128612" h="1350793">
                <a:moveTo>
                  <a:pt x="34859" y="0"/>
                </a:moveTo>
                <a:lnTo>
                  <a:pt x="3058897" y="0"/>
                </a:lnTo>
                <a:cubicBezTo>
                  <a:pt x="3097400" y="0"/>
                  <a:pt x="3128612" y="31212"/>
                  <a:pt x="3128612" y="69714"/>
                </a:cubicBezTo>
                <a:lnTo>
                  <a:pt x="3128612" y="1281079"/>
                </a:lnTo>
                <a:cubicBezTo>
                  <a:pt x="3128612" y="1319581"/>
                  <a:pt x="3097400" y="1350793"/>
                  <a:pt x="3058897" y="1350793"/>
                </a:cubicBezTo>
                <a:lnTo>
                  <a:pt x="34859" y="1350793"/>
                </a:lnTo>
                <a:cubicBezTo>
                  <a:pt x="15607" y="1350793"/>
                  <a:pt x="0" y="1335186"/>
                  <a:pt x="0" y="1315934"/>
                </a:cubicBezTo>
                <a:lnTo>
                  <a:pt x="0" y="34859"/>
                </a:lnTo>
                <a:cubicBezTo>
                  <a:pt x="0" y="15607"/>
                  <a:pt x="15607" y="0"/>
                  <a:pt x="348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549032" y="4819282"/>
            <a:ext cx="34859" cy="1350793"/>
          </a:xfrm>
          <a:custGeom>
            <a:avLst/>
            <a:gdLst/>
            <a:ahLst/>
            <a:cxnLst/>
            <a:rect l="l" t="t" r="r" b="b"/>
            <a:pathLst>
              <a:path w="34859" h="1350793">
                <a:moveTo>
                  <a:pt x="34859" y="0"/>
                </a:moveTo>
                <a:lnTo>
                  <a:pt x="34859" y="0"/>
                </a:lnTo>
                <a:lnTo>
                  <a:pt x="34859" y="1350793"/>
                </a:lnTo>
                <a:lnTo>
                  <a:pt x="34859" y="1350793"/>
                </a:lnTo>
                <a:cubicBezTo>
                  <a:pt x="15607" y="1350793"/>
                  <a:pt x="0" y="1335186"/>
                  <a:pt x="0" y="1315934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37" name="Shape 35"/>
          <p:cNvSpPr/>
          <p:nvPr/>
        </p:nvSpPr>
        <p:spPr>
          <a:xfrm>
            <a:off x="714613" y="4984863"/>
            <a:ext cx="156866" cy="139437"/>
          </a:xfrm>
          <a:custGeom>
            <a:avLst/>
            <a:gdLst/>
            <a:ahLst/>
            <a:cxnLst/>
            <a:rect l="l" t="t" r="r" b="b"/>
            <a:pathLst>
              <a:path w="156866" h="139437">
                <a:moveTo>
                  <a:pt x="84288" y="-5147"/>
                </a:moveTo>
                <a:cubicBezTo>
                  <a:pt x="83172" y="-7326"/>
                  <a:pt x="80911" y="-8715"/>
                  <a:pt x="78460" y="-8715"/>
                </a:cubicBezTo>
                <a:cubicBezTo>
                  <a:pt x="76009" y="-8715"/>
                  <a:pt x="73749" y="-7326"/>
                  <a:pt x="72632" y="-5147"/>
                </a:cubicBezTo>
                <a:lnTo>
                  <a:pt x="52588" y="34124"/>
                </a:lnTo>
                <a:lnTo>
                  <a:pt x="9042" y="41041"/>
                </a:lnTo>
                <a:cubicBezTo>
                  <a:pt x="6618" y="41423"/>
                  <a:pt x="4603" y="43138"/>
                  <a:pt x="3840" y="45480"/>
                </a:cubicBezTo>
                <a:cubicBezTo>
                  <a:pt x="3077" y="47822"/>
                  <a:pt x="3704" y="50382"/>
                  <a:pt x="5420" y="52125"/>
                </a:cubicBezTo>
                <a:lnTo>
                  <a:pt x="36575" y="83308"/>
                </a:lnTo>
                <a:lnTo>
                  <a:pt x="29712" y="126855"/>
                </a:lnTo>
                <a:cubicBezTo>
                  <a:pt x="29331" y="129279"/>
                  <a:pt x="30338" y="131730"/>
                  <a:pt x="32326" y="133173"/>
                </a:cubicBezTo>
                <a:cubicBezTo>
                  <a:pt x="34315" y="134616"/>
                  <a:pt x="36929" y="134834"/>
                  <a:pt x="39135" y="133718"/>
                </a:cubicBezTo>
                <a:lnTo>
                  <a:pt x="78460" y="113728"/>
                </a:lnTo>
                <a:lnTo>
                  <a:pt x="117759" y="133718"/>
                </a:lnTo>
                <a:cubicBezTo>
                  <a:pt x="119937" y="134834"/>
                  <a:pt x="122579" y="134616"/>
                  <a:pt x="124567" y="133173"/>
                </a:cubicBezTo>
                <a:cubicBezTo>
                  <a:pt x="126555" y="131730"/>
                  <a:pt x="127563" y="129306"/>
                  <a:pt x="127182" y="126855"/>
                </a:cubicBezTo>
                <a:lnTo>
                  <a:pt x="120291" y="83308"/>
                </a:lnTo>
                <a:lnTo>
                  <a:pt x="151447" y="52125"/>
                </a:lnTo>
                <a:cubicBezTo>
                  <a:pt x="153190" y="50382"/>
                  <a:pt x="153789" y="47822"/>
                  <a:pt x="153026" y="45480"/>
                </a:cubicBezTo>
                <a:cubicBezTo>
                  <a:pt x="152264" y="43138"/>
                  <a:pt x="150276" y="41423"/>
                  <a:pt x="147825" y="41041"/>
                </a:cubicBezTo>
                <a:lnTo>
                  <a:pt x="104305" y="34124"/>
                </a:lnTo>
                <a:lnTo>
                  <a:pt x="84288" y="-5147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38" name="Text 36"/>
          <p:cNvSpPr/>
          <p:nvPr/>
        </p:nvSpPr>
        <p:spPr>
          <a:xfrm>
            <a:off x="928035" y="4958719"/>
            <a:ext cx="2679890" cy="209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能力要求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5898" y="5237593"/>
            <a:ext cx="2893312" cy="7930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AI-Native能力需是整个团队中的最佳或TOP水平，不仅自身能够熟练应用各种AI工具完成端到端开发和测试，还要能够紧跟业界前沿技术，持续导入优秀实践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32195" y="4819282"/>
            <a:ext cx="3128612" cy="1350793"/>
          </a:xfrm>
          <a:custGeom>
            <a:avLst/>
            <a:gdLst/>
            <a:ahLst/>
            <a:cxnLst/>
            <a:rect l="l" t="t" r="r" b="b"/>
            <a:pathLst>
              <a:path w="3128612" h="1350793">
                <a:moveTo>
                  <a:pt x="34859" y="0"/>
                </a:moveTo>
                <a:lnTo>
                  <a:pt x="3058897" y="0"/>
                </a:lnTo>
                <a:cubicBezTo>
                  <a:pt x="3097400" y="0"/>
                  <a:pt x="3128612" y="31212"/>
                  <a:pt x="3128612" y="69714"/>
                </a:cubicBezTo>
                <a:lnTo>
                  <a:pt x="3128612" y="1281079"/>
                </a:lnTo>
                <a:cubicBezTo>
                  <a:pt x="3128612" y="1319581"/>
                  <a:pt x="3097400" y="1350793"/>
                  <a:pt x="3058897" y="1350793"/>
                </a:cubicBezTo>
                <a:lnTo>
                  <a:pt x="34859" y="1350793"/>
                </a:lnTo>
                <a:cubicBezTo>
                  <a:pt x="15607" y="1350793"/>
                  <a:pt x="0" y="1335186"/>
                  <a:pt x="0" y="1315934"/>
                </a:cubicBezTo>
                <a:lnTo>
                  <a:pt x="0" y="34859"/>
                </a:lnTo>
                <a:cubicBezTo>
                  <a:pt x="0" y="15607"/>
                  <a:pt x="15607" y="0"/>
                  <a:pt x="348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3832195" y="4819282"/>
            <a:ext cx="34859" cy="1350793"/>
          </a:xfrm>
          <a:custGeom>
            <a:avLst/>
            <a:gdLst/>
            <a:ahLst/>
            <a:cxnLst/>
            <a:rect l="l" t="t" r="r" b="b"/>
            <a:pathLst>
              <a:path w="34859" h="1350793">
                <a:moveTo>
                  <a:pt x="34859" y="0"/>
                </a:moveTo>
                <a:lnTo>
                  <a:pt x="34859" y="0"/>
                </a:lnTo>
                <a:lnTo>
                  <a:pt x="34859" y="1350793"/>
                </a:lnTo>
                <a:lnTo>
                  <a:pt x="34859" y="1350793"/>
                </a:lnTo>
                <a:cubicBezTo>
                  <a:pt x="15607" y="1350793"/>
                  <a:pt x="0" y="1335186"/>
                  <a:pt x="0" y="1315934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42" name="Shape 40"/>
          <p:cNvSpPr/>
          <p:nvPr/>
        </p:nvSpPr>
        <p:spPr>
          <a:xfrm>
            <a:off x="4023921" y="4984863"/>
            <a:ext cx="104578" cy="139437"/>
          </a:xfrm>
          <a:custGeom>
            <a:avLst/>
            <a:gdLst/>
            <a:ahLst/>
            <a:cxnLst/>
            <a:rect l="l" t="t" r="r" b="b"/>
            <a:pathLst>
              <a:path w="104578" h="139437">
                <a:moveTo>
                  <a:pt x="84806" y="8715"/>
                </a:moveTo>
                <a:lnTo>
                  <a:pt x="87148" y="8715"/>
                </a:lnTo>
                <a:cubicBezTo>
                  <a:pt x="96761" y="8715"/>
                  <a:pt x="104578" y="16531"/>
                  <a:pt x="104578" y="26144"/>
                </a:cubicBezTo>
                <a:lnTo>
                  <a:pt x="104578" y="122007"/>
                </a:lnTo>
                <a:cubicBezTo>
                  <a:pt x="104578" y="131621"/>
                  <a:pt x="96761" y="139437"/>
                  <a:pt x="87148" y="139437"/>
                </a:cubicBezTo>
                <a:lnTo>
                  <a:pt x="17430" y="139437"/>
                </a:lnTo>
                <a:cubicBezTo>
                  <a:pt x="7816" y="139437"/>
                  <a:pt x="0" y="131621"/>
                  <a:pt x="0" y="122007"/>
                </a:cubicBezTo>
                <a:lnTo>
                  <a:pt x="0" y="26144"/>
                </a:lnTo>
                <a:cubicBezTo>
                  <a:pt x="0" y="16531"/>
                  <a:pt x="7816" y="8715"/>
                  <a:pt x="17430" y="8715"/>
                </a:cubicBezTo>
                <a:lnTo>
                  <a:pt x="19772" y="8715"/>
                </a:lnTo>
                <a:cubicBezTo>
                  <a:pt x="22767" y="3513"/>
                  <a:pt x="28405" y="0"/>
                  <a:pt x="34859" y="0"/>
                </a:cubicBezTo>
                <a:lnTo>
                  <a:pt x="69718" y="0"/>
                </a:lnTo>
                <a:cubicBezTo>
                  <a:pt x="76173" y="0"/>
                  <a:pt x="81810" y="3513"/>
                  <a:pt x="84806" y="8715"/>
                </a:cubicBezTo>
                <a:close/>
                <a:moveTo>
                  <a:pt x="67540" y="30502"/>
                </a:moveTo>
                <a:cubicBezTo>
                  <a:pt x="71162" y="30502"/>
                  <a:pt x="74076" y="27588"/>
                  <a:pt x="74076" y="23966"/>
                </a:cubicBezTo>
                <a:cubicBezTo>
                  <a:pt x="74076" y="20344"/>
                  <a:pt x="71162" y="17430"/>
                  <a:pt x="67540" y="17430"/>
                </a:cubicBezTo>
                <a:lnTo>
                  <a:pt x="37038" y="17430"/>
                </a:lnTo>
                <a:cubicBezTo>
                  <a:pt x="33416" y="17430"/>
                  <a:pt x="30502" y="20344"/>
                  <a:pt x="30502" y="23966"/>
                </a:cubicBezTo>
                <a:cubicBezTo>
                  <a:pt x="30502" y="27588"/>
                  <a:pt x="33416" y="30502"/>
                  <a:pt x="37038" y="30502"/>
                </a:cubicBezTo>
                <a:lnTo>
                  <a:pt x="67540" y="30502"/>
                </a:lnTo>
                <a:close/>
                <a:moveTo>
                  <a:pt x="75274" y="70998"/>
                </a:moveTo>
                <a:cubicBezTo>
                  <a:pt x="77180" y="67948"/>
                  <a:pt x="76254" y="63918"/>
                  <a:pt x="73204" y="61984"/>
                </a:cubicBezTo>
                <a:cubicBezTo>
                  <a:pt x="70154" y="60050"/>
                  <a:pt x="66124" y="61004"/>
                  <a:pt x="64190" y="64054"/>
                </a:cubicBezTo>
                <a:lnTo>
                  <a:pt x="47468" y="90825"/>
                </a:lnTo>
                <a:lnTo>
                  <a:pt x="40115" y="81020"/>
                </a:lnTo>
                <a:cubicBezTo>
                  <a:pt x="37937" y="78134"/>
                  <a:pt x="33852" y="77534"/>
                  <a:pt x="30965" y="79713"/>
                </a:cubicBezTo>
                <a:cubicBezTo>
                  <a:pt x="28078" y="81892"/>
                  <a:pt x="27479" y="85977"/>
                  <a:pt x="29658" y="88864"/>
                </a:cubicBezTo>
                <a:lnTo>
                  <a:pt x="42730" y="106293"/>
                </a:lnTo>
                <a:cubicBezTo>
                  <a:pt x="44010" y="108009"/>
                  <a:pt x="46079" y="108989"/>
                  <a:pt x="48231" y="108908"/>
                </a:cubicBezTo>
                <a:cubicBezTo>
                  <a:pt x="50382" y="108826"/>
                  <a:pt x="52343" y="107682"/>
                  <a:pt x="53487" y="105830"/>
                </a:cubicBezTo>
                <a:lnTo>
                  <a:pt x="75274" y="70971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43" name="Text 41"/>
          <p:cNvSpPr/>
          <p:nvPr/>
        </p:nvSpPr>
        <p:spPr>
          <a:xfrm>
            <a:off x="4211199" y="4958719"/>
            <a:ext cx="2679890" cy="209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认证机制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014117" y="5272452"/>
            <a:ext cx="106756" cy="122007"/>
          </a:xfrm>
          <a:custGeom>
            <a:avLst/>
            <a:gdLst/>
            <a:ahLst/>
            <a:cxnLst/>
            <a:rect l="l" t="t" r="r" b="b"/>
            <a:pathLst>
              <a:path w="106756" h="122007">
                <a:moveTo>
                  <a:pt x="103611" y="16704"/>
                </a:moveTo>
                <a:cubicBezTo>
                  <a:pt x="107018" y="19183"/>
                  <a:pt x="107781" y="23949"/>
                  <a:pt x="105303" y="27356"/>
                </a:cubicBezTo>
                <a:lnTo>
                  <a:pt x="44299" y="111236"/>
                </a:lnTo>
                <a:cubicBezTo>
                  <a:pt x="42988" y="113047"/>
                  <a:pt x="40963" y="114167"/>
                  <a:pt x="38723" y="114358"/>
                </a:cubicBezTo>
                <a:cubicBezTo>
                  <a:pt x="36483" y="114549"/>
                  <a:pt x="34315" y="113714"/>
                  <a:pt x="32742" y="112142"/>
                </a:cubicBezTo>
                <a:lnTo>
                  <a:pt x="2240" y="81640"/>
                </a:lnTo>
                <a:cubicBezTo>
                  <a:pt x="-739" y="78661"/>
                  <a:pt x="-739" y="73824"/>
                  <a:pt x="2240" y="70845"/>
                </a:cubicBezTo>
                <a:cubicBezTo>
                  <a:pt x="5219" y="67866"/>
                  <a:pt x="10056" y="67866"/>
                  <a:pt x="13035" y="70845"/>
                </a:cubicBezTo>
                <a:lnTo>
                  <a:pt x="37222" y="95032"/>
                </a:lnTo>
                <a:lnTo>
                  <a:pt x="92983" y="18373"/>
                </a:lnTo>
                <a:cubicBezTo>
                  <a:pt x="95461" y="14965"/>
                  <a:pt x="100227" y="14202"/>
                  <a:pt x="103635" y="16681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45" name="Text 43"/>
          <p:cNvSpPr/>
          <p:nvPr/>
        </p:nvSpPr>
        <p:spPr>
          <a:xfrm>
            <a:off x="4211289" y="5237593"/>
            <a:ext cx="1037061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每年两次实战集训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014117" y="5499036"/>
            <a:ext cx="106756" cy="122007"/>
          </a:xfrm>
          <a:custGeom>
            <a:avLst/>
            <a:gdLst/>
            <a:ahLst/>
            <a:cxnLst/>
            <a:rect l="l" t="t" r="r" b="b"/>
            <a:pathLst>
              <a:path w="106756" h="122007">
                <a:moveTo>
                  <a:pt x="103611" y="16704"/>
                </a:moveTo>
                <a:cubicBezTo>
                  <a:pt x="107018" y="19183"/>
                  <a:pt x="107781" y="23949"/>
                  <a:pt x="105303" y="27356"/>
                </a:cubicBezTo>
                <a:lnTo>
                  <a:pt x="44299" y="111236"/>
                </a:lnTo>
                <a:cubicBezTo>
                  <a:pt x="42988" y="113047"/>
                  <a:pt x="40963" y="114167"/>
                  <a:pt x="38723" y="114358"/>
                </a:cubicBezTo>
                <a:cubicBezTo>
                  <a:pt x="36483" y="114549"/>
                  <a:pt x="34315" y="113714"/>
                  <a:pt x="32742" y="112142"/>
                </a:cubicBezTo>
                <a:lnTo>
                  <a:pt x="2240" y="81640"/>
                </a:lnTo>
                <a:cubicBezTo>
                  <a:pt x="-739" y="78661"/>
                  <a:pt x="-739" y="73824"/>
                  <a:pt x="2240" y="70845"/>
                </a:cubicBezTo>
                <a:cubicBezTo>
                  <a:pt x="5219" y="67866"/>
                  <a:pt x="10056" y="67866"/>
                  <a:pt x="13035" y="70845"/>
                </a:cubicBezTo>
                <a:lnTo>
                  <a:pt x="37222" y="95032"/>
                </a:lnTo>
                <a:lnTo>
                  <a:pt x="92983" y="18373"/>
                </a:lnTo>
                <a:cubicBezTo>
                  <a:pt x="95461" y="14965"/>
                  <a:pt x="100227" y="14202"/>
                  <a:pt x="103635" y="16681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47" name="Text 45"/>
          <p:cNvSpPr/>
          <p:nvPr/>
        </p:nvSpPr>
        <p:spPr>
          <a:xfrm>
            <a:off x="4211289" y="5464177"/>
            <a:ext cx="1403082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集训内容随业界发展进化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014117" y="5725621"/>
            <a:ext cx="106756" cy="122007"/>
          </a:xfrm>
          <a:custGeom>
            <a:avLst/>
            <a:gdLst/>
            <a:ahLst/>
            <a:cxnLst/>
            <a:rect l="l" t="t" r="r" b="b"/>
            <a:pathLst>
              <a:path w="106756" h="122007">
                <a:moveTo>
                  <a:pt x="103611" y="16704"/>
                </a:moveTo>
                <a:cubicBezTo>
                  <a:pt x="107018" y="19183"/>
                  <a:pt x="107781" y="23949"/>
                  <a:pt x="105303" y="27356"/>
                </a:cubicBezTo>
                <a:lnTo>
                  <a:pt x="44299" y="111236"/>
                </a:lnTo>
                <a:cubicBezTo>
                  <a:pt x="42988" y="113047"/>
                  <a:pt x="40963" y="114167"/>
                  <a:pt x="38723" y="114358"/>
                </a:cubicBezTo>
                <a:cubicBezTo>
                  <a:pt x="36483" y="114549"/>
                  <a:pt x="34315" y="113714"/>
                  <a:pt x="32742" y="112142"/>
                </a:cubicBezTo>
                <a:lnTo>
                  <a:pt x="2240" y="81640"/>
                </a:lnTo>
                <a:cubicBezTo>
                  <a:pt x="-739" y="78661"/>
                  <a:pt x="-739" y="73824"/>
                  <a:pt x="2240" y="70845"/>
                </a:cubicBezTo>
                <a:cubicBezTo>
                  <a:pt x="5219" y="67866"/>
                  <a:pt x="10056" y="67866"/>
                  <a:pt x="13035" y="70845"/>
                </a:cubicBezTo>
                <a:lnTo>
                  <a:pt x="37222" y="95032"/>
                </a:lnTo>
                <a:lnTo>
                  <a:pt x="92983" y="18373"/>
                </a:lnTo>
                <a:cubicBezTo>
                  <a:pt x="95461" y="14965"/>
                  <a:pt x="100227" y="14202"/>
                  <a:pt x="103635" y="16681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49" name="Text 47"/>
          <p:cNvSpPr/>
          <p:nvPr/>
        </p:nvSpPr>
        <p:spPr>
          <a:xfrm>
            <a:off x="4211289" y="5690762"/>
            <a:ext cx="1760389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面试通过后任命，定位为AI人才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35960" y="6279011"/>
            <a:ext cx="6414090" cy="392166"/>
          </a:xfrm>
          <a:custGeom>
            <a:avLst/>
            <a:gdLst/>
            <a:ahLst/>
            <a:cxnLst/>
            <a:rect l="l" t="t" r="r" b="b"/>
            <a:pathLst>
              <a:path w="6414090" h="392166">
                <a:moveTo>
                  <a:pt x="69719" y="0"/>
                </a:moveTo>
                <a:lnTo>
                  <a:pt x="6344371" y="0"/>
                </a:lnTo>
                <a:cubicBezTo>
                  <a:pt x="6382876" y="0"/>
                  <a:pt x="6414090" y="31214"/>
                  <a:pt x="6414090" y="69719"/>
                </a:cubicBezTo>
                <a:lnTo>
                  <a:pt x="6414090" y="322447"/>
                </a:lnTo>
                <a:cubicBezTo>
                  <a:pt x="6414090" y="360951"/>
                  <a:pt x="6382876" y="392166"/>
                  <a:pt x="6344371" y="392166"/>
                </a:cubicBezTo>
                <a:lnTo>
                  <a:pt x="69719" y="392166"/>
                </a:lnTo>
                <a:cubicBezTo>
                  <a:pt x="31214" y="392166"/>
                  <a:pt x="0" y="360951"/>
                  <a:pt x="0" y="322447"/>
                </a:cubicBezTo>
                <a:lnTo>
                  <a:pt x="0" y="69719"/>
                </a:lnTo>
                <a:cubicBezTo>
                  <a:pt x="0" y="31240"/>
                  <a:pt x="31240" y="0"/>
                  <a:pt x="69719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27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2325" y="6405375"/>
            <a:ext cx="122007" cy="122007"/>
          </a:xfrm>
          <a:custGeom>
            <a:avLst/>
            <a:gdLst/>
            <a:ahLst/>
            <a:cxnLst/>
            <a:rect l="l" t="t" r="r" b="b"/>
            <a:pathLst>
              <a:path w="122007" h="122007">
                <a:moveTo>
                  <a:pt x="61004" y="0"/>
                </a:moveTo>
                <a:cubicBezTo>
                  <a:pt x="64507" y="0"/>
                  <a:pt x="67723" y="1930"/>
                  <a:pt x="69392" y="5004"/>
                </a:cubicBezTo>
                <a:lnTo>
                  <a:pt x="120863" y="100322"/>
                </a:lnTo>
                <a:cubicBezTo>
                  <a:pt x="122460" y="103277"/>
                  <a:pt x="122388" y="106852"/>
                  <a:pt x="120673" y="109735"/>
                </a:cubicBezTo>
                <a:cubicBezTo>
                  <a:pt x="118957" y="112618"/>
                  <a:pt x="115835" y="114382"/>
                  <a:pt x="112475" y="114382"/>
                </a:cubicBezTo>
                <a:lnTo>
                  <a:pt x="9532" y="114382"/>
                </a:lnTo>
                <a:cubicBezTo>
                  <a:pt x="6172" y="114382"/>
                  <a:pt x="3074" y="112618"/>
                  <a:pt x="1334" y="109735"/>
                </a:cubicBezTo>
                <a:cubicBezTo>
                  <a:pt x="-405" y="106852"/>
                  <a:pt x="-453" y="103277"/>
                  <a:pt x="1144" y="100322"/>
                </a:cubicBezTo>
                <a:lnTo>
                  <a:pt x="52616" y="5004"/>
                </a:lnTo>
                <a:cubicBezTo>
                  <a:pt x="54284" y="1930"/>
                  <a:pt x="57501" y="0"/>
                  <a:pt x="61004" y="0"/>
                </a:cubicBezTo>
                <a:close/>
                <a:moveTo>
                  <a:pt x="61004" y="40034"/>
                </a:moveTo>
                <a:cubicBezTo>
                  <a:pt x="57834" y="40034"/>
                  <a:pt x="55284" y="42583"/>
                  <a:pt x="55284" y="45753"/>
                </a:cubicBezTo>
                <a:lnTo>
                  <a:pt x="55284" y="72442"/>
                </a:lnTo>
                <a:cubicBezTo>
                  <a:pt x="55284" y="75611"/>
                  <a:pt x="57834" y="78161"/>
                  <a:pt x="61004" y="78161"/>
                </a:cubicBezTo>
                <a:cubicBezTo>
                  <a:pt x="64173" y="78161"/>
                  <a:pt x="66723" y="75611"/>
                  <a:pt x="66723" y="72442"/>
                </a:cubicBezTo>
                <a:lnTo>
                  <a:pt x="66723" y="45753"/>
                </a:lnTo>
                <a:cubicBezTo>
                  <a:pt x="66723" y="42583"/>
                  <a:pt x="64173" y="40034"/>
                  <a:pt x="61004" y="40034"/>
                </a:cubicBezTo>
                <a:close/>
                <a:moveTo>
                  <a:pt x="67366" y="91505"/>
                </a:moveTo>
                <a:cubicBezTo>
                  <a:pt x="67511" y="89144"/>
                  <a:pt x="66333" y="86897"/>
                  <a:pt x="64308" y="85672"/>
                </a:cubicBezTo>
                <a:cubicBezTo>
                  <a:pt x="62284" y="84448"/>
                  <a:pt x="59747" y="84448"/>
                  <a:pt x="57722" y="85672"/>
                </a:cubicBezTo>
                <a:cubicBezTo>
                  <a:pt x="55698" y="86897"/>
                  <a:pt x="54520" y="89144"/>
                  <a:pt x="54665" y="91505"/>
                </a:cubicBezTo>
                <a:cubicBezTo>
                  <a:pt x="54520" y="93867"/>
                  <a:pt x="55698" y="96114"/>
                  <a:pt x="57722" y="97339"/>
                </a:cubicBezTo>
                <a:cubicBezTo>
                  <a:pt x="59747" y="98563"/>
                  <a:pt x="62284" y="98563"/>
                  <a:pt x="64308" y="97339"/>
                </a:cubicBezTo>
                <a:cubicBezTo>
                  <a:pt x="66333" y="96114"/>
                  <a:pt x="67511" y="93867"/>
                  <a:pt x="67366" y="91505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52" name="Text 50"/>
          <p:cNvSpPr/>
          <p:nvPr/>
        </p:nvSpPr>
        <p:spPr>
          <a:xfrm>
            <a:off x="849602" y="6387946"/>
            <a:ext cx="6052516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考核不通过：</a:t>
            </a:r>
            <a:r>
              <a:rPr lang="en-US" sz="96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取消任命并从AI人才库中移出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20157" y="1189570"/>
            <a:ext cx="4522979" cy="3686359"/>
          </a:xfrm>
          <a:custGeom>
            <a:avLst/>
            <a:gdLst/>
            <a:ahLst/>
            <a:cxnLst/>
            <a:rect l="l" t="t" r="r" b="b"/>
            <a:pathLst>
              <a:path w="4522979" h="3686359">
                <a:moveTo>
                  <a:pt x="104582" y="0"/>
                </a:moveTo>
                <a:lnTo>
                  <a:pt x="4418397" y="0"/>
                </a:lnTo>
                <a:cubicBezTo>
                  <a:pt x="4476156" y="0"/>
                  <a:pt x="4522979" y="46823"/>
                  <a:pt x="4522979" y="104582"/>
                </a:cubicBezTo>
                <a:lnTo>
                  <a:pt x="4522979" y="3581777"/>
                </a:lnTo>
                <a:cubicBezTo>
                  <a:pt x="4522979" y="3639536"/>
                  <a:pt x="4476156" y="3686359"/>
                  <a:pt x="4418397" y="3686359"/>
                </a:cubicBezTo>
                <a:lnTo>
                  <a:pt x="104582" y="3686359"/>
                </a:lnTo>
                <a:cubicBezTo>
                  <a:pt x="46823" y="3686359"/>
                  <a:pt x="0" y="3639536"/>
                  <a:pt x="0" y="3581777"/>
                </a:cubicBezTo>
                <a:lnTo>
                  <a:pt x="0" y="104582"/>
                </a:lnTo>
                <a:cubicBezTo>
                  <a:pt x="0" y="46862"/>
                  <a:pt x="46862" y="0"/>
                  <a:pt x="104582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98810" y="1368223"/>
            <a:ext cx="488029" cy="488029"/>
          </a:xfrm>
          <a:custGeom>
            <a:avLst/>
            <a:gdLst/>
            <a:ahLst/>
            <a:cxnLst/>
            <a:rect l="l" t="t" r="r" b="b"/>
            <a:pathLst>
              <a:path w="488029" h="488029">
                <a:moveTo>
                  <a:pt x="104580" y="0"/>
                </a:moveTo>
                <a:lnTo>
                  <a:pt x="383449" y="0"/>
                </a:lnTo>
                <a:cubicBezTo>
                  <a:pt x="441168" y="0"/>
                  <a:pt x="488029" y="46861"/>
                  <a:pt x="488029" y="104580"/>
                </a:cubicBezTo>
                <a:lnTo>
                  <a:pt x="488029" y="383449"/>
                </a:lnTo>
                <a:cubicBezTo>
                  <a:pt x="488029" y="441168"/>
                  <a:pt x="441168" y="488029"/>
                  <a:pt x="383449" y="488029"/>
                </a:cubicBezTo>
                <a:lnTo>
                  <a:pt x="104580" y="488029"/>
                </a:lnTo>
                <a:cubicBezTo>
                  <a:pt x="46861" y="488029"/>
                  <a:pt x="0" y="441168"/>
                  <a:pt x="0" y="383449"/>
                </a:cubicBezTo>
                <a:lnTo>
                  <a:pt x="0" y="104580"/>
                </a:lnTo>
                <a:cubicBezTo>
                  <a:pt x="0" y="46861"/>
                  <a:pt x="46861" y="0"/>
                  <a:pt x="10458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55" name="Shape 53"/>
          <p:cNvSpPr/>
          <p:nvPr/>
        </p:nvSpPr>
        <p:spPr>
          <a:xfrm>
            <a:off x="7638247" y="1507660"/>
            <a:ext cx="209155" cy="209155"/>
          </a:xfrm>
          <a:custGeom>
            <a:avLst/>
            <a:gdLst/>
            <a:ahLst/>
            <a:cxnLst/>
            <a:rect l="l" t="t" r="r" b="b"/>
            <a:pathLst>
              <a:path w="209155" h="209155">
                <a:moveTo>
                  <a:pt x="40565" y="104618"/>
                </a:moveTo>
                <a:lnTo>
                  <a:pt x="68915" y="55639"/>
                </a:lnTo>
                <a:cubicBezTo>
                  <a:pt x="66627" y="50655"/>
                  <a:pt x="65320" y="45099"/>
                  <a:pt x="65320" y="39217"/>
                </a:cubicBezTo>
                <a:cubicBezTo>
                  <a:pt x="65320" y="17566"/>
                  <a:pt x="82886" y="0"/>
                  <a:pt x="104537" y="0"/>
                </a:cubicBezTo>
                <a:cubicBezTo>
                  <a:pt x="126188" y="0"/>
                  <a:pt x="143753" y="17566"/>
                  <a:pt x="143753" y="39217"/>
                </a:cubicBezTo>
                <a:cubicBezTo>
                  <a:pt x="143753" y="45058"/>
                  <a:pt x="142487" y="50614"/>
                  <a:pt x="140158" y="55639"/>
                </a:cubicBezTo>
                <a:lnTo>
                  <a:pt x="158296" y="86971"/>
                </a:lnTo>
                <a:cubicBezTo>
                  <a:pt x="148860" y="97592"/>
                  <a:pt x="136359" y="105395"/>
                  <a:pt x="122184" y="108949"/>
                </a:cubicBezTo>
                <a:lnTo>
                  <a:pt x="104578" y="78392"/>
                </a:lnTo>
                <a:lnTo>
                  <a:pt x="76758" y="126433"/>
                </a:lnTo>
                <a:cubicBezTo>
                  <a:pt x="85541" y="129210"/>
                  <a:pt x="94855" y="130722"/>
                  <a:pt x="104578" y="130722"/>
                </a:cubicBezTo>
                <a:cubicBezTo>
                  <a:pt x="133459" y="130722"/>
                  <a:pt x="159236" y="117364"/>
                  <a:pt x="176025" y="96407"/>
                </a:cubicBezTo>
                <a:cubicBezTo>
                  <a:pt x="180560" y="90770"/>
                  <a:pt x="188771" y="89871"/>
                  <a:pt x="194408" y="94365"/>
                </a:cubicBezTo>
                <a:cubicBezTo>
                  <a:pt x="200045" y="98858"/>
                  <a:pt x="200944" y="107110"/>
                  <a:pt x="196451" y="112748"/>
                </a:cubicBezTo>
                <a:cubicBezTo>
                  <a:pt x="174922" y="139627"/>
                  <a:pt x="141752" y="156866"/>
                  <a:pt x="104618" y="156866"/>
                </a:cubicBezTo>
                <a:cubicBezTo>
                  <a:pt x="90157" y="156866"/>
                  <a:pt x="76268" y="154252"/>
                  <a:pt x="63482" y="149472"/>
                </a:cubicBezTo>
                <a:lnTo>
                  <a:pt x="40320" y="189424"/>
                </a:lnTo>
                <a:cubicBezTo>
                  <a:pt x="38400" y="192733"/>
                  <a:pt x="35540" y="195429"/>
                  <a:pt x="32109" y="197145"/>
                </a:cubicBezTo>
                <a:lnTo>
                  <a:pt x="9477" y="208461"/>
                </a:lnTo>
                <a:cubicBezTo>
                  <a:pt x="7435" y="209482"/>
                  <a:pt x="5025" y="209359"/>
                  <a:pt x="3105" y="208175"/>
                </a:cubicBezTo>
                <a:cubicBezTo>
                  <a:pt x="1185" y="206990"/>
                  <a:pt x="0" y="204866"/>
                  <a:pt x="0" y="202619"/>
                </a:cubicBezTo>
                <a:lnTo>
                  <a:pt x="0" y="179988"/>
                </a:lnTo>
                <a:cubicBezTo>
                  <a:pt x="0" y="176556"/>
                  <a:pt x="899" y="173166"/>
                  <a:pt x="2655" y="170143"/>
                </a:cubicBezTo>
                <a:lnTo>
                  <a:pt x="27166" y="127781"/>
                </a:lnTo>
                <a:cubicBezTo>
                  <a:pt x="21937" y="123205"/>
                  <a:pt x="17116" y="118181"/>
                  <a:pt x="12745" y="112748"/>
                </a:cubicBezTo>
                <a:cubicBezTo>
                  <a:pt x="8211" y="107110"/>
                  <a:pt x="9151" y="98899"/>
                  <a:pt x="14788" y="94365"/>
                </a:cubicBezTo>
                <a:cubicBezTo>
                  <a:pt x="20425" y="89830"/>
                  <a:pt x="28636" y="90770"/>
                  <a:pt x="33171" y="96407"/>
                </a:cubicBezTo>
                <a:cubicBezTo>
                  <a:pt x="35499" y="99308"/>
                  <a:pt x="37991" y="102045"/>
                  <a:pt x="40606" y="104618"/>
                </a:cubicBezTo>
                <a:close/>
                <a:moveTo>
                  <a:pt x="155682" y="166630"/>
                </a:moveTo>
                <a:cubicBezTo>
                  <a:pt x="168958" y="161319"/>
                  <a:pt x="181172" y="153966"/>
                  <a:pt x="191998" y="145020"/>
                </a:cubicBezTo>
                <a:lnTo>
                  <a:pt x="206541" y="170143"/>
                </a:lnTo>
                <a:cubicBezTo>
                  <a:pt x="208256" y="173125"/>
                  <a:pt x="209196" y="176515"/>
                  <a:pt x="209196" y="179988"/>
                </a:cubicBezTo>
                <a:lnTo>
                  <a:pt x="209196" y="202619"/>
                </a:lnTo>
                <a:cubicBezTo>
                  <a:pt x="209196" y="204866"/>
                  <a:pt x="208011" y="206990"/>
                  <a:pt x="206091" y="208175"/>
                </a:cubicBezTo>
                <a:cubicBezTo>
                  <a:pt x="204171" y="209359"/>
                  <a:pt x="201761" y="209482"/>
                  <a:pt x="199719" y="208461"/>
                </a:cubicBezTo>
                <a:lnTo>
                  <a:pt x="177087" y="197145"/>
                </a:lnTo>
                <a:cubicBezTo>
                  <a:pt x="173656" y="195429"/>
                  <a:pt x="170796" y="192733"/>
                  <a:pt x="168876" y="189424"/>
                </a:cubicBezTo>
                <a:lnTo>
                  <a:pt x="155682" y="166630"/>
                </a:lnTo>
                <a:close/>
                <a:moveTo>
                  <a:pt x="104578" y="52289"/>
                </a:moveTo>
                <a:cubicBezTo>
                  <a:pt x="111792" y="52289"/>
                  <a:pt x="117650" y="46431"/>
                  <a:pt x="117650" y="39217"/>
                </a:cubicBezTo>
                <a:cubicBezTo>
                  <a:pt x="117650" y="32002"/>
                  <a:pt x="111792" y="26144"/>
                  <a:pt x="104578" y="26144"/>
                </a:cubicBezTo>
                <a:cubicBezTo>
                  <a:pt x="97363" y="26144"/>
                  <a:pt x="91505" y="32002"/>
                  <a:pt x="91505" y="39217"/>
                </a:cubicBezTo>
                <a:cubicBezTo>
                  <a:pt x="91505" y="46431"/>
                  <a:pt x="97363" y="52289"/>
                  <a:pt x="104578" y="5228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6" name="Text 54"/>
          <p:cNvSpPr/>
          <p:nvPr/>
        </p:nvSpPr>
        <p:spPr>
          <a:xfrm>
            <a:off x="8126275" y="1368223"/>
            <a:ext cx="1315934" cy="2788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架构师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126275" y="1677598"/>
            <a:ext cx="1268275" cy="161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F59E0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AI友好架构第一责任人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516239" y="1995688"/>
            <a:ext cx="4148243" cy="958628"/>
          </a:xfrm>
          <a:custGeom>
            <a:avLst/>
            <a:gdLst/>
            <a:ahLst/>
            <a:cxnLst/>
            <a:rect l="l" t="t" r="r" b="b"/>
            <a:pathLst>
              <a:path w="4148243" h="958628">
                <a:moveTo>
                  <a:pt x="34859" y="0"/>
                </a:moveTo>
                <a:lnTo>
                  <a:pt x="4078522" y="0"/>
                </a:lnTo>
                <a:cubicBezTo>
                  <a:pt x="4117028" y="0"/>
                  <a:pt x="4148243" y="31215"/>
                  <a:pt x="4148243" y="69721"/>
                </a:cubicBezTo>
                <a:lnTo>
                  <a:pt x="4148243" y="888907"/>
                </a:lnTo>
                <a:cubicBezTo>
                  <a:pt x="4148243" y="927412"/>
                  <a:pt x="4117028" y="958628"/>
                  <a:pt x="4078522" y="958628"/>
                </a:cubicBezTo>
                <a:lnTo>
                  <a:pt x="34859" y="958628"/>
                </a:lnTo>
                <a:cubicBezTo>
                  <a:pt x="15607" y="958628"/>
                  <a:pt x="0" y="943021"/>
                  <a:pt x="0" y="923768"/>
                </a:cubicBezTo>
                <a:lnTo>
                  <a:pt x="0" y="34859"/>
                </a:lnTo>
                <a:cubicBezTo>
                  <a:pt x="0" y="15607"/>
                  <a:pt x="15607" y="0"/>
                  <a:pt x="348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7516239" y="1995688"/>
            <a:ext cx="34859" cy="958628"/>
          </a:xfrm>
          <a:custGeom>
            <a:avLst/>
            <a:gdLst/>
            <a:ahLst/>
            <a:cxnLst/>
            <a:rect l="l" t="t" r="r" b="b"/>
            <a:pathLst>
              <a:path w="34859" h="958628">
                <a:moveTo>
                  <a:pt x="34859" y="0"/>
                </a:moveTo>
                <a:lnTo>
                  <a:pt x="34859" y="0"/>
                </a:lnTo>
                <a:lnTo>
                  <a:pt x="34859" y="958628"/>
                </a:lnTo>
                <a:lnTo>
                  <a:pt x="34859" y="958628"/>
                </a:lnTo>
                <a:cubicBezTo>
                  <a:pt x="15607" y="958628"/>
                  <a:pt x="0" y="943021"/>
                  <a:pt x="0" y="923768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60" name="Shape 58"/>
          <p:cNvSpPr/>
          <p:nvPr/>
        </p:nvSpPr>
        <p:spPr>
          <a:xfrm>
            <a:off x="7681821" y="2161269"/>
            <a:ext cx="156866" cy="139437"/>
          </a:xfrm>
          <a:custGeom>
            <a:avLst/>
            <a:gdLst/>
            <a:ahLst/>
            <a:cxnLst/>
            <a:rect l="l" t="t" r="r" b="b"/>
            <a:pathLst>
              <a:path w="156866" h="139437">
                <a:moveTo>
                  <a:pt x="84288" y="-5147"/>
                </a:moveTo>
                <a:cubicBezTo>
                  <a:pt x="83172" y="-7326"/>
                  <a:pt x="80911" y="-8715"/>
                  <a:pt x="78460" y="-8715"/>
                </a:cubicBezTo>
                <a:cubicBezTo>
                  <a:pt x="76009" y="-8715"/>
                  <a:pt x="73749" y="-7326"/>
                  <a:pt x="72632" y="-5147"/>
                </a:cubicBezTo>
                <a:lnTo>
                  <a:pt x="52588" y="34124"/>
                </a:lnTo>
                <a:lnTo>
                  <a:pt x="9042" y="41041"/>
                </a:lnTo>
                <a:cubicBezTo>
                  <a:pt x="6618" y="41423"/>
                  <a:pt x="4603" y="43138"/>
                  <a:pt x="3840" y="45480"/>
                </a:cubicBezTo>
                <a:cubicBezTo>
                  <a:pt x="3077" y="47822"/>
                  <a:pt x="3704" y="50382"/>
                  <a:pt x="5420" y="52125"/>
                </a:cubicBezTo>
                <a:lnTo>
                  <a:pt x="36575" y="83308"/>
                </a:lnTo>
                <a:lnTo>
                  <a:pt x="29712" y="126855"/>
                </a:lnTo>
                <a:cubicBezTo>
                  <a:pt x="29331" y="129279"/>
                  <a:pt x="30338" y="131730"/>
                  <a:pt x="32326" y="133173"/>
                </a:cubicBezTo>
                <a:cubicBezTo>
                  <a:pt x="34315" y="134616"/>
                  <a:pt x="36929" y="134834"/>
                  <a:pt x="39135" y="133718"/>
                </a:cubicBezTo>
                <a:lnTo>
                  <a:pt x="78460" y="113728"/>
                </a:lnTo>
                <a:lnTo>
                  <a:pt x="117759" y="133718"/>
                </a:lnTo>
                <a:cubicBezTo>
                  <a:pt x="119937" y="134834"/>
                  <a:pt x="122579" y="134616"/>
                  <a:pt x="124567" y="133173"/>
                </a:cubicBezTo>
                <a:cubicBezTo>
                  <a:pt x="126555" y="131730"/>
                  <a:pt x="127563" y="129306"/>
                  <a:pt x="127182" y="126855"/>
                </a:cubicBezTo>
                <a:lnTo>
                  <a:pt x="120291" y="83308"/>
                </a:lnTo>
                <a:lnTo>
                  <a:pt x="151447" y="52125"/>
                </a:lnTo>
                <a:cubicBezTo>
                  <a:pt x="153190" y="50382"/>
                  <a:pt x="153789" y="47822"/>
                  <a:pt x="153026" y="45480"/>
                </a:cubicBezTo>
                <a:cubicBezTo>
                  <a:pt x="152264" y="43138"/>
                  <a:pt x="150276" y="41423"/>
                  <a:pt x="147825" y="41041"/>
                </a:cubicBezTo>
                <a:lnTo>
                  <a:pt x="104305" y="34124"/>
                </a:lnTo>
                <a:lnTo>
                  <a:pt x="84288" y="-5147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61" name="Text 59"/>
          <p:cNvSpPr/>
          <p:nvPr/>
        </p:nvSpPr>
        <p:spPr>
          <a:xfrm>
            <a:off x="7895243" y="2135125"/>
            <a:ext cx="3699521" cy="209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能力要求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673106" y="2413999"/>
            <a:ext cx="3912944" cy="4008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架构师是产品架构转型为AI-Native友好型架构的第一责任人。没有AI友好的架构和技术看护，将会限制AI-Native的上限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516239" y="3054536"/>
            <a:ext cx="4148243" cy="958628"/>
          </a:xfrm>
          <a:custGeom>
            <a:avLst/>
            <a:gdLst/>
            <a:ahLst/>
            <a:cxnLst/>
            <a:rect l="l" t="t" r="r" b="b"/>
            <a:pathLst>
              <a:path w="4148243" h="958628">
                <a:moveTo>
                  <a:pt x="34859" y="0"/>
                </a:moveTo>
                <a:lnTo>
                  <a:pt x="4078522" y="0"/>
                </a:lnTo>
                <a:cubicBezTo>
                  <a:pt x="4117028" y="0"/>
                  <a:pt x="4148243" y="31215"/>
                  <a:pt x="4148243" y="69721"/>
                </a:cubicBezTo>
                <a:lnTo>
                  <a:pt x="4148243" y="888907"/>
                </a:lnTo>
                <a:cubicBezTo>
                  <a:pt x="4148243" y="927412"/>
                  <a:pt x="4117028" y="958628"/>
                  <a:pt x="4078522" y="958628"/>
                </a:cubicBezTo>
                <a:lnTo>
                  <a:pt x="34859" y="958628"/>
                </a:lnTo>
                <a:cubicBezTo>
                  <a:pt x="15607" y="958628"/>
                  <a:pt x="0" y="943021"/>
                  <a:pt x="0" y="923768"/>
                </a:cubicBezTo>
                <a:lnTo>
                  <a:pt x="0" y="34859"/>
                </a:lnTo>
                <a:cubicBezTo>
                  <a:pt x="0" y="15607"/>
                  <a:pt x="15607" y="0"/>
                  <a:pt x="3485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7516239" y="3054536"/>
            <a:ext cx="34859" cy="958628"/>
          </a:xfrm>
          <a:custGeom>
            <a:avLst/>
            <a:gdLst/>
            <a:ahLst/>
            <a:cxnLst/>
            <a:rect l="l" t="t" r="r" b="b"/>
            <a:pathLst>
              <a:path w="34859" h="958628">
                <a:moveTo>
                  <a:pt x="34859" y="0"/>
                </a:moveTo>
                <a:lnTo>
                  <a:pt x="34859" y="0"/>
                </a:lnTo>
                <a:lnTo>
                  <a:pt x="34859" y="958628"/>
                </a:lnTo>
                <a:lnTo>
                  <a:pt x="34859" y="958628"/>
                </a:lnTo>
                <a:cubicBezTo>
                  <a:pt x="15607" y="958628"/>
                  <a:pt x="0" y="943021"/>
                  <a:pt x="0" y="923768"/>
                </a:cubicBezTo>
                <a:lnTo>
                  <a:pt x="0" y="34859"/>
                </a:lnTo>
                <a:cubicBezTo>
                  <a:pt x="0" y="15620"/>
                  <a:pt x="15620" y="0"/>
                  <a:pt x="34859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65" name="Shape 63"/>
          <p:cNvSpPr/>
          <p:nvPr/>
        </p:nvSpPr>
        <p:spPr>
          <a:xfrm>
            <a:off x="7707965" y="3220117"/>
            <a:ext cx="104578" cy="139437"/>
          </a:xfrm>
          <a:custGeom>
            <a:avLst/>
            <a:gdLst/>
            <a:ahLst/>
            <a:cxnLst/>
            <a:rect l="l" t="t" r="r" b="b"/>
            <a:pathLst>
              <a:path w="104578" h="139437">
                <a:moveTo>
                  <a:pt x="84806" y="8715"/>
                </a:moveTo>
                <a:lnTo>
                  <a:pt x="87148" y="8715"/>
                </a:lnTo>
                <a:cubicBezTo>
                  <a:pt x="96761" y="8715"/>
                  <a:pt x="104578" y="16531"/>
                  <a:pt x="104578" y="26144"/>
                </a:cubicBezTo>
                <a:lnTo>
                  <a:pt x="104578" y="122007"/>
                </a:lnTo>
                <a:cubicBezTo>
                  <a:pt x="104578" y="131621"/>
                  <a:pt x="96761" y="139437"/>
                  <a:pt x="87148" y="139437"/>
                </a:cubicBezTo>
                <a:lnTo>
                  <a:pt x="17430" y="139437"/>
                </a:lnTo>
                <a:cubicBezTo>
                  <a:pt x="7816" y="139437"/>
                  <a:pt x="0" y="131621"/>
                  <a:pt x="0" y="122007"/>
                </a:cubicBezTo>
                <a:lnTo>
                  <a:pt x="0" y="26144"/>
                </a:lnTo>
                <a:cubicBezTo>
                  <a:pt x="0" y="16531"/>
                  <a:pt x="7816" y="8715"/>
                  <a:pt x="17430" y="8715"/>
                </a:cubicBezTo>
                <a:lnTo>
                  <a:pt x="19772" y="8715"/>
                </a:lnTo>
                <a:cubicBezTo>
                  <a:pt x="22767" y="3513"/>
                  <a:pt x="28405" y="0"/>
                  <a:pt x="34859" y="0"/>
                </a:cubicBezTo>
                <a:lnTo>
                  <a:pt x="69718" y="0"/>
                </a:lnTo>
                <a:cubicBezTo>
                  <a:pt x="76173" y="0"/>
                  <a:pt x="81810" y="3513"/>
                  <a:pt x="84806" y="8715"/>
                </a:cubicBezTo>
                <a:close/>
                <a:moveTo>
                  <a:pt x="67540" y="30502"/>
                </a:moveTo>
                <a:cubicBezTo>
                  <a:pt x="71162" y="30502"/>
                  <a:pt x="74076" y="27588"/>
                  <a:pt x="74076" y="23966"/>
                </a:cubicBezTo>
                <a:cubicBezTo>
                  <a:pt x="74076" y="20344"/>
                  <a:pt x="71162" y="17430"/>
                  <a:pt x="67540" y="17430"/>
                </a:cubicBezTo>
                <a:lnTo>
                  <a:pt x="37038" y="17430"/>
                </a:lnTo>
                <a:cubicBezTo>
                  <a:pt x="33416" y="17430"/>
                  <a:pt x="30502" y="20344"/>
                  <a:pt x="30502" y="23966"/>
                </a:cubicBezTo>
                <a:cubicBezTo>
                  <a:pt x="30502" y="27588"/>
                  <a:pt x="33416" y="30502"/>
                  <a:pt x="37038" y="30502"/>
                </a:cubicBezTo>
                <a:lnTo>
                  <a:pt x="67540" y="30502"/>
                </a:lnTo>
                <a:close/>
                <a:moveTo>
                  <a:pt x="75274" y="70998"/>
                </a:moveTo>
                <a:cubicBezTo>
                  <a:pt x="77180" y="67948"/>
                  <a:pt x="76254" y="63918"/>
                  <a:pt x="73204" y="61984"/>
                </a:cubicBezTo>
                <a:cubicBezTo>
                  <a:pt x="70154" y="60050"/>
                  <a:pt x="66124" y="61004"/>
                  <a:pt x="64190" y="64054"/>
                </a:cubicBezTo>
                <a:lnTo>
                  <a:pt x="47468" y="90825"/>
                </a:lnTo>
                <a:lnTo>
                  <a:pt x="40115" y="81020"/>
                </a:lnTo>
                <a:cubicBezTo>
                  <a:pt x="37937" y="78134"/>
                  <a:pt x="33852" y="77534"/>
                  <a:pt x="30965" y="79713"/>
                </a:cubicBezTo>
                <a:cubicBezTo>
                  <a:pt x="28078" y="81892"/>
                  <a:pt x="27479" y="85977"/>
                  <a:pt x="29658" y="88864"/>
                </a:cubicBezTo>
                <a:lnTo>
                  <a:pt x="42730" y="106293"/>
                </a:lnTo>
                <a:cubicBezTo>
                  <a:pt x="44010" y="108009"/>
                  <a:pt x="46079" y="108989"/>
                  <a:pt x="48231" y="108908"/>
                </a:cubicBezTo>
                <a:cubicBezTo>
                  <a:pt x="50382" y="108826"/>
                  <a:pt x="52343" y="107682"/>
                  <a:pt x="53487" y="105830"/>
                </a:cubicBezTo>
                <a:lnTo>
                  <a:pt x="75274" y="70971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7895243" y="3193973"/>
            <a:ext cx="3699521" cy="209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认证机制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698161" y="3507706"/>
            <a:ext cx="106756" cy="122007"/>
          </a:xfrm>
          <a:custGeom>
            <a:avLst/>
            <a:gdLst/>
            <a:ahLst/>
            <a:cxnLst/>
            <a:rect l="l" t="t" r="r" b="b"/>
            <a:pathLst>
              <a:path w="106756" h="122007">
                <a:moveTo>
                  <a:pt x="103611" y="16704"/>
                </a:moveTo>
                <a:cubicBezTo>
                  <a:pt x="107018" y="19183"/>
                  <a:pt x="107781" y="23949"/>
                  <a:pt x="105303" y="27356"/>
                </a:cubicBezTo>
                <a:lnTo>
                  <a:pt x="44299" y="111236"/>
                </a:lnTo>
                <a:cubicBezTo>
                  <a:pt x="42988" y="113047"/>
                  <a:pt x="40963" y="114167"/>
                  <a:pt x="38723" y="114358"/>
                </a:cubicBezTo>
                <a:cubicBezTo>
                  <a:pt x="36483" y="114549"/>
                  <a:pt x="34315" y="113714"/>
                  <a:pt x="32742" y="112142"/>
                </a:cubicBezTo>
                <a:lnTo>
                  <a:pt x="2240" y="81640"/>
                </a:lnTo>
                <a:cubicBezTo>
                  <a:pt x="-739" y="78661"/>
                  <a:pt x="-739" y="73824"/>
                  <a:pt x="2240" y="70845"/>
                </a:cubicBezTo>
                <a:cubicBezTo>
                  <a:pt x="5219" y="67866"/>
                  <a:pt x="10056" y="67866"/>
                  <a:pt x="13035" y="70845"/>
                </a:cubicBezTo>
                <a:lnTo>
                  <a:pt x="37222" y="95032"/>
                </a:lnTo>
                <a:lnTo>
                  <a:pt x="92983" y="18373"/>
                </a:lnTo>
                <a:cubicBezTo>
                  <a:pt x="95461" y="14965"/>
                  <a:pt x="100227" y="14202"/>
                  <a:pt x="103635" y="16681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68" name="Text 66"/>
          <p:cNvSpPr/>
          <p:nvPr/>
        </p:nvSpPr>
        <p:spPr>
          <a:xfrm>
            <a:off x="7895590" y="3472815"/>
            <a:ext cx="194564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sz="96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清楚知道当前AI-Native能力边界</a:t>
            </a:r>
            <a:endParaRPr lang="en-US" sz="960" dirty="0">
              <a:solidFill>
                <a:srgbClr val="E5E7EB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698161" y="3734290"/>
            <a:ext cx="106756" cy="122007"/>
          </a:xfrm>
          <a:custGeom>
            <a:avLst/>
            <a:gdLst/>
            <a:ahLst/>
            <a:cxnLst/>
            <a:rect l="l" t="t" r="r" b="b"/>
            <a:pathLst>
              <a:path w="106756" h="122007">
                <a:moveTo>
                  <a:pt x="103611" y="16704"/>
                </a:moveTo>
                <a:cubicBezTo>
                  <a:pt x="107018" y="19183"/>
                  <a:pt x="107781" y="23949"/>
                  <a:pt x="105303" y="27356"/>
                </a:cubicBezTo>
                <a:lnTo>
                  <a:pt x="44299" y="111236"/>
                </a:lnTo>
                <a:cubicBezTo>
                  <a:pt x="42988" y="113047"/>
                  <a:pt x="40963" y="114167"/>
                  <a:pt x="38723" y="114358"/>
                </a:cubicBezTo>
                <a:cubicBezTo>
                  <a:pt x="36483" y="114549"/>
                  <a:pt x="34315" y="113714"/>
                  <a:pt x="32742" y="112142"/>
                </a:cubicBezTo>
                <a:lnTo>
                  <a:pt x="2240" y="81640"/>
                </a:lnTo>
                <a:cubicBezTo>
                  <a:pt x="-739" y="78661"/>
                  <a:pt x="-739" y="73824"/>
                  <a:pt x="2240" y="70845"/>
                </a:cubicBezTo>
                <a:cubicBezTo>
                  <a:pt x="5219" y="67866"/>
                  <a:pt x="10056" y="67866"/>
                  <a:pt x="13035" y="70845"/>
                </a:cubicBezTo>
                <a:lnTo>
                  <a:pt x="37222" y="95032"/>
                </a:lnTo>
                <a:lnTo>
                  <a:pt x="92983" y="18373"/>
                </a:lnTo>
                <a:cubicBezTo>
                  <a:pt x="95461" y="14965"/>
                  <a:pt x="100227" y="14202"/>
                  <a:pt x="103635" y="16681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70" name="Text 68"/>
          <p:cNvSpPr/>
          <p:nvPr/>
        </p:nvSpPr>
        <p:spPr>
          <a:xfrm>
            <a:off x="7895333" y="3699431"/>
            <a:ext cx="1803963" cy="174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述职增加AI-Native架构演进内容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503167" y="4122099"/>
            <a:ext cx="4156958" cy="566462"/>
          </a:xfrm>
          <a:custGeom>
            <a:avLst/>
            <a:gdLst/>
            <a:ahLst/>
            <a:cxnLst/>
            <a:rect l="l" t="t" r="r" b="b"/>
            <a:pathLst>
              <a:path w="4156958" h="566462">
                <a:moveTo>
                  <a:pt x="69720" y="0"/>
                </a:moveTo>
                <a:lnTo>
                  <a:pt x="4087238" y="0"/>
                </a:lnTo>
                <a:cubicBezTo>
                  <a:pt x="4125743" y="0"/>
                  <a:pt x="4156958" y="31215"/>
                  <a:pt x="4156958" y="69720"/>
                </a:cubicBezTo>
                <a:lnTo>
                  <a:pt x="4156958" y="496742"/>
                </a:lnTo>
                <a:cubicBezTo>
                  <a:pt x="4156958" y="535247"/>
                  <a:pt x="4125743" y="566462"/>
                  <a:pt x="4087238" y="566462"/>
                </a:cubicBezTo>
                <a:lnTo>
                  <a:pt x="69720" y="566462"/>
                </a:lnTo>
                <a:cubicBezTo>
                  <a:pt x="31215" y="566462"/>
                  <a:pt x="0" y="535247"/>
                  <a:pt x="0" y="496742"/>
                </a:cubicBezTo>
                <a:lnTo>
                  <a:pt x="0" y="69720"/>
                </a:lnTo>
                <a:cubicBezTo>
                  <a:pt x="0" y="31241"/>
                  <a:pt x="31241" y="0"/>
                  <a:pt x="6972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1270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629532" y="4248463"/>
            <a:ext cx="122007" cy="122007"/>
          </a:xfrm>
          <a:custGeom>
            <a:avLst/>
            <a:gdLst/>
            <a:ahLst/>
            <a:cxnLst/>
            <a:rect l="l" t="t" r="r" b="b"/>
            <a:pathLst>
              <a:path w="122007" h="122007">
                <a:moveTo>
                  <a:pt x="61004" y="122007"/>
                </a:moveTo>
                <a:cubicBezTo>
                  <a:pt x="94672" y="122007"/>
                  <a:pt x="122007" y="94672"/>
                  <a:pt x="122007" y="61004"/>
                </a:cubicBezTo>
                <a:cubicBezTo>
                  <a:pt x="122007" y="27335"/>
                  <a:pt x="94672" y="0"/>
                  <a:pt x="61004" y="0"/>
                </a:cubicBezTo>
                <a:cubicBezTo>
                  <a:pt x="27335" y="0"/>
                  <a:pt x="0" y="27335"/>
                  <a:pt x="0" y="61004"/>
                </a:cubicBezTo>
                <a:cubicBezTo>
                  <a:pt x="0" y="94672"/>
                  <a:pt x="27335" y="122007"/>
                  <a:pt x="61004" y="122007"/>
                </a:cubicBezTo>
                <a:close/>
                <a:moveTo>
                  <a:pt x="61004" y="32408"/>
                </a:moveTo>
                <a:cubicBezTo>
                  <a:pt x="64173" y="32408"/>
                  <a:pt x="66723" y="34958"/>
                  <a:pt x="66723" y="38127"/>
                </a:cubicBezTo>
                <a:lnTo>
                  <a:pt x="66723" y="64816"/>
                </a:lnTo>
                <a:cubicBezTo>
                  <a:pt x="66723" y="67986"/>
                  <a:pt x="64173" y="70535"/>
                  <a:pt x="61004" y="70535"/>
                </a:cubicBezTo>
                <a:cubicBezTo>
                  <a:pt x="57834" y="70535"/>
                  <a:pt x="55284" y="67986"/>
                  <a:pt x="55284" y="64816"/>
                </a:cubicBezTo>
                <a:lnTo>
                  <a:pt x="55284" y="38127"/>
                </a:lnTo>
                <a:cubicBezTo>
                  <a:pt x="55284" y="34958"/>
                  <a:pt x="57834" y="32408"/>
                  <a:pt x="61004" y="32408"/>
                </a:cubicBezTo>
                <a:close/>
                <a:moveTo>
                  <a:pt x="54641" y="83880"/>
                </a:moveTo>
                <a:cubicBezTo>
                  <a:pt x="54496" y="81518"/>
                  <a:pt x="55674" y="79271"/>
                  <a:pt x="57699" y="78047"/>
                </a:cubicBezTo>
                <a:cubicBezTo>
                  <a:pt x="59723" y="76822"/>
                  <a:pt x="62260" y="76822"/>
                  <a:pt x="64285" y="78047"/>
                </a:cubicBezTo>
                <a:cubicBezTo>
                  <a:pt x="66309" y="79271"/>
                  <a:pt x="67487" y="81518"/>
                  <a:pt x="67342" y="83880"/>
                </a:cubicBezTo>
                <a:cubicBezTo>
                  <a:pt x="67487" y="86242"/>
                  <a:pt x="66309" y="88489"/>
                  <a:pt x="64285" y="89713"/>
                </a:cubicBezTo>
                <a:cubicBezTo>
                  <a:pt x="62260" y="90938"/>
                  <a:pt x="59723" y="90938"/>
                  <a:pt x="57699" y="89713"/>
                </a:cubicBezTo>
                <a:cubicBezTo>
                  <a:pt x="55674" y="88489"/>
                  <a:pt x="54496" y="86242"/>
                  <a:pt x="54641" y="83880"/>
                </a:cubicBezTo>
                <a:close/>
              </a:path>
            </a:pathLst>
          </a:custGeom>
          <a:solidFill>
            <a:srgbClr val="EF4444"/>
          </a:solidFill>
        </p:spPr>
      </p:sp>
      <p:sp>
        <p:nvSpPr>
          <p:cNvPr id="73" name="Text 71"/>
          <p:cNvSpPr/>
          <p:nvPr/>
        </p:nvSpPr>
        <p:spPr>
          <a:xfrm>
            <a:off x="7816810" y="4231034"/>
            <a:ext cx="3795384" cy="348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考核不通过：</a:t>
            </a:r>
            <a:r>
              <a:rPr lang="en-US" sz="96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集训考核不通过（一次补考机会），架构师述职一票否决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0407" y="330407"/>
            <a:ext cx="49561" cy="330407"/>
          </a:xfrm>
          <a:custGeom>
            <a:avLst/>
            <a:gdLst/>
            <a:ahLst/>
            <a:cxnLst/>
            <a:rect l="l" t="t" r="r" b="b"/>
            <a:pathLst>
              <a:path w="49561" h="330407">
                <a:moveTo>
                  <a:pt x="0" y="0"/>
                </a:moveTo>
                <a:lnTo>
                  <a:pt x="49561" y="0"/>
                </a:lnTo>
                <a:lnTo>
                  <a:pt x="49561" y="330407"/>
                </a:lnTo>
                <a:lnTo>
                  <a:pt x="0" y="330407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479089" y="330407"/>
            <a:ext cx="2824976" cy="330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团队考核与激励体系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8650" y="726894"/>
            <a:ext cx="11407285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研发主管双维度考核，多层级激励驱动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537" y="1127512"/>
            <a:ext cx="6806374" cy="2618472"/>
          </a:xfrm>
          <a:custGeom>
            <a:avLst/>
            <a:gdLst/>
            <a:ahLst/>
            <a:cxnLst/>
            <a:rect l="l" t="t" r="r" b="b"/>
            <a:pathLst>
              <a:path w="6806374" h="2618472">
                <a:moveTo>
                  <a:pt x="99109" y="0"/>
                </a:moveTo>
                <a:lnTo>
                  <a:pt x="6707265" y="0"/>
                </a:lnTo>
                <a:cubicBezTo>
                  <a:pt x="6762001" y="0"/>
                  <a:pt x="6806374" y="44373"/>
                  <a:pt x="6806374" y="99109"/>
                </a:cubicBezTo>
                <a:lnTo>
                  <a:pt x="6806374" y="2519362"/>
                </a:lnTo>
                <a:cubicBezTo>
                  <a:pt x="6806374" y="2574099"/>
                  <a:pt x="6762001" y="2618472"/>
                  <a:pt x="6707265" y="2618472"/>
                </a:cubicBezTo>
                <a:lnTo>
                  <a:pt x="99109" y="2618472"/>
                </a:lnTo>
                <a:cubicBezTo>
                  <a:pt x="44373" y="2618472"/>
                  <a:pt x="0" y="2574099"/>
                  <a:pt x="0" y="2519362"/>
                </a:cubicBezTo>
                <a:lnTo>
                  <a:pt x="0" y="99109"/>
                </a:lnTo>
                <a:cubicBezTo>
                  <a:pt x="0" y="44373"/>
                  <a:pt x="44373" y="0"/>
                  <a:pt x="99109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3870" y="1296846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66083" y="0"/>
                </a:moveTo>
                <a:lnTo>
                  <a:pt x="330405" y="0"/>
                </a:lnTo>
                <a:cubicBezTo>
                  <a:pt x="366902" y="0"/>
                  <a:pt x="396488" y="29586"/>
                  <a:pt x="396488" y="66083"/>
                </a:cubicBezTo>
                <a:lnTo>
                  <a:pt x="396488" y="330405"/>
                </a:lnTo>
                <a:cubicBezTo>
                  <a:pt x="396488" y="366902"/>
                  <a:pt x="366902" y="396488"/>
                  <a:pt x="330405" y="396488"/>
                </a:cubicBezTo>
                <a:lnTo>
                  <a:pt x="66083" y="396488"/>
                </a:lnTo>
                <a:cubicBezTo>
                  <a:pt x="29586" y="396488"/>
                  <a:pt x="0" y="366902"/>
                  <a:pt x="0" y="330405"/>
                </a:cubicBezTo>
                <a:lnTo>
                  <a:pt x="0" y="66083"/>
                </a:lnTo>
                <a:cubicBezTo>
                  <a:pt x="0" y="29611"/>
                  <a:pt x="29611" y="0"/>
                  <a:pt x="66083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7" name="Shape 5"/>
          <p:cNvSpPr/>
          <p:nvPr/>
        </p:nvSpPr>
        <p:spPr>
          <a:xfrm>
            <a:off x="629837" y="1412488"/>
            <a:ext cx="144553" cy="165203"/>
          </a:xfrm>
          <a:custGeom>
            <a:avLst/>
            <a:gdLst/>
            <a:ahLst/>
            <a:cxnLst/>
            <a:rect l="l" t="t" r="r" b="b"/>
            <a:pathLst>
              <a:path w="144553" h="165203">
                <a:moveTo>
                  <a:pt x="72276" y="80020"/>
                </a:moveTo>
                <a:cubicBezTo>
                  <a:pt x="50907" y="80020"/>
                  <a:pt x="33557" y="62671"/>
                  <a:pt x="33557" y="41301"/>
                </a:cubicBezTo>
                <a:cubicBezTo>
                  <a:pt x="33557" y="19931"/>
                  <a:pt x="50907" y="2581"/>
                  <a:pt x="72276" y="2581"/>
                </a:cubicBezTo>
                <a:cubicBezTo>
                  <a:pt x="93646" y="2581"/>
                  <a:pt x="110996" y="19931"/>
                  <a:pt x="110996" y="41301"/>
                </a:cubicBezTo>
                <a:cubicBezTo>
                  <a:pt x="110996" y="62671"/>
                  <a:pt x="93646" y="80020"/>
                  <a:pt x="72276" y="80020"/>
                </a:cubicBezTo>
                <a:close/>
                <a:moveTo>
                  <a:pt x="62435" y="98089"/>
                </a:moveTo>
                <a:lnTo>
                  <a:pt x="82118" y="98089"/>
                </a:lnTo>
                <a:cubicBezTo>
                  <a:pt x="85247" y="98089"/>
                  <a:pt x="87764" y="100606"/>
                  <a:pt x="87764" y="103736"/>
                </a:cubicBezTo>
                <a:cubicBezTo>
                  <a:pt x="87764" y="105091"/>
                  <a:pt x="87280" y="106382"/>
                  <a:pt x="86409" y="107414"/>
                </a:cubicBezTo>
                <a:lnTo>
                  <a:pt x="77568" y="117740"/>
                </a:lnTo>
                <a:lnTo>
                  <a:pt x="87571" y="154878"/>
                </a:lnTo>
                <a:lnTo>
                  <a:pt x="87764" y="154878"/>
                </a:lnTo>
                <a:lnTo>
                  <a:pt x="98928" y="110189"/>
                </a:lnTo>
                <a:cubicBezTo>
                  <a:pt x="99638" y="107382"/>
                  <a:pt x="102510" y="105672"/>
                  <a:pt x="105220" y="106705"/>
                </a:cubicBezTo>
                <a:cubicBezTo>
                  <a:pt x="125193" y="114319"/>
                  <a:pt x="139390" y="133679"/>
                  <a:pt x="139390" y="156330"/>
                </a:cubicBezTo>
                <a:cubicBezTo>
                  <a:pt x="139390" y="161202"/>
                  <a:pt x="135421" y="165171"/>
                  <a:pt x="130549" y="165171"/>
                </a:cubicBezTo>
                <a:lnTo>
                  <a:pt x="14004" y="165203"/>
                </a:lnTo>
                <a:cubicBezTo>
                  <a:pt x="9131" y="165203"/>
                  <a:pt x="5163" y="161235"/>
                  <a:pt x="5163" y="156362"/>
                </a:cubicBezTo>
                <a:cubicBezTo>
                  <a:pt x="5163" y="133711"/>
                  <a:pt x="19360" y="114352"/>
                  <a:pt x="39333" y="106737"/>
                </a:cubicBezTo>
                <a:cubicBezTo>
                  <a:pt x="42043" y="105704"/>
                  <a:pt x="44915" y="107414"/>
                  <a:pt x="45624" y="110222"/>
                </a:cubicBezTo>
                <a:lnTo>
                  <a:pt x="56789" y="154910"/>
                </a:lnTo>
                <a:lnTo>
                  <a:pt x="56982" y="154910"/>
                </a:lnTo>
                <a:lnTo>
                  <a:pt x="66985" y="117772"/>
                </a:lnTo>
                <a:lnTo>
                  <a:pt x="58144" y="107447"/>
                </a:lnTo>
                <a:cubicBezTo>
                  <a:pt x="57273" y="106414"/>
                  <a:pt x="56789" y="105123"/>
                  <a:pt x="56789" y="103768"/>
                </a:cubicBezTo>
                <a:cubicBezTo>
                  <a:pt x="56789" y="100638"/>
                  <a:pt x="59305" y="98122"/>
                  <a:pt x="62435" y="9812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999480" y="1362927"/>
            <a:ext cx="1288585" cy="26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研发主管考核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0390" y="1825496"/>
            <a:ext cx="3155382" cy="1751154"/>
          </a:xfrm>
          <a:custGeom>
            <a:avLst/>
            <a:gdLst/>
            <a:ahLst/>
            <a:cxnLst/>
            <a:rect l="l" t="t" r="r" b="b"/>
            <a:pathLst>
              <a:path w="3155382" h="1751154">
                <a:moveTo>
                  <a:pt x="33041" y="0"/>
                </a:moveTo>
                <a:lnTo>
                  <a:pt x="3089294" y="0"/>
                </a:lnTo>
                <a:cubicBezTo>
                  <a:pt x="3125793" y="0"/>
                  <a:pt x="3155382" y="29589"/>
                  <a:pt x="3155382" y="66089"/>
                </a:cubicBezTo>
                <a:lnTo>
                  <a:pt x="3155382" y="1685066"/>
                </a:lnTo>
                <a:cubicBezTo>
                  <a:pt x="3155382" y="1721566"/>
                  <a:pt x="3125793" y="1751154"/>
                  <a:pt x="3089294" y="1751154"/>
                </a:cubicBezTo>
                <a:lnTo>
                  <a:pt x="33041" y="1751154"/>
                </a:lnTo>
                <a:cubicBezTo>
                  <a:pt x="14793" y="1751154"/>
                  <a:pt x="0" y="1736362"/>
                  <a:pt x="0" y="1718114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20390" y="1825496"/>
            <a:ext cx="33041" cy="1751154"/>
          </a:xfrm>
          <a:custGeom>
            <a:avLst/>
            <a:gdLst/>
            <a:ahLst/>
            <a:cxnLst/>
            <a:rect l="l" t="t" r="r" b="b"/>
            <a:pathLst>
              <a:path w="33041" h="1751154">
                <a:moveTo>
                  <a:pt x="33041" y="0"/>
                </a:moveTo>
                <a:lnTo>
                  <a:pt x="33041" y="0"/>
                </a:lnTo>
                <a:lnTo>
                  <a:pt x="33041" y="1751154"/>
                </a:lnTo>
                <a:lnTo>
                  <a:pt x="33041" y="1751154"/>
                </a:lnTo>
                <a:cubicBezTo>
                  <a:pt x="14793" y="1751154"/>
                  <a:pt x="0" y="1736362"/>
                  <a:pt x="0" y="1718114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1" name="Shape 9"/>
          <p:cNvSpPr/>
          <p:nvPr/>
        </p:nvSpPr>
        <p:spPr>
          <a:xfrm>
            <a:off x="669073" y="1957659"/>
            <a:ext cx="264325" cy="264325"/>
          </a:xfrm>
          <a:custGeom>
            <a:avLst/>
            <a:gdLst/>
            <a:ahLst/>
            <a:cxnLst/>
            <a:rect l="l" t="t" r="r" b="b"/>
            <a:pathLst>
              <a:path w="264325" h="264325">
                <a:moveTo>
                  <a:pt x="66081" y="0"/>
                </a:moveTo>
                <a:lnTo>
                  <a:pt x="198244" y="0"/>
                </a:lnTo>
                <a:cubicBezTo>
                  <a:pt x="234715" y="0"/>
                  <a:pt x="264325" y="29610"/>
                  <a:pt x="264325" y="66081"/>
                </a:cubicBezTo>
                <a:lnTo>
                  <a:pt x="264325" y="198244"/>
                </a:lnTo>
                <a:cubicBezTo>
                  <a:pt x="264325" y="234715"/>
                  <a:pt x="234715" y="264325"/>
                  <a:pt x="198244" y="264325"/>
                </a:cubicBezTo>
                <a:lnTo>
                  <a:pt x="66081" y="264325"/>
                </a:lnTo>
                <a:cubicBezTo>
                  <a:pt x="29610" y="264325"/>
                  <a:pt x="0" y="234715"/>
                  <a:pt x="0" y="198244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2" name="Text 10"/>
          <p:cNvSpPr/>
          <p:nvPr/>
        </p:nvSpPr>
        <p:spPr>
          <a:xfrm>
            <a:off x="636033" y="1957659"/>
            <a:ext cx="330407" cy="26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9480" y="1974179"/>
            <a:ext cx="966439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计划管理维度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7984" y="2354146"/>
            <a:ext cx="57821" cy="115642"/>
          </a:xfrm>
          <a:custGeom>
            <a:avLst/>
            <a:gdLst/>
            <a:ahLst/>
            <a:cxnLst/>
            <a:rect l="l" t="t" r="r" b="b"/>
            <a:pathLst>
              <a:path w="57821" h="115642">
                <a:moveTo>
                  <a:pt x="55811" y="52717"/>
                </a:moveTo>
                <a:cubicBezTo>
                  <a:pt x="58634" y="55540"/>
                  <a:pt x="58634" y="60125"/>
                  <a:pt x="55811" y="62948"/>
                </a:cubicBezTo>
                <a:lnTo>
                  <a:pt x="19673" y="99086"/>
                </a:lnTo>
                <a:cubicBezTo>
                  <a:pt x="16849" y="101910"/>
                  <a:pt x="12264" y="101910"/>
                  <a:pt x="9441" y="99086"/>
                </a:cubicBezTo>
                <a:cubicBezTo>
                  <a:pt x="6618" y="96263"/>
                  <a:pt x="6618" y="91678"/>
                  <a:pt x="9441" y="88855"/>
                </a:cubicBezTo>
                <a:lnTo>
                  <a:pt x="40475" y="57821"/>
                </a:lnTo>
                <a:lnTo>
                  <a:pt x="9464" y="26787"/>
                </a:lnTo>
                <a:cubicBezTo>
                  <a:pt x="6640" y="23964"/>
                  <a:pt x="6640" y="19379"/>
                  <a:pt x="9464" y="16556"/>
                </a:cubicBezTo>
                <a:cubicBezTo>
                  <a:pt x="12287" y="13733"/>
                  <a:pt x="16872" y="13733"/>
                  <a:pt x="19695" y="16556"/>
                </a:cubicBezTo>
                <a:lnTo>
                  <a:pt x="55834" y="52694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15" name="Text 13"/>
          <p:cNvSpPr/>
          <p:nvPr/>
        </p:nvSpPr>
        <p:spPr>
          <a:xfrm>
            <a:off x="850797" y="2321106"/>
            <a:ext cx="2750634" cy="330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重点关注研发项目周期的端到端压缩效果，尤其是版本发布时间的提前幅度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7984" y="2750634"/>
            <a:ext cx="57821" cy="115642"/>
          </a:xfrm>
          <a:custGeom>
            <a:avLst/>
            <a:gdLst/>
            <a:ahLst/>
            <a:cxnLst/>
            <a:rect l="l" t="t" r="r" b="b"/>
            <a:pathLst>
              <a:path w="57821" h="115642">
                <a:moveTo>
                  <a:pt x="55811" y="52717"/>
                </a:moveTo>
                <a:cubicBezTo>
                  <a:pt x="58634" y="55540"/>
                  <a:pt x="58634" y="60125"/>
                  <a:pt x="55811" y="62948"/>
                </a:cubicBezTo>
                <a:lnTo>
                  <a:pt x="19673" y="99086"/>
                </a:lnTo>
                <a:cubicBezTo>
                  <a:pt x="16849" y="101910"/>
                  <a:pt x="12264" y="101910"/>
                  <a:pt x="9441" y="99086"/>
                </a:cubicBezTo>
                <a:cubicBezTo>
                  <a:pt x="6618" y="96263"/>
                  <a:pt x="6618" y="91678"/>
                  <a:pt x="9441" y="88855"/>
                </a:cubicBezTo>
                <a:lnTo>
                  <a:pt x="40475" y="57821"/>
                </a:lnTo>
                <a:lnTo>
                  <a:pt x="9464" y="26787"/>
                </a:lnTo>
                <a:cubicBezTo>
                  <a:pt x="6640" y="23964"/>
                  <a:pt x="6640" y="19379"/>
                  <a:pt x="9464" y="16556"/>
                </a:cubicBezTo>
                <a:cubicBezTo>
                  <a:pt x="12287" y="13733"/>
                  <a:pt x="16872" y="13733"/>
                  <a:pt x="19695" y="16556"/>
                </a:cubicBezTo>
                <a:lnTo>
                  <a:pt x="55834" y="52694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17" name="Text 15"/>
          <p:cNvSpPr/>
          <p:nvPr/>
        </p:nvSpPr>
        <p:spPr>
          <a:xfrm>
            <a:off x="850797" y="2717593"/>
            <a:ext cx="2750634" cy="330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制定项目计划时，确保版本质量的情况下应充分评估并合理纳入AI-Native所带来的效率提升空间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2114" y="3147122"/>
            <a:ext cx="57821" cy="115642"/>
          </a:xfrm>
          <a:custGeom>
            <a:avLst/>
            <a:gdLst/>
            <a:ahLst/>
            <a:cxnLst/>
            <a:rect l="l" t="t" r="r" b="b"/>
            <a:pathLst>
              <a:path w="57821" h="115642">
                <a:moveTo>
                  <a:pt x="55811" y="52717"/>
                </a:moveTo>
                <a:cubicBezTo>
                  <a:pt x="58634" y="55540"/>
                  <a:pt x="58634" y="60125"/>
                  <a:pt x="55811" y="62948"/>
                </a:cubicBezTo>
                <a:lnTo>
                  <a:pt x="19673" y="99086"/>
                </a:lnTo>
                <a:cubicBezTo>
                  <a:pt x="16849" y="101910"/>
                  <a:pt x="12264" y="101910"/>
                  <a:pt x="9441" y="99086"/>
                </a:cubicBezTo>
                <a:cubicBezTo>
                  <a:pt x="6618" y="96263"/>
                  <a:pt x="6618" y="91678"/>
                  <a:pt x="9441" y="88855"/>
                </a:cubicBezTo>
                <a:lnTo>
                  <a:pt x="40475" y="57821"/>
                </a:lnTo>
                <a:lnTo>
                  <a:pt x="9464" y="26787"/>
                </a:lnTo>
                <a:cubicBezTo>
                  <a:pt x="6640" y="23964"/>
                  <a:pt x="6640" y="19379"/>
                  <a:pt x="9464" y="16556"/>
                </a:cubicBezTo>
                <a:cubicBezTo>
                  <a:pt x="12287" y="13733"/>
                  <a:pt x="16872" y="13733"/>
                  <a:pt x="19695" y="16556"/>
                </a:cubicBezTo>
                <a:lnTo>
                  <a:pt x="55834" y="52694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19" name="Text 17"/>
          <p:cNvSpPr/>
          <p:nvPr/>
        </p:nvSpPr>
        <p:spPr>
          <a:xfrm>
            <a:off x="857895" y="3114081"/>
            <a:ext cx="2742374" cy="330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各团队提交的项目发布时间目标，须提交至RC进行评审与校准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21680" y="1825496"/>
            <a:ext cx="3155382" cy="1751154"/>
          </a:xfrm>
          <a:custGeom>
            <a:avLst/>
            <a:gdLst/>
            <a:ahLst/>
            <a:cxnLst/>
            <a:rect l="l" t="t" r="r" b="b"/>
            <a:pathLst>
              <a:path w="3155382" h="1751154">
                <a:moveTo>
                  <a:pt x="33041" y="0"/>
                </a:moveTo>
                <a:lnTo>
                  <a:pt x="3089294" y="0"/>
                </a:lnTo>
                <a:cubicBezTo>
                  <a:pt x="3125793" y="0"/>
                  <a:pt x="3155382" y="29589"/>
                  <a:pt x="3155382" y="66089"/>
                </a:cubicBezTo>
                <a:lnTo>
                  <a:pt x="3155382" y="1685066"/>
                </a:lnTo>
                <a:cubicBezTo>
                  <a:pt x="3155382" y="1721566"/>
                  <a:pt x="3125793" y="1751154"/>
                  <a:pt x="3089294" y="1751154"/>
                </a:cubicBezTo>
                <a:lnTo>
                  <a:pt x="33041" y="1751154"/>
                </a:lnTo>
                <a:cubicBezTo>
                  <a:pt x="14793" y="1751154"/>
                  <a:pt x="0" y="1736362"/>
                  <a:pt x="0" y="1718114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3821680" y="1825496"/>
            <a:ext cx="33041" cy="1751154"/>
          </a:xfrm>
          <a:custGeom>
            <a:avLst/>
            <a:gdLst/>
            <a:ahLst/>
            <a:cxnLst/>
            <a:rect l="l" t="t" r="r" b="b"/>
            <a:pathLst>
              <a:path w="33041" h="1751154">
                <a:moveTo>
                  <a:pt x="33041" y="0"/>
                </a:moveTo>
                <a:lnTo>
                  <a:pt x="33041" y="0"/>
                </a:lnTo>
                <a:lnTo>
                  <a:pt x="33041" y="1751154"/>
                </a:lnTo>
                <a:lnTo>
                  <a:pt x="33041" y="1751154"/>
                </a:lnTo>
                <a:cubicBezTo>
                  <a:pt x="14793" y="1751154"/>
                  <a:pt x="0" y="1736362"/>
                  <a:pt x="0" y="1718114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22" name="Shape 20"/>
          <p:cNvSpPr/>
          <p:nvPr/>
        </p:nvSpPr>
        <p:spPr>
          <a:xfrm>
            <a:off x="3970363" y="1957659"/>
            <a:ext cx="264325" cy="264325"/>
          </a:xfrm>
          <a:custGeom>
            <a:avLst/>
            <a:gdLst/>
            <a:ahLst/>
            <a:cxnLst/>
            <a:rect l="l" t="t" r="r" b="b"/>
            <a:pathLst>
              <a:path w="264325" h="264325">
                <a:moveTo>
                  <a:pt x="66081" y="0"/>
                </a:moveTo>
                <a:lnTo>
                  <a:pt x="198244" y="0"/>
                </a:lnTo>
                <a:cubicBezTo>
                  <a:pt x="234715" y="0"/>
                  <a:pt x="264325" y="29610"/>
                  <a:pt x="264325" y="66081"/>
                </a:cubicBezTo>
                <a:lnTo>
                  <a:pt x="264325" y="198244"/>
                </a:lnTo>
                <a:cubicBezTo>
                  <a:pt x="264325" y="234715"/>
                  <a:pt x="234715" y="264325"/>
                  <a:pt x="198244" y="264325"/>
                </a:cubicBezTo>
                <a:lnTo>
                  <a:pt x="66081" y="264325"/>
                </a:lnTo>
                <a:cubicBezTo>
                  <a:pt x="29610" y="264325"/>
                  <a:pt x="0" y="234715"/>
                  <a:pt x="0" y="198244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23" name="Text 21"/>
          <p:cNvSpPr/>
          <p:nvPr/>
        </p:nvSpPr>
        <p:spPr>
          <a:xfrm>
            <a:off x="3937323" y="1957659"/>
            <a:ext cx="330407" cy="26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00770" y="1974179"/>
            <a:ext cx="1115122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执行与结果维度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99274" y="2354146"/>
            <a:ext cx="57821" cy="115642"/>
          </a:xfrm>
          <a:custGeom>
            <a:avLst/>
            <a:gdLst/>
            <a:ahLst/>
            <a:cxnLst/>
            <a:rect l="l" t="t" r="r" b="b"/>
            <a:pathLst>
              <a:path w="57821" h="115642">
                <a:moveTo>
                  <a:pt x="55811" y="52717"/>
                </a:moveTo>
                <a:cubicBezTo>
                  <a:pt x="58634" y="55540"/>
                  <a:pt x="58634" y="60125"/>
                  <a:pt x="55811" y="62948"/>
                </a:cubicBezTo>
                <a:lnTo>
                  <a:pt x="19673" y="99086"/>
                </a:lnTo>
                <a:cubicBezTo>
                  <a:pt x="16849" y="101910"/>
                  <a:pt x="12264" y="101910"/>
                  <a:pt x="9441" y="99086"/>
                </a:cubicBezTo>
                <a:cubicBezTo>
                  <a:pt x="6618" y="96263"/>
                  <a:pt x="6618" y="91678"/>
                  <a:pt x="9441" y="88855"/>
                </a:cubicBezTo>
                <a:lnTo>
                  <a:pt x="40475" y="57821"/>
                </a:lnTo>
                <a:lnTo>
                  <a:pt x="9464" y="26787"/>
                </a:lnTo>
                <a:cubicBezTo>
                  <a:pt x="6640" y="23964"/>
                  <a:pt x="6640" y="19379"/>
                  <a:pt x="9464" y="16556"/>
                </a:cubicBezTo>
                <a:cubicBezTo>
                  <a:pt x="12287" y="13733"/>
                  <a:pt x="16872" y="13733"/>
                  <a:pt x="19695" y="16556"/>
                </a:cubicBezTo>
                <a:lnTo>
                  <a:pt x="55834" y="52694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26" name="Text 24"/>
          <p:cNvSpPr/>
          <p:nvPr/>
        </p:nvSpPr>
        <p:spPr>
          <a:xfrm>
            <a:off x="4152087" y="2321106"/>
            <a:ext cx="2750634" cy="330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各团队实际达成的AI-Native提效成果，将进行量化评估与横向对比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999274" y="2750634"/>
            <a:ext cx="57821" cy="115642"/>
          </a:xfrm>
          <a:custGeom>
            <a:avLst/>
            <a:gdLst/>
            <a:ahLst/>
            <a:cxnLst/>
            <a:rect l="l" t="t" r="r" b="b"/>
            <a:pathLst>
              <a:path w="57821" h="115642">
                <a:moveTo>
                  <a:pt x="55811" y="52717"/>
                </a:moveTo>
                <a:cubicBezTo>
                  <a:pt x="58634" y="55540"/>
                  <a:pt x="58634" y="60125"/>
                  <a:pt x="55811" y="62948"/>
                </a:cubicBezTo>
                <a:lnTo>
                  <a:pt x="19673" y="99086"/>
                </a:lnTo>
                <a:cubicBezTo>
                  <a:pt x="16849" y="101910"/>
                  <a:pt x="12264" y="101910"/>
                  <a:pt x="9441" y="99086"/>
                </a:cubicBezTo>
                <a:cubicBezTo>
                  <a:pt x="6618" y="96263"/>
                  <a:pt x="6618" y="91678"/>
                  <a:pt x="9441" y="88855"/>
                </a:cubicBezTo>
                <a:lnTo>
                  <a:pt x="40475" y="57821"/>
                </a:lnTo>
                <a:lnTo>
                  <a:pt x="9464" y="26787"/>
                </a:lnTo>
                <a:cubicBezTo>
                  <a:pt x="6640" y="23964"/>
                  <a:pt x="6640" y="19379"/>
                  <a:pt x="9464" y="16556"/>
                </a:cubicBezTo>
                <a:cubicBezTo>
                  <a:pt x="12287" y="13733"/>
                  <a:pt x="16872" y="13733"/>
                  <a:pt x="19695" y="16556"/>
                </a:cubicBezTo>
                <a:lnTo>
                  <a:pt x="55834" y="52694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28" name="Text 26"/>
          <p:cNvSpPr/>
          <p:nvPr/>
        </p:nvSpPr>
        <p:spPr>
          <a:xfrm>
            <a:off x="4152087" y="2717593"/>
            <a:ext cx="2750634" cy="330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相关结果将直接纳入末位评估机制，并作为主管优胜劣汰的重要参考因素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4537" y="3886407"/>
            <a:ext cx="6806374" cy="1082081"/>
          </a:xfrm>
          <a:custGeom>
            <a:avLst/>
            <a:gdLst/>
            <a:ahLst/>
            <a:cxnLst/>
            <a:rect l="l" t="t" r="r" b="b"/>
            <a:pathLst>
              <a:path w="6806374" h="1082081">
                <a:moveTo>
                  <a:pt x="99119" y="0"/>
                </a:moveTo>
                <a:lnTo>
                  <a:pt x="6707255" y="0"/>
                </a:lnTo>
                <a:cubicBezTo>
                  <a:pt x="6761997" y="0"/>
                  <a:pt x="6806374" y="44377"/>
                  <a:pt x="6806374" y="99119"/>
                </a:cubicBezTo>
                <a:lnTo>
                  <a:pt x="6806374" y="982963"/>
                </a:lnTo>
                <a:cubicBezTo>
                  <a:pt x="6806374" y="1037704"/>
                  <a:pt x="6761997" y="1082081"/>
                  <a:pt x="6707255" y="1082081"/>
                </a:cubicBezTo>
                <a:lnTo>
                  <a:pt x="99119" y="1082081"/>
                </a:lnTo>
                <a:cubicBezTo>
                  <a:pt x="44414" y="1082081"/>
                  <a:pt x="0" y="1037668"/>
                  <a:pt x="0" y="982963"/>
                </a:cubicBezTo>
                <a:lnTo>
                  <a:pt x="0" y="99119"/>
                </a:lnTo>
                <a:cubicBezTo>
                  <a:pt x="0" y="44414"/>
                  <a:pt x="44414" y="0"/>
                  <a:pt x="9911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3870" y="4055740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66083" y="0"/>
                </a:moveTo>
                <a:lnTo>
                  <a:pt x="330405" y="0"/>
                </a:lnTo>
                <a:cubicBezTo>
                  <a:pt x="366902" y="0"/>
                  <a:pt x="396488" y="29586"/>
                  <a:pt x="396488" y="66083"/>
                </a:cubicBezTo>
                <a:lnTo>
                  <a:pt x="396488" y="330405"/>
                </a:lnTo>
                <a:cubicBezTo>
                  <a:pt x="396488" y="366902"/>
                  <a:pt x="366902" y="396488"/>
                  <a:pt x="330405" y="396488"/>
                </a:cubicBezTo>
                <a:lnTo>
                  <a:pt x="66083" y="396488"/>
                </a:lnTo>
                <a:cubicBezTo>
                  <a:pt x="29586" y="396488"/>
                  <a:pt x="0" y="366902"/>
                  <a:pt x="0" y="330405"/>
                </a:cubicBezTo>
                <a:lnTo>
                  <a:pt x="0" y="66083"/>
                </a:lnTo>
                <a:cubicBezTo>
                  <a:pt x="0" y="29611"/>
                  <a:pt x="29611" y="0"/>
                  <a:pt x="66083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31" name="Shape 29"/>
          <p:cNvSpPr/>
          <p:nvPr/>
        </p:nvSpPr>
        <p:spPr>
          <a:xfrm>
            <a:off x="619512" y="4171382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148812" y="6098"/>
                </a:moveTo>
                <a:cubicBezTo>
                  <a:pt x="152523" y="7744"/>
                  <a:pt x="154878" y="11422"/>
                  <a:pt x="154878" y="15488"/>
                </a:cubicBezTo>
                <a:lnTo>
                  <a:pt x="154878" y="149715"/>
                </a:lnTo>
                <a:cubicBezTo>
                  <a:pt x="154878" y="153781"/>
                  <a:pt x="152523" y="157459"/>
                  <a:pt x="148812" y="159105"/>
                </a:cubicBezTo>
                <a:cubicBezTo>
                  <a:pt x="145101" y="160751"/>
                  <a:pt x="140810" y="160137"/>
                  <a:pt x="137745" y="157459"/>
                </a:cubicBezTo>
                <a:lnTo>
                  <a:pt x="122709" y="144327"/>
                </a:lnTo>
                <a:cubicBezTo>
                  <a:pt x="108640" y="132034"/>
                  <a:pt x="90862" y="124870"/>
                  <a:pt x="72244" y="123999"/>
                </a:cubicBezTo>
                <a:lnTo>
                  <a:pt x="72244" y="154878"/>
                </a:lnTo>
                <a:cubicBezTo>
                  <a:pt x="72244" y="160589"/>
                  <a:pt x="67630" y="165203"/>
                  <a:pt x="61919" y="165203"/>
                </a:cubicBezTo>
                <a:lnTo>
                  <a:pt x="51594" y="165203"/>
                </a:lnTo>
                <a:cubicBezTo>
                  <a:pt x="45883" y="165203"/>
                  <a:pt x="41269" y="160589"/>
                  <a:pt x="41269" y="154878"/>
                </a:cubicBezTo>
                <a:lnTo>
                  <a:pt x="41269" y="123902"/>
                </a:lnTo>
                <a:cubicBezTo>
                  <a:pt x="18489" y="123902"/>
                  <a:pt x="0" y="105414"/>
                  <a:pt x="0" y="82602"/>
                </a:cubicBezTo>
                <a:cubicBezTo>
                  <a:pt x="0" y="59789"/>
                  <a:pt x="18489" y="41301"/>
                  <a:pt x="41301" y="41301"/>
                </a:cubicBezTo>
                <a:lnTo>
                  <a:pt x="68566" y="41301"/>
                </a:lnTo>
                <a:cubicBezTo>
                  <a:pt x="88506" y="41236"/>
                  <a:pt x="107737" y="33976"/>
                  <a:pt x="122741" y="20876"/>
                </a:cubicBezTo>
                <a:lnTo>
                  <a:pt x="137777" y="7744"/>
                </a:lnTo>
                <a:cubicBezTo>
                  <a:pt x="140810" y="5066"/>
                  <a:pt x="145166" y="4453"/>
                  <a:pt x="148844" y="6098"/>
                </a:cubicBezTo>
                <a:close/>
                <a:moveTo>
                  <a:pt x="72276" y="103252"/>
                </a:moveTo>
                <a:lnTo>
                  <a:pt x="72276" y="103317"/>
                </a:lnTo>
                <a:cubicBezTo>
                  <a:pt x="94960" y="104188"/>
                  <a:pt x="116739" y="112512"/>
                  <a:pt x="134228" y="127000"/>
                </a:cubicBezTo>
                <a:lnTo>
                  <a:pt x="134228" y="38171"/>
                </a:lnTo>
                <a:cubicBezTo>
                  <a:pt x="116739" y="52659"/>
                  <a:pt x="94960" y="60983"/>
                  <a:pt x="72276" y="61854"/>
                </a:cubicBezTo>
                <a:lnTo>
                  <a:pt x="72276" y="10325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2" name="Text 30"/>
          <p:cNvSpPr/>
          <p:nvPr/>
        </p:nvSpPr>
        <p:spPr>
          <a:xfrm>
            <a:off x="999480" y="4121821"/>
            <a:ext cx="1288585" cy="26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AI布道师考核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3870" y="4584390"/>
            <a:ext cx="6533789" cy="2147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由变革组和AI效能部统一拉通考核，重点关注技术突破、最佳实践导入、团队赋能等维度。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21279" y="1131642"/>
            <a:ext cx="4526569" cy="4278764"/>
          </a:xfrm>
          <a:custGeom>
            <a:avLst/>
            <a:gdLst/>
            <a:ahLst/>
            <a:cxnLst/>
            <a:rect l="l" t="t" r="r" b="b"/>
            <a:pathLst>
              <a:path w="4526569" h="4278764">
                <a:moveTo>
                  <a:pt x="99139" y="0"/>
                </a:moveTo>
                <a:lnTo>
                  <a:pt x="4427430" y="0"/>
                </a:lnTo>
                <a:cubicBezTo>
                  <a:pt x="4482183" y="0"/>
                  <a:pt x="4526569" y="44386"/>
                  <a:pt x="4526569" y="99139"/>
                </a:cubicBezTo>
                <a:lnTo>
                  <a:pt x="4526569" y="4179625"/>
                </a:lnTo>
                <a:cubicBezTo>
                  <a:pt x="4526569" y="4234378"/>
                  <a:pt x="4482183" y="4278764"/>
                  <a:pt x="4427430" y="4278764"/>
                </a:cubicBezTo>
                <a:lnTo>
                  <a:pt x="99139" y="4278764"/>
                </a:lnTo>
                <a:cubicBezTo>
                  <a:pt x="44386" y="4278764"/>
                  <a:pt x="0" y="4234378"/>
                  <a:pt x="0" y="4179625"/>
                </a:cubicBezTo>
                <a:lnTo>
                  <a:pt x="0" y="99139"/>
                </a:lnTo>
                <a:cubicBezTo>
                  <a:pt x="0" y="44423"/>
                  <a:pt x="44423" y="0"/>
                  <a:pt x="99139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25000"/>
                </a:srgbClr>
              </a:gs>
              <a:gs pos="100000">
                <a:srgbClr val="F59E0B">
                  <a:alpha val="10000"/>
                </a:srgbClr>
              </a:gs>
            </a:gsLst>
            <a:lin ang="2700000" scaled="1"/>
          </a:gradFill>
          <a:ln w="254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80582" y="1139902"/>
            <a:ext cx="660813" cy="660813"/>
          </a:xfrm>
          <a:custGeom>
            <a:avLst/>
            <a:gdLst/>
            <a:ahLst/>
            <a:cxnLst/>
            <a:rect l="l" t="t" r="r" b="b"/>
            <a:pathLst>
              <a:path w="660813" h="660813">
                <a:moveTo>
                  <a:pt x="0" y="0"/>
                </a:moveTo>
                <a:lnTo>
                  <a:pt x="660813" y="0"/>
                </a:lnTo>
                <a:lnTo>
                  <a:pt x="660813" y="660813"/>
                </a:lnTo>
                <a:lnTo>
                  <a:pt x="330407" y="660813"/>
                </a:lnTo>
                <a:cubicBezTo>
                  <a:pt x="148050" y="660813"/>
                  <a:pt x="0" y="512763"/>
                  <a:pt x="0" y="330407"/>
                </a:cubicBez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2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7317149" y="5554959"/>
            <a:ext cx="4534829" cy="1296846"/>
          </a:xfrm>
          <a:custGeom>
            <a:avLst/>
            <a:gdLst/>
            <a:ahLst/>
            <a:cxnLst/>
            <a:rect l="l" t="t" r="r" b="b"/>
            <a:pathLst>
              <a:path w="4534829" h="1296846">
                <a:moveTo>
                  <a:pt x="99118" y="0"/>
                </a:moveTo>
                <a:lnTo>
                  <a:pt x="4435711" y="0"/>
                </a:lnTo>
                <a:cubicBezTo>
                  <a:pt x="4490453" y="0"/>
                  <a:pt x="4534829" y="44377"/>
                  <a:pt x="4534829" y="99118"/>
                </a:cubicBezTo>
                <a:lnTo>
                  <a:pt x="4534829" y="1197728"/>
                </a:lnTo>
                <a:cubicBezTo>
                  <a:pt x="4534829" y="1252469"/>
                  <a:pt x="4490453" y="1296846"/>
                  <a:pt x="4435711" y="1296846"/>
                </a:cubicBezTo>
                <a:lnTo>
                  <a:pt x="99118" y="1296846"/>
                </a:lnTo>
                <a:cubicBezTo>
                  <a:pt x="44377" y="1296846"/>
                  <a:pt x="0" y="1252469"/>
                  <a:pt x="0" y="1197728"/>
                </a:cubicBezTo>
                <a:lnTo>
                  <a:pt x="0" y="99118"/>
                </a:lnTo>
                <a:cubicBezTo>
                  <a:pt x="0" y="44413"/>
                  <a:pt x="44413" y="0"/>
                  <a:pt x="99118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07133" y="5765593"/>
            <a:ext cx="148683" cy="148683"/>
          </a:xfrm>
          <a:custGeom>
            <a:avLst/>
            <a:gdLst/>
            <a:ahLst/>
            <a:cxnLst/>
            <a:rect l="l" t="t" r="r" b="b"/>
            <a:pathLst>
              <a:path w="148683" h="148683">
                <a:moveTo>
                  <a:pt x="18585" y="18585"/>
                </a:moveTo>
                <a:cubicBezTo>
                  <a:pt x="18585" y="13445"/>
                  <a:pt x="14433" y="9293"/>
                  <a:pt x="9293" y="9293"/>
                </a:cubicBezTo>
                <a:cubicBezTo>
                  <a:pt x="4153" y="9293"/>
                  <a:pt x="0" y="13445"/>
                  <a:pt x="0" y="18585"/>
                </a:cubicBezTo>
                <a:lnTo>
                  <a:pt x="0" y="116159"/>
                </a:lnTo>
                <a:cubicBezTo>
                  <a:pt x="0" y="128994"/>
                  <a:pt x="10396" y="139390"/>
                  <a:pt x="23232" y="139390"/>
                </a:cubicBezTo>
                <a:lnTo>
                  <a:pt x="139390" y="139390"/>
                </a:lnTo>
                <a:cubicBezTo>
                  <a:pt x="144530" y="139390"/>
                  <a:pt x="148683" y="135238"/>
                  <a:pt x="148683" y="130098"/>
                </a:cubicBezTo>
                <a:cubicBezTo>
                  <a:pt x="148683" y="124958"/>
                  <a:pt x="144530" y="120805"/>
                  <a:pt x="139390" y="120805"/>
                </a:cubicBezTo>
                <a:lnTo>
                  <a:pt x="23232" y="120805"/>
                </a:lnTo>
                <a:cubicBezTo>
                  <a:pt x="20676" y="120805"/>
                  <a:pt x="18585" y="118714"/>
                  <a:pt x="18585" y="116159"/>
                </a:cubicBezTo>
                <a:lnTo>
                  <a:pt x="18585" y="18585"/>
                </a:lnTo>
                <a:close/>
                <a:moveTo>
                  <a:pt x="136661" y="43734"/>
                </a:moveTo>
                <a:cubicBezTo>
                  <a:pt x="140290" y="40104"/>
                  <a:pt x="140290" y="34209"/>
                  <a:pt x="136661" y="30579"/>
                </a:cubicBezTo>
                <a:cubicBezTo>
                  <a:pt x="133031" y="26949"/>
                  <a:pt x="127136" y="26949"/>
                  <a:pt x="123506" y="30579"/>
                </a:cubicBezTo>
                <a:lnTo>
                  <a:pt x="92927" y="61187"/>
                </a:lnTo>
                <a:lnTo>
                  <a:pt x="76258" y="44547"/>
                </a:lnTo>
                <a:cubicBezTo>
                  <a:pt x="72628" y="40917"/>
                  <a:pt x="66733" y="40917"/>
                  <a:pt x="63103" y="44547"/>
                </a:cubicBezTo>
                <a:lnTo>
                  <a:pt x="35225" y="72425"/>
                </a:lnTo>
                <a:cubicBezTo>
                  <a:pt x="31595" y="76055"/>
                  <a:pt x="31595" y="81950"/>
                  <a:pt x="35225" y="85580"/>
                </a:cubicBezTo>
                <a:cubicBezTo>
                  <a:pt x="38855" y="89210"/>
                  <a:pt x="44750" y="89210"/>
                  <a:pt x="48380" y="85580"/>
                </a:cubicBezTo>
                <a:lnTo>
                  <a:pt x="69695" y="64265"/>
                </a:lnTo>
                <a:lnTo>
                  <a:pt x="86364" y="80933"/>
                </a:lnTo>
                <a:cubicBezTo>
                  <a:pt x="89994" y="84563"/>
                  <a:pt x="95889" y="84563"/>
                  <a:pt x="99519" y="80933"/>
                </a:cubicBezTo>
                <a:lnTo>
                  <a:pt x="136690" y="43763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38" name="Text 36"/>
          <p:cNvSpPr/>
          <p:nvPr/>
        </p:nvSpPr>
        <p:spPr>
          <a:xfrm>
            <a:off x="7676466" y="5724293"/>
            <a:ext cx="4080520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考核导向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03003" y="6087740"/>
            <a:ext cx="115642" cy="115642"/>
          </a:xfrm>
          <a:custGeom>
            <a:avLst/>
            <a:gdLst/>
            <a:ahLst/>
            <a:cxnLst/>
            <a:rect l="l" t="t" r="r" b="b"/>
            <a:pathLst>
              <a:path w="115642" h="115642">
                <a:moveTo>
                  <a:pt x="57821" y="115642"/>
                </a:moveTo>
                <a:cubicBezTo>
                  <a:pt x="89733" y="115642"/>
                  <a:pt x="115642" y="89733"/>
                  <a:pt x="115642" y="57821"/>
                </a:cubicBezTo>
                <a:cubicBezTo>
                  <a:pt x="115642" y="25909"/>
                  <a:pt x="89733" y="0"/>
                  <a:pt x="57821" y="0"/>
                </a:cubicBezTo>
                <a:cubicBezTo>
                  <a:pt x="25909" y="0"/>
                  <a:pt x="0" y="25909"/>
                  <a:pt x="0" y="57821"/>
                </a:cubicBezTo>
                <a:cubicBezTo>
                  <a:pt x="0" y="89733"/>
                  <a:pt x="25909" y="115642"/>
                  <a:pt x="57821" y="115642"/>
                </a:cubicBezTo>
                <a:close/>
                <a:moveTo>
                  <a:pt x="76884" y="48041"/>
                </a:moveTo>
                <a:lnTo>
                  <a:pt x="58815" y="76952"/>
                </a:lnTo>
                <a:cubicBezTo>
                  <a:pt x="57866" y="78465"/>
                  <a:pt x="56240" y="79414"/>
                  <a:pt x="54456" y="79504"/>
                </a:cubicBezTo>
                <a:cubicBezTo>
                  <a:pt x="52671" y="79594"/>
                  <a:pt x="50955" y="78781"/>
                  <a:pt x="49893" y="77336"/>
                </a:cubicBezTo>
                <a:lnTo>
                  <a:pt x="39052" y="62880"/>
                </a:lnTo>
                <a:cubicBezTo>
                  <a:pt x="37245" y="60486"/>
                  <a:pt x="37742" y="57098"/>
                  <a:pt x="40136" y="55291"/>
                </a:cubicBezTo>
                <a:cubicBezTo>
                  <a:pt x="42530" y="53485"/>
                  <a:pt x="45918" y="53981"/>
                  <a:pt x="47725" y="56376"/>
                </a:cubicBezTo>
                <a:lnTo>
                  <a:pt x="53823" y="64507"/>
                </a:lnTo>
                <a:lnTo>
                  <a:pt x="67691" y="42304"/>
                </a:lnTo>
                <a:cubicBezTo>
                  <a:pt x="69272" y="39775"/>
                  <a:pt x="72615" y="38984"/>
                  <a:pt x="75167" y="40588"/>
                </a:cubicBezTo>
                <a:cubicBezTo>
                  <a:pt x="77720" y="42191"/>
                  <a:pt x="78488" y="45512"/>
                  <a:pt x="76884" y="48064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40" name="Text 38"/>
          <p:cNvSpPr/>
          <p:nvPr/>
        </p:nvSpPr>
        <p:spPr>
          <a:xfrm>
            <a:off x="7697116" y="6054699"/>
            <a:ext cx="1098602" cy="165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结果导向，量化评估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503003" y="6319024"/>
            <a:ext cx="115642" cy="115642"/>
          </a:xfrm>
          <a:custGeom>
            <a:avLst/>
            <a:gdLst/>
            <a:ahLst/>
            <a:cxnLst/>
            <a:rect l="l" t="t" r="r" b="b"/>
            <a:pathLst>
              <a:path w="115642" h="115642">
                <a:moveTo>
                  <a:pt x="57821" y="115642"/>
                </a:moveTo>
                <a:cubicBezTo>
                  <a:pt x="89733" y="115642"/>
                  <a:pt x="115642" y="89733"/>
                  <a:pt x="115642" y="57821"/>
                </a:cubicBezTo>
                <a:cubicBezTo>
                  <a:pt x="115642" y="25909"/>
                  <a:pt x="89733" y="0"/>
                  <a:pt x="57821" y="0"/>
                </a:cubicBezTo>
                <a:cubicBezTo>
                  <a:pt x="25909" y="0"/>
                  <a:pt x="0" y="25909"/>
                  <a:pt x="0" y="57821"/>
                </a:cubicBezTo>
                <a:cubicBezTo>
                  <a:pt x="0" y="89733"/>
                  <a:pt x="25909" y="115642"/>
                  <a:pt x="57821" y="115642"/>
                </a:cubicBezTo>
                <a:close/>
                <a:moveTo>
                  <a:pt x="76884" y="48041"/>
                </a:moveTo>
                <a:lnTo>
                  <a:pt x="58815" y="76952"/>
                </a:lnTo>
                <a:cubicBezTo>
                  <a:pt x="57866" y="78465"/>
                  <a:pt x="56240" y="79414"/>
                  <a:pt x="54456" y="79504"/>
                </a:cubicBezTo>
                <a:cubicBezTo>
                  <a:pt x="52671" y="79594"/>
                  <a:pt x="50955" y="78781"/>
                  <a:pt x="49893" y="77336"/>
                </a:cubicBezTo>
                <a:lnTo>
                  <a:pt x="39052" y="62880"/>
                </a:lnTo>
                <a:cubicBezTo>
                  <a:pt x="37245" y="60486"/>
                  <a:pt x="37742" y="57098"/>
                  <a:pt x="40136" y="55291"/>
                </a:cubicBezTo>
                <a:cubicBezTo>
                  <a:pt x="42530" y="53485"/>
                  <a:pt x="45918" y="53981"/>
                  <a:pt x="47725" y="56376"/>
                </a:cubicBezTo>
                <a:lnTo>
                  <a:pt x="53823" y="64507"/>
                </a:lnTo>
                <a:lnTo>
                  <a:pt x="67691" y="42304"/>
                </a:lnTo>
                <a:cubicBezTo>
                  <a:pt x="69272" y="39775"/>
                  <a:pt x="72615" y="38984"/>
                  <a:pt x="75167" y="40588"/>
                </a:cubicBezTo>
                <a:cubicBezTo>
                  <a:pt x="77720" y="42191"/>
                  <a:pt x="78488" y="45512"/>
                  <a:pt x="76884" y="48064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42" name="Text 40"/>
          <p:cNvSpPr/>
          <p:nvPr/>
        </p:nvSpPr>
        <p:spPr>
          <a:xfrm>
            <a:off x="7697116" y="6285984"/>
            <a:ext cx="1098602" cy="165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横向对比，激发竞争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03003" y="6550309"/>
            <a:ext cx="115642" cy="115642"/>
          </a:xfrm>
          <a:custGeom>
            <a:avLst/>
            <a:gdLst/>
            <a:ahLst/>
            <a:cxnLst/>
            <a:rect l="l" t="t" r="r" b="b"/>
            <a:pathLst>
              <a:path w="115642" h="115642">
                <a:moveTo>
                  <a:pt x="57821" y="115642"/>
                </a:moveTo>
                <a:cubicBezTo>
                  <a:pt x="89733" y="115642"/>
                  <a:pt x="115642" y="89733"/>
                  <a:pt x="115642" y="57821"/>
                </a:cubicBezTo>
                <a:cubicBezTo>
                  <a:pt x="115642" y="25909"/>
                  <a:pt x="89733" y="0"/>
                  <a:pt x="57821" y="0"/>
                </a:cubicBezTo>
                <a:cubicBezTo>
                  <a:pt x="25909" y="0"/>
                  <a:pt x="0" y="25909"/>
                  <a:pt x="0" y="57821"/>
                </a:cubicBezTo>
                <a:cubicBezTo>
                  <a:pt x="0" y="89733"/>
                  <a:pt x="25909" y="115642"/>
                  <a:pt x="57821" y="115642"/>
                </a:cubicBezTo>
                <a:close/>
                <a:moveTo>
                  <a:pt x="76884" y="48041"/>
                </a:moveTo>
                <a:lnTo>
                  <a:pt x="58815" y="76952"/>
                </a:lnTo>
                <a:cubicBezTo>
                  <a:pt x="57866" y="78465"/>
                  <a:pt x="56240" y="79414"/>
                  <a:pt x="54456" y="79504"/>
                </a:cubicBezTo>
                <a:cubicBezTo>
                  <a:pt x="52671" y="79594"/>
                  <a:pt x="50955" y="78781"/>
                  <a:pt x="49893" y="77336"/>
                </a:cubicBezTo>
                <a:lnTo>
                  <a:pt x="39052" y="62880"/>
                </a:lnTo>
                <a:cubicBezTo>
                  <a:pt x="37245" y="60486"/>
                  <a:pt x="37742" y="57098"/>
                  <a:pt x="40136" y="55291"/>
                </a:cubicBezTo>
                <a:cubicBezTo>
                  <a:pt x="42530" y="53485"/>
                  <a:pt x="45918" y="53981"/>
                  <a:pt x="47725" y="56376"/>
                </a:cubicBezTo>
                <a:lnTo>
                  <a:pt x="53823" y="64507"/>
                </a:lnTo>
                <a:lnTo>
                  <a:pt x="67691" y="42304"/>
                </a:lnTo>
                <a:cubicBezTo>
                  <a:pt x="69272" y="39775"/>
                  <a:pt x="72615" y="38984"/>
                  <a:pt x="75167" y="40588"/>
                </a:cubicBezTo>
                <a:cubicBezTo>
                  <a:pt x="77720" y="42191"/>
                  <a:pt x="78488" y="45512"/>
                  <a:pt x="76884" y="48064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44" name="Text 42"/>
          <p:cNvSpPr/>
          <p:nvPr/>
        </p:nvSpPr>
        <p:spPr>
          <a:xfrm>
            <a:off x="7697116" y="6517268"/>
            <a:ext cx="1098602" cy="165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优胜劣汰，持续优化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494742" y="1305106"/>
            <a:ext cx="462569" cy="462569"/>
          </a:xfrm>
          <a:custGeom>
            <a:avLst/>
            <a:gdLst/>
            <a:ahLst/>
            <a:cxnLst/>
            <a:rect l="l" t="t" r="r" b="b"/>
            <a:pathLst>
              <a:path w="462569" h="462569">
                <a:moveTo>
                  <a:pt x="99124" y="0"/>
                </a:moveTo>
                <a:lnTo>
                  <a:pt x="363445" y="0"/>
                </a:lnTo>
                <a:cubicBezTo>
                  <a:pt x="418153" y="0"/>
                  <a:pt x="462569" y="44416"/>
                  <a:pt x="462569" y="99124"/>
                </a:cubicBezTo>
                <a:lnTo>
                  <a:pt x="462569" y="363445"/>
                </a:lnTo>
                <a:cubicBezTo>
                  <a:pt x="462569" y="418190"/>
                  <a:pt x="418190" y="462569"/>
                  <a:pt x="363445" y="462569"/>
                </a:cubicBezTo>
                <a:lnTo>
                  <a:pt x="99124" y="462569"/>
                </a:lnTo>
                <a:cubicBezTo>
                  <a:pt x="44416" y="462569"/>
                  <a:pt x="0" y="418153"/>
                  <a:pt x="0" y="363445"/>
                </a:cubicBezTo>
                <a:lnTo>
                  <a:pt x="0" y="99124"/>
                </a:lnTo>
                <a:cubicBezTo>
                  <a:pt x="0" y="44379"/>
                  <a:pt x="44379" y="0"/>
                  <a:pt x="99124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46" name="Shape 44"/>
          <p:cNvSpPr/>
          <p:nvPr/>
        </p:nvSpPr>
        <p:spPr>
          <a:xfrm>
            <a:off x="7626905" y="1437268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55872" y="0"/>
                </a:moveTo>
                <a:lnTo>
                  <a:pt x="142604" y="0"/>
                </a:lnTo>
                <a:cubicBezTo>
                  <a:pt x="152865" y="0"/>
                  <a:pt x="161228" y="8441"/>
                  <a:pt x="160841" y="18663"/>
                </a:cubicBezTo>
                <a:cubicBezTo>
                  <a:pt x="160763" y="20715"/>
                  <a:pt x="160686" y="22767"/>
                  <a:pt x="160570" y="24780"/>
                </a:cubicBezTo>
                <a:lnTo>
                  <a:pt x="179775" y="24780"/>
                </a:lnTo>
                <a:cubicBezTo>
                  <a:pt x="189880" y="24780"/>
                  <a:pt x="198786" y="33144"/>
                  <a:pt x="198012" y="44063"/>
                </a:cubicBezTo>
                <a:cubicBezTo>
                  <a:pt x="195108" y="84215"/>
                  <a:pt x="174586" y="106285"/>
                  <a:pt x="152323" y="117823"/>
                </a:cubicBezTo>
                <a:cubicBezTo>
                  <a:pt x="146205" y="120998"/>
                  <a:pt x="139971" y="123360"/>
                  <a:pt x="134047" y="125103"/>
                </a:cubicBezTo>
                <a:cubicBezTo>
                  <a:pt x="126226" y="136177"/>
                  <a:pt x="118095" y="142023"/>
                  <a:pt x="111628" y="145159"/>
                </a:cubicBezTo>
                <a:lnTo>
                  <a:pt x="111628" y="173463"/>
                </a:lnTo>
                <a:lnTo>
                  <a:pt x="136409" y="173463"/>
                </a:lnTo>
                <a:cubicBezTo>
                  <a:pt x="143262" y="173463"/>
                  <a:pt x="148799" y="179000"/>
                  <a:pt x="148799" y="185854"/>
                </a:cubicBezTo>
                <a:cubicBezTo>
                  <a:pt x="148799" y="192707"/>
                  <a:pt x="143262" y="198244"/>
                  <a:pt x="136409" y="198244"/>
                </a:cubicBezTo>
                <a:lnTo>
                  <a:pt x="62067" y="198244"/>
                </a:lnTo>
                <a:cubicBezTo>
                  <a:pt x="55214" y="198244"/>
                  <a:pt x="49677" y="192707"/>
                  <a:pt x="49677" y="185854"/>
                </a:cubicBezTo>
                <a:cubicBezTo>
                  <a:pt x="49677" y="179000"/>
                  <a:pt x="55214" y="173463"/>
                  <a:pt x="62067" y="173463"/>
                </a:cubicBezTo>
                <a:lnTo>
                  <a:pt x="86848" y="173463"/>
                </a:lnTo>
                <a:lnTo>
                  <a:pt x="86848" y="145159"/>
                </a:lnTo>
                <a:cubicBezTo>
                  <a:pt x="80653" y="142178"/>
                  <a:pt x="72948" y="136641"/>
                  <a:pt x="65436" y="126458"/>
                </a:cubicBezTo>
                <a:cubicBezTo>
                  <a:pt x="58312" y="124599"/>
                  <a:pt x="50568" y="121773"/>
                  <a:pt x="43017" y="117514"/>
                </a:cubicBezTo>
                <a:cubicBezTo>
                  <a:pt x="22070" y="105782"/>
                  <a:pt x="3175" y="83673"/>
                  <a:pt x="465" y="43985"/>
                </a:cubicBezTo>
                <a:cubicBezTo>
                  <a:pt x="-271" y="33105"/>
                  <a:pt x="8596" y="24742"/>
                  <a:pt x="18702" y="24742"/>
                </a:cubicBezTo>
                <a:lnTo>
                  <a:pt x="37906" y="24742"/>
                </a:lnTo>
                <a:cubicBezTo>
                  <a:pt x="37790" y="22728"/>
                  <a:pt x="37713" y="20715"/>
                  <a:pt x="37635" y="18624"/>
                </a:cubicBezTo>
                <a:cubicBezTo>
                  <a:pt x="37248" y="8363"/>
                  <a:pt x="45612" y="-39"/>
                  <a:pt x="55872" y="-39"/>
                </a:cubicBezTo>
                <a:close/>
                <a:moveTo>
                  <a:pt x="39300" y="43366"/>
                </a:moveTo>
                <a:lnTo>
                  <a:pt x="19011" y="43366"/>
                </a:lnTo>
                <a:cubicBezTo>
                  <a:pt x="21412" y="76161"/>
                  <a:pt x="36474" y="92578"/>
                  <a:pt x="52000" y="101290"/>
                </a:cubicBezTo>
                <a:cubicBezTo>
                  <a:pt x="46425" y="86848"/>
                  <a:pt x="41817" y="67991"/>
                  <a:pt x="39300" y="43366"/>
                </a:cubicBezTo>
                <a:close/>
                <a:moveTo>
                  <a:pt x="147134" y="99432"/>
                </a:moveTo>
                <a:cubicBezTo>
                  <a:pt x="162816" y="90216"/>
                  <a:pt x="176987" y="73838"/>
                  <a:pt x="179388" y="43366"/>
                </a:cubicBezTo>
                <a:lnTo>
                  <a:pt x="159137" y="43366"/>
                </a:lnTo>
                <a:cubicBezTo>
                  <a:pt x="156737" y="66946"/>
                  <a:pt x="152400" y="85260"/>
                  <a:pt x="147134" y="9943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7" name="Text 45"/>
          <p:cNvSpPr/>
          <p:nvPr/>
        </p:nvSpPr>
        <p:spPr>
          <a:xfrm>
            <a:off x="8056433" y="1305106"/>
            <a:ext cx="1618992" cy="26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AI-Native变革奖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056433" y="1598341"/>
            <a:ext cx="404748" cy="152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F59E0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海燕奖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494742" y="1899837"/>
            <a:ext cx="4179642" cy="627772"/>
          </a:xfrm>
          <a:custGeom>
            <a:avLst/>
            <a:gdLst/>
            <a:ahLst/>
            <a:cxnLst/>
            <a:rect l="l" t="t" r="r" b="b"/>
            <a:pathLst>
              <a:path w="4179642" h="627772">
                <a:moveTo>
                  <a:pt x="66079" y="0"/>
                </a:moveTo>
                <a:lnTo>
                  <a:pt x="4113563" y="0"/>
                </a:lnTo>
                <a:cubicBezTo>
                  <a:pt x="4150058" y="0"/>
                  <a:pt x="4179642" y="29585"/>
                  <a:pt x="4179642" y="66079"/>
                </a:cubicBezTo>
                <a:lnTo>
                  <a:pt x="4179642" y="561693"/>
                </a:lnTo>
                <a:cubicBezTo>
                  <a:pt x="4179642" y="598188"/>
                  <a:pt x="4150058" y="627772"/>
                  <a:pt x="4113563" y="627772"/>
                </a:cubicBezTo>
                <a:lnTo>
                  <a:pt x="66079" y="627772"/>
                </a:lnTo>
                <a:cubicBezTo>
                  <a:pt x="29585" y="627772"/>
                  <a:pt x="0" y="598188"/>
                  <a:pt x="0" y="561693"/>
                </a:cubicBezTo>
                <a:lnTo>
                  <a:pt x="0" y="66079"/>
                </a:lnTo>
                <a:cubicBezTo>
                  <a:pt x="0" y="29585"/>
                  <a:pt x="29585" y="0"/>
                  <a:pt x="6607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7618645" y="2023740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63474" y="-6686"/>
                </a:moveTo>
                <a:cubicBezTo>
                  <a:pt x="60015" y="-8802"/>
                  <a:pt x="55653" y="-8802"/>
                  <a:pt x="52194" y="-6686"/>
                </a:cubicBezTo>
                <a:cubicBezTo>
                  <a:pt x="45896" y="-2839"/>
                  <a:pt x="41998" y="-1807"/>
                  <a:pt x="34615" y="-1962"/>
                </a:cubicBezTo>
                <a:cubicBezTo>
                  <a:pt x="30563" y="-2065"/>
                  <a:pt x="26794" y="129"/>
                  <a:pt x="24832" y="3691"/>
                </a:cubicBezTo>
                <a:cubicBezTo>
                  <a:pt x="21296" y="10170"/>
                  <a:pt x="18430" y="13036"/>
                  <a:pt x="11951" y="16572"/>
                </a:cubicBezTo>
                <a:cubicBezTo>
                  <a:pt x="8389" y="18508"/>
                  <a:pt x="6221" y="22302"/>
                  <a:pt x="6298" y="26355"/>
                </a:cubicBezTo>
                <a:cubicBezTo>
                  <a:pt x="6479" y="33738"/>
                  <a:pt x="5421" y="37635"/>
                  <a:pt x="1575" y="43934"/>
                </a:cubicBezTo>
                <a:cubicBezTo>
                  <a:pt x="-542" y="47393"/>
                  <a:pt x="-542" y="51755"/>
                  <a:pt x="1575" y="55214"/>
                </a:cubicBezTo>
                <a:cubicBezTo>
                  <a:pt x="5421" y="61512"/>
                  <a:pt x="6453" y="65410"/>
                  <a:pt x="6298" y="72793"/>
                </a:cubicBezTo>
                <a:cubicBezTo>
                  <a:pt x="6195" y="76845"/>
                  <a:pt x="8389" y="80614"/>
                  <a:pt x="11951" y="82576"/>
                </a:cubicBezTo>
                <a:cubicBezTo>
                  <a:pt x="17656" y="85699"/>
                  <a:pt x="20547" y="88280"/>
                  <a:pt x="23593" y="93288"/>
                </a:cubicBezTo>
                <a:lnTo>
                  <a:pt x="11022" y="118353"/>
                </a:lnTo>
                <a:cubicBezTo>
                  <a:pt x="9499" y="121424"/>
                  <a:pt x="10738" y="125141"/>
                  <a:pt x="13784" y="126664"/>
                </a:cubicBezTo>
                <a:lnTo>
                  <a:pt x="35983" y="137764"/>
                </a:lnTo>
                <a:cubicBezTo>
                  <a:pt x="38952" y="139235"/>
                  <a:pt x="42566" y="138125"/>
                  <a:pt x="44166" y="135234"/>
                </a:cubicBezTo>
                <a:lnTo>
                  <a:pt x="57795" y="110686"/>
                </a:lnTo>
                <a:lnTo>
                  <a:pt x="71425" y="135234"/>
                </a:lnTo>
                <a:cubicBezTo>
                  <a:pt x="73025" y="138125"/>
                  <a:pt x="76639" y="139261"/>
                  <a:pt x="79607" y="137764"/>
                </a:cubicBezTo>
                <a:lnTo>
                  <a:pt x="101807" y="126664"/>
                </a:lnTo>
                <a:cubicBezTo>
                  <a:pt x="104878" y="125141"/>
                  <a:pt x="106117" y="121424"/>
                  <a:pt x="104568" y="118353"/>
                </a:cubicBezTo>
                <a:lnTo>
                  <a:pt x="92023" y="93262"/>
                </a:lnTo>
                <a:cubicBezTo>
                  <a:pt x="95043" y="88255"/>
                  <a:pt x="97960" y="85673"/>
                  <a:pt x="103665" y="82550"/>
                </a:cubicBezTo>
                <a:cubicBezTo>
                  <a:pt x="107227" y="80614"/>
                  <a:pt x="109396" y="76820"/>
                  <a:pt x="109318" y="72767"/>
                </a:cubicBezTo>
                <a:cubicBezTo>
                  <a:pt x="109137" y="65384"/>
                  <a:pt x="110196" y="61487"/>
                  <a:pt x="114042" y="55188"/>
                </a:cubicBezTo>
                <a:cubicBezTo>
                  <a:pt x="116159" y="51729"/>
                  <a:pt x="116159" y="47367"/>
                  <a:pt x="114042" y="43908"/>
                </a:cubicBezTo>
                <a:cubicBezTo>
                  <a:pt x="110196" y="37610"/>
                  <a:pt x="109163" y="33712"/>
                  <a:pt x="109318" y="26329"/>
                </a:cubicBezTo>
                <a:cubicBezTo>
                  <a:pt x="109421" y="22277"/>
                  <a:pt x="107227" y="18508"/>
                  <a:pt x="103665" y="16546"/>
                </a:cubicBezTo>
                <a:cubicBezTo>
                  <a:pt x="97186" y="13010"/>
                  <a:pt x="94321" y="10145"/>
                  <a:pt x="90784" y="3665"/>
                </a:cubicBezTo>
                <a:cubicBezTo>
                  <a:pt x="88848" y="103"/>
                  <a:pt x="85054" y="-2065"/>
                  <a:pt x="81001" y="-1988"/>
                </a:cubicBezTo>
                <a:cubicBezTo>
                  <a:pt x="73619" y="-1807"/>
                  <a:pt x="69721" y="-2865"/>
                  <a:pt x="63423" y="-6711"/>
                </a:cubicBezTo>
                <a:close/>
                <a:moveTo>
                  <a:pt x="57821" y="24780"/>
                </a:moveTo>
                <a:cubicBezTo>
                  <a:pt x="71498" y="24780"/>
                  <a:pt x="82602" y="35884"/>
                  <a:pt x="82602" y="49561"/>
                </a:cubicBezTo>
                <a:cubicBezTo>
                  <a:pt x="82602" y="63238"/>
                  <a:pt x="71498" y="74341"/>
                  <a:pt x="57821" y="74341"/>
                </a:cubicBezTo>
                <a:cubicBezTo>
                  <a:pt x="44144" y="74341"/>
                  <a:pt x="33041" y="63238"/>
                  <a:pt x="33041" y="49561"/>
                </a:cubicBezTo>
                <a:cubicBezTo>
                  <a:pt x="33041" y="35884"/>
                  <a:pt x="44144" y="24780"/>
                  <a:pt x="57821" y="2478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51" name="Text 49"/>
          <p:cNvSpPr/>
          <p:nvPr/>
        </p:nvSpPr>
        <p:spPr>
          <a:xfrm>
            <a:off x="7802047" y="1998959"/>
            <a:ext cx="3839297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海燕奖要求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593864" y="2263285"/>
            <a:ext cx="4039220" cy="165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海燕奖的个人必须在AI Native方面有所成果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494742" y="2626732"/>
            <a:ext cx="4179642" cy="792976"/>
          </a:xfrm>
          <a:custGeom>
            <a:avLst/>
            <a:gdLst/>
            <a:ahLst/>
            <a:cxnLst/>
            <a:rect l="l" t="t" r="r" b="b"/>
            <a:pathLst>
              <a:path w="4179642" h="792976">
                <a:moveTo>
                  <a:pt x="66079" y="0"/>
                </a:moveTo>
                <a:lnTo>
                  <a:pt x="4113564" y="0"/>
                </a:lnTo>
                <a:cubicBezTo>
                  <a:pt x="4150058" y="0"/>
                  <a:pt x="4179642" y="29584"/>
                  <a:pt x="4179642" y="66079"/>
                </a:cubicBezTo>
                <a:lnTo>
                  <a:pt x="4179642" y="726897"/>
                </a:lnTo>
                <a:cubicBezTo>
                  <a:pt x="4179642" y="763391"/>
                  <a:pt x="4150058" y="792976"/>
                  <a:pt x="4113564" y="792976"/>
                </a:cubicBezTo>
                <a:lnTo>
                  <a:pt x="66079" y="792976"/>
                </a:lnTo>
                <a:cubicBezTo>
                  <a:pt x="29584" y="792976"/>
                  <a:pt x="0" y="763391"/>
                  <a:pt x="0" y="726897"/>
                </a:cubicBezTo>
                <a:lnTo>
                  <a:pt x="0" y="66079"/>
                </a:lnTo>
                <a:cubicBezTo>
                  <a:pt x="0" y="29609"/>
                  <a:pt x="29609" y="0"/>
                  <a:pt x="6607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4" name="Shape 52"/>
          <p:cNvSpPr/>
          <p:nvPr/>
        </p:nvSpPr>
        <p:spPr>
          <a:xfrm>
            <a:off x="7626905" y="2750634"/>
            <a:ext cx="99122" cy="132163"/>
          </a:xfrm>
          <a:custGeom>
            <a:avLst/>
            <a:gdLst/>
            <a:ahLst/>
            <a:cxnLst/>
            <a:rect l="l" t="t" r="r" b="b"/>
            <a:pathLst>
              <a:path w="99122" h="132163">
                <a:moveTo>
                  <a:pt x="80382" y="8260"/>
                </a:moveTo>
                <a:lnTo>
                  <a:pt x="82602" y="8260"/>
                </a:lnTo>
                <a:cubicBezTo>
                  <a:pt x="91714" y="8260"/>
                  <a:pt x="99122" y="15668"/>
                  <a:pt x="99122" y="24780"/>
                </a:cubicBezTo>
                <a:lnTo>
                  <a:pt x="99122" y="115642"/>
                </a:lnTo>
                <a:cubicBezTo>
                  <a:pt x="99122" y="124754"/>
                  <a:pt x="91714" y="132163"/>
                  <a:pt x="82602" y="132163"/>
                </a:cubicBezTo>
                <a:lnTo>
                  <a:pt x="16520" y="132163"/>
                </a:lnTo>
                <a:cubicBezTo>
                  <a:pt x="7408" y="132163"/>
                  <a:pt x="0" y="124754"/>
                  <a:pt x="0" y="115642"/>
                </a:cubicBezTo>
                <a:lnTo>
                  <a:pt x="0" y="24780"/>
                </a:lnTo>
                <a:cubicBezTo>
                  <a:pt x="0" y="15668"/>
                  <a:pt x="7408" y="8260"/>
                  <a:pt x="16520" y="8260"/>
                </a:cubicBezTo>
                <a:lnTo>
                  <a:pt x="18740" y="8260"/>
                </a:lnTo>
                <a:cubicBezTo>
                  <a:pt x="21580" y="3330"/>
                  <a:pt x="26923" y="0"/>
                  <a:pt x="33041" y="0"/>
                </a:cubicBezTo>
                <a:lnTo>
                  <a:pt x="66081" y="0"/>
                </a:lnTo>
                <a:cubicBezTo>
                  <a:pt x="72199" y="0"/>
                  <a:pt x="77542" y="3330"/>
                  <a:pt x="80382" y="8260"/>
                </a:cubicBezTo>
                <a:close/>
                <a:moveTo>
                  <a:pt x="64016" y="28911"/>
                </a:moveTo>
                <a:cubicBezTo>
                  <a:pt x="67449" y="28911"/>
                  <a:pt x="70211" y="26149"/>
                  <a:pt x="70211" y="22715"/>
                </a:cubicBezTo>
                <a:cubicBezTo>
                  <a:pt x="70211" y="19282"/>
                  <a:pt x="67449" y="16520"/>
                  <a:pt x="64016" y="16520"/>
                </a:cubicBezTo>
                <a:lnTo>
                  <a:pt x="35106" y="16520"/>
                </a:lnTo>
                <a:cubicBezTo>
                  <a:pt x="31673" y="16520"/>
                  <a:pt x="28911" y="19282"/>
                  <a:pt x="28911" y="22715"/>
                </a:cubicBezTo>
                <a:cubicBezTo>
                  <a:pt x="28911" y="26149"/>
                  <a:pt x="31673" y="28911"/>
                  <a:pt x="35106" y="28911"/>
                </a:cubicBezTo>
                <a:lnTo>
                  <a:pt x="64016" y="28911"/>
                </a:lnTo>
                <a:close/>
                <a:moveTo>
                  <a:pt x="33041" y="66081"/>
                </a:moveTo>
                <a:cubicBezTo>
                  <a:pt x="33041" y="61522"/>
                  <a:pt x="29339" y="57821"/>
                  <a:pt x="24780" y="57821"/>
                </a:cubicBezTo>
                <a:cubicBezTo>
                  <a:pt x="20222" y="57821"/>
                  <a:pt x="16520" y="61522"/>
                  <a:pt x="16520" y="66081"/>
                </a:cubicBezTo>
                <a:cubicBezTo>
                  <a:pt x="16520" y="70640"/>
                  <a:pt x="20222" y="74341"/>
                  <a:pt x="24780" y="74341"/>
                </a:cubicBezTo>
                <a:cubicBezTo>
                  <a:pt x="29339" y="74341"/>
                  <a:pt x="33041" y="70640"/>
                  <a:pt x="33041" y="66081"/>
                </a:cubicBezTo>
                <a:close/>
                <a:moveTo>
                  <a:pt x="41301" y="66081"/>
                </a:moveTo>
                <a:cubicBezTo>
                  <a:pt x="41301" y="69514"/>
                  <a:pt x="44063" y="72276"/>
                  <a:pt x="47496" y="72276"/>
                </a:cubicBezTo>
                <a:lnTo>
                  <a:pt x="76407" y="72276"/>
                </a:lnTo>
                <a:cubicBezTo>
                  <a:pt x="79840" y="72276"/>
                  <a:pt x="82602" y="69514"/>
                  <a:pt x="82602" y="66081"/>
                </a:cubicBezTo>
                <a:cubicBezTo>
                  <a:pt x="82602" y="62648"/>
                  <a:pt x="79840" y="59886"/>
                  <a:pt x="76407" y="59886"/>
                </a:cubicBezTo>
                <a:lnTo>
                  <a:pt x="47496" y="59886"/>
                </a:lnTo>
                <a:cubicBezTo>
                  <a:pt x="44063" y="59886"/>
                  <a:pt x="41301" y="62648"/>
                  <a:pt x="41301" y="66081"/>
                </a:cubicBezTo>
                <a:close/>
                <a:moveTo>
                  <a:pt x="41301" y="99122"/>
                </a:moveTo>
                <a:cubicBezTo>
                  <a:pt x="41301" y="102555"/>
                  <a:pt x="44063" y="105317"/>
                  <a:pt x="47496" y="105317"/>
                </a:cubicBezTo>
                <a:lnTo>
                  <a:pt x="76407" y="105317"/>
                </a:lnTo>
                <a:cubicBezTo>
                  <a:pt x="79840" y="105317"/>
                  <a:pt x="82602" y="102555"/>
                  <a:pt x="82602" y="99122"/>
                </a:cubicBezTo>
                <a:cubicBezTo>
                  <a:pt x="82602" y="95689"/>
                  <a:pt x="79840" y="92927"/>
                  <a:pt x="76407" y="92927"/>
                </a:cubicBezTo>
                <a:lnTo>
                  <a:pt x="47496" y="92927"/>
                </a:lnTo>
                <a:cubicBezTo>
                  <a:pt x="44063" y="92927"/>
                  <a:pt x="41301" y="95689"/>
                  <a:pt x="41301" y="99122"/>
                </a:cubicBezTo>
                <a:close/>
                <a:moveTo>
                  <a:pt x="24780" y="107382"/>
                </a:moveTo>
                <a:cubicBezTo>
                  <a:pt x="29339" y="107382"/>
                  <a:pt x="33041" y="103681"/>
                  <a:pt x="33041" y="99122"/>
                </a:cubicBezTo>
                <a:cubicBezTo>
                  <a:pt x="33041" y="94563"/>
                  <a:pt x="29339" y="90862"/>
                  <a:pt x="24780" y="90862"/>
                </a:cubicBezTo>
                <a:cubicBezTo>
                  <a:pt x="20222" y="90862"/>
                  <a:pt x="16520" y="94563"/>
                  <a:pt x="16520" y="99122"/>
                </a:cubicBezTo>
                <a:cubicBezTo>
                  <a:pt x="16520" y="103681"/>
                  <a:pt x="20222" y="107382"/>
                  <a:pt x="24780" y="107382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55" name="Text 53"/>
          <p:cNvSpPr/>
          <p:nvPr/>
        </p:nvSpPr>
        <p:spPr>
          <a:xfrm>
            <a:off x="7802047" y="2725854"/>
            <a:ext cx="3839297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评选标准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593864" y="2990179"/>
            <a:ext cx="4039220" cy="330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团队探索的AI-Native工具、经验、流程、方法使项目开发/测试周期缩短（提效），并将这些经验沉淀为组织能力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494742" y="3518829"/>
            <a:ext cx="2040260" cy="726894"/>
          </a:xfrm>
          <a:custGeom>
            <a:avLst/>
            <a:gdLst/>
            <a:ahLst/>
            <a:cxnLst/>
            <a:rect l="l" t="t" r="r" b="b"/>
            <a:pathLst>
              <a:path w="2040260" h="726894">
                <a:moveTo>
                  <a:pt x="66082" y="0"/>
                </a:moveTo>
                <a:lnTo>
                  <a:pt x="1974178" y="0"/>
                </a:lnTo>
                <a:cubicBezTo>
                  <a:pt x="2010674" y="0"/>
                  <a:pt x="2040260" y="29586"/>
                  <a:pt x="2040260" y="66082"/>
                </a:cubicBezTo>
                <a:lnTo>
                  <a:pt x="2040260" y="660812"/>
                </a:lnTo>
                <a:cubicBezTo>
                  <a:pt x="2040260" y="697308"/>
                  <a:pt x="2010674" y="726894"/>
                  <a:pt x="1974178" y="726894"/>
                </a:cubicBezTo>
                <a:lnTo>
                  <a:pt x="66082" y="726894"/>
                </a:lnTo>
                <a:cubicBezTo>
                  <a:pt x="29586" y="726894"/>
                  <a:pt x="0" y="697308"/>
                  <a:pt x="0" y="660812"/>
                </a:cubicBezTo>
                <a:lnTo>
                  <a:pt x="0" y="66082"/>
                </a:lnTo>
                <a:cubicBezTo>
                  <a:pt x="0" y="29610"/>
                  <a:pt x="29610" y="0"/>
                  <a:pt x="6608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8" name="Text 56"/>
          <p:cNvSpPr/>
          <p:nvPr/>
        </p:nvSpPr>
        <p:spPr>
          <a:xfrm>
            <a:off x="7569084" y="3617951"/>
            <a:ext cx="1891577" cy="1321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目标对象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556694" y="3783154"/>
            <a:ext cx="1916358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635028" y="3518829"/>
            <a:ext cx="2040260" cy="726894"/>
          </a:xfrm>
          <a:custGeom>
            <a:avLst/>
            <a:gdLst/>
            <a:ahLst/>
            <a:cxnLst/>
            <a:rect l="l" t="t" r="r" b="b"/>
            <a:pathLst>
              <a:path w="2040260" h="726894">
                <a:moveTo>
                  <a:pt x="66082" y="0"/>
                </a:moveTo>
                <a:lnTo>
                  <a:pt x="1974178" y="0"/>
                </a:lnTo>
                <a:cubicBezTo>
                  <a:pt x="2010674" y="0"/>
                  <a:pt x="2040260" y="29586"/>
                  <a:pt x="2040260" y="66082"/>
                </a:cubicBezTo>
                <a:lnTo>
                  <a:pt x="2040260" y="660812"/>
                </a:lnTo>
                <a:cubicBezTo>
                  <a:pt x="2040260" y="697308"/>
                  <a:pt x="2010674" y="726894"/>
                  <a:pt x="1974178" y="726894"/>
                </a:cubicBezTo>
                <a:lnTo>
                  <a:pt x="66082" y="726894"/>
                </a:lnTo>
                <a:cubicBezTo>
                  <a:pt x="29586" y="726894"/>
                  <a:pt x="0" y="697308"/>
                  <a:pt x="0" y="660812"/>
                </a:cubicBezTo>
                <a:lnTo>
                  <a:pt x="0" y="66082"/>
                </a:lnTo>
                <a:cubicBezTo>
                  <a:pt x="0" y="29610"/>
                  <a:pt x="29610" y="0"/>
                  <a:pt x="6608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1" name="Text 59"/>
          <p:cNvSpPr/>
          <p:nvPr/>
        </p:nvSpPr>
        <p:spPr>
          <a:xfrm>
            <a:off x="9709369" y="3617951"/>
            <a:ext cx="1891577" cy="1321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奖励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696979" y="3783154"/>
            <a:ext cx="1916358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0" b="1" dirty="0">
                <a:solidFill>
                  <a:srgbClr val="F59E0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5K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709369" y="4014439"/>
            <a:ext cx="1891577" cy="1321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团队活动经费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494742" y="4344846"/>
            <a:ext cx="4179642" cy="396488"/>
          </a:xfrm>
          <a:custGeom>
            <a:avLst/>
            <a:gdLst/>
            <a:ahLst/>
            <a:cxnLst/>
            <a:rect l="l" t="t" r="r" b="b"/>
            <a:pathLst>
              <a:path w="4179642" h="396488">
                <a:moveTo>
                  <a:pt x="66083" y="0"/>
                </a:moveTo>
                <a:lnTo>
                  <a:pt x="4113560" y="0"/>
                </a:lnTo>
                <a:cubicBezTo>
                  <a:pt x="4150056" y="0"/>
                  <a:pt x="4179642" y="29586"/>
                  <a:pt x="4179642" y="66083"/>
                </a:cubicBezTo>
                <a:lnTo>
                  <a:pt x="4179642" y="330405"/>
                </a:lnTo>
                <a:cubicBezTo>
                  <a:pt x="4179642" y="366902"/>
                  <a:pt x="4150056" y="396488"/>
                  <a:pt x="4113560" y="396488"/>
                </a:cubicBezTo>
                <a:lnTo>
                  <a:pt x="66083" y="396488"/>
                </a:lnTo>
                <a:cubicBezTo>
                  <a:pt x="29586" y="396488"/>
                  <a:pt x="0" y="366902"/>
                  <a:pt x="0" y="330405"/>
                </a:cubicBezTo>
                <a:lnTo>
                  <a:pt x="0" y="66083"/>
                </a:lnTo>
                <a:cubicBezTo>
                  <a:pt x="0" y="29611"/>
                  <a:pt x="29611" y="0"/>
                  <a:pt x="6608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5" name="Shape 63"/>
          <p:cNvSpPr/>
          <p:nvPr/>
        </p:nvSpPr>
        <p:spPr>
          <a:xfrm>
            <a:off x="7618645" y="4468748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33041" y="0"/>
                </a:moveTo>
                <a:cubicBezTo>
                  <a:pt x="28472" y="0"/>
                  <a:pt x="24780" y="3691"/>
                  <a:pt x="24780" y="8260"/>
                </a:cubicBezTo>
                <a:lnTo>
                  <a:pt x="24780" y="16520"/>
                </a:lnTo>
                <a:lnTo>
                  <a:pt x="16520" y="16520"/>
                </a:lnTo>
                <a:cubicBezTo>
                  <a:pt x="7408" y="16520"/>
                  <a:pt x="0" y="23929"/>
                  <a:pt x="0" y="33041"/>
                </a:cubicBezTo>
                <a:lnTo>
                  <a:pt x="0" y="45431"/>
                </a:lnTo>
                <a:lnTo>
                  <a:pt x="115642" y="45431"/>
                </a:lnTo>
                <a:lnTo>
                  <a:pt x="115642" y="33041"/>
                </a:lnTo>
                <a:cubicBezTo>
                  <a:pt x="115642" y="23929"/>
                  <a:pt x="108234" y="16520"/>
                  <a:pt x="99122" y="16520"/>
                </a:cubicBezTo>
                <a:lnTo>
                  <a:pt x="90862" y="16520"/>
                </a:lnTo>
                <a:lnTo>
                  <a:pt x="90862" y="8260"/>
                </a:lnTo>
                <a:cubicBezTo>
                  <a:pt x="90862" y="3691"/>
                  <a:pt x="87171" y="0"/>
                  <a:pt x="82602" y="0"/>
                </a:cubicBezTo>
                <a:cubicBezTo>
                  <a:pt x="78033" y="0"/>
                  <a:pt x="74341" y="3691"/>
                  <a:pt x="74341" y="8260"/>
                </a:cubicBezTo>
                <a:lnTo>
                  <a:pt x="74341" y="16520"/>
                </a:lnTo>
                <a:lnTo>
                  <a:pt x="41301" y="16520"/>
                </a:lnTo>
                <a:lnTo>
                  <a:pt x="41301" y="8260"/>
                </a:lnTo>
                <a:cubicBezTo>
                  <a:pt x="41301" y="3691"/>
                  <a:pt x="37610" y="0"/>
                  <a:pt x="33041" y="0"/>
                </a:cubicBezTo>
                <a:close/>
                <a:moveTo>
                  <a:pt x="0" y="57821"/>
                </a:moveTo>
                <a:lnTo>
                  <a:pt x="0" y="107382"/>
                </a:lnTo>
                <a:cubicBezTo>
                  <a:pt x="0" y="116494"/>
                  <a:pt x="7408" y="123902"/>
                  <a:pt x="16520" y="123902"/>
                </a:cubicBezTo>
                <a:lnTo>
                  <a:pt x="99122" y="123902"/>
                </a:lnTo>
                <a:cubicBezTo>
                  <a:pt x="108234" y="123902"/>
                  <a:pt x="115642" y="116494"/>
                  <a:pt x="115642" y="107382"/>
                </a:cubicBezTo>
                <a:lnTo>
                  <a:pt x="115642" y="57821"/>
                </a:lnTo>
                <a:lnTo>
                  <a:pt x="0" y="57821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66" name="Text 64"/>
          <p:cNvSpPr/>
          <p:nvPr/>
        </p:nvSpPr>
        <p:spPr>
          <a:xfrm>
            <a:off x="7802047" y="4443967"/>
            <a:ext cx="617833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评选周期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312744" y="4443967"/>
            <a:ext cx="330407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F59E0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每月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494742" y="4840455"/>
            <a:ext cx="4179642" cy="396488"/>
          </a:xfrm>
          <a:custGeom>
            <a:avLst/>
            <a:gdLst/>
            <a:ahLst/>
            <a:cxnLst/>
            <a:rect l="l" t="t" r="r" b="b"/>
            <a:pathLst>
              <a:path w="4179642" h="396488">
                <a:moveTo>
                  <a:pt x="66083" y="0"/>
                </a:moveTo>
                <a:lnTo>
                  <a:pt x="4113560" y="0"/>
                </a:lnTo>
                <a:cubicBezTo>
                  <a:pt x="4150056" y="0"/>
                  <a:pt x="4179642" y="29586"/>
                  <a:pt x="4179642" y="66083"/>
                </a:cubicBezTo>
                <a:lnTo>
                  <a:pt x="4179642" y="330405"/>
                </a:lnTo>
                <a:cubicBezTo>
                  <a:pt x="4179642" y="366902"/>
                  <a:pt x="4150056" y="396488"/>
                  <a:pt x="4113560" y="396488"/>
                </a:cubicBezTo>
                <a:lnTo>
                  <a:pt x="66083" y="396488"/>
                </a:lnTo>
                <a:cubicBezTo>
                  <a:pt x="29586" y="396488"/>
                  <a:pt x="0" y="366902"/>
                  <a:pt x="0" y="330405"/>
                </a:cubicBezTo>
                <a:lnTo>
                  <a:pt x="0" y="66083"/>
                </a:lnTo>
                <a:cubicBezTo>
                  <a:pt x="0" y="29611"/>
                  <a:pt x="29611" y="0"/>
                  <a:pt x="6608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9" name="Shape 67"/>
          <p:cNvSpPr/>
          <p:nvPr/>
        </p:nvSpPr>
        <p:spPr>
          <a:xfrm>
            <a:off x="7593864" y="4964358"/>
            <a:ext cx="165203" cy="132163"/>
          </a:xfrm>
          <a:custGeom>
            <a:avLst/>
            <a:gdLst/>
            <a:ahLst/>
            <a:cxnLst/>
            <a:rect l="l" t="t" r="r" b="b"/>
            <a:pathLst>
              <a:path w="165203" h="132163">
                <a:moveTo>
                  <a:pt x="82602" y="4130"/>
                </a:moveTo>
                <a:cubicBezTo>
                  <a:pt x="97418" y="4130"/>
                  <a:pt x="109447" y="16159"/>
                  <a:pt x="109447" y="30976"/>
                </a:cubicBezTo>
                <a:cubicBezTo>
                  <a:pt x="109447" y="45792"/>
                  <a:pt x="97418" y="57821"/>
                  <a:pt x="82602" y="57821"/>
                </a:cubicBezTo>
                <a:cubicBezTo>
                  <a:pt x="67785" y="57821"/>
                  <a:pt x="55756" y="45792"/>
                  <a:pt x="55756" y="30976"/>
                </a:cubicBezTo>
                <a:cubicBezTo>
                  <a:pt x="55756" y="16159"/>
                  <a:pt x="67785" y="4130"/>
                  <a:pt x="82602" y="4130"/>
                </a:cubicBezTo>
                <a:close/>
                <a:moveTo>
                  <a:pt x="24780" y="22715"/>
                </a:moveTo>
                <a:cubicBezTo>
                  <a:pt x="35038" y="22715"/>
                  <a:pt x="43366" y="31043"/>
                  <a:pt x="43366" y="41301"/>
                </a:cubicBezTo>
                <a:cubicBezTo>
                  <a:pt x="43366" y="51558"/>
                  <a:pt x="35038" y="59886"/>
                  <a:pt x="24780" y="59886"/>
                </a:cubicBezTo>
                <a:cubicBezTo>
                  <a:pt x="14523" y="59886"/>
                  <a:pt x="6195" y="51558"/>
                  <a:pt x="6195" y="41301"/>
                </a:cubicBezTo>
                <a:cubicBezTo>
                  <a:pt x="6195" y="31043"/>
                  <a:pt x="14523" y="22715"/>
                  <a:pt x="24780" y="22715"/>
                </a:cubicBezTo>
                <a:close/>
                <a:moveTo>
                  <a:pt x="0" y="107382"/>
                </a:moveTo>
                <a:cubicBezTo>
                  <a:pt x="0" y="89132"/>
                  <a:pt x="14791" y="74341"/>
                  <a:pt x="33041" y="74341"/>
                </a:cubicBezTo>
                <a:cubicBezTo>
                  <a:pt x="36345" y="74341"/>
                  <a:pt x="39546" y="74832"/>
                  <a:pt x="42566" y="75735"/>
                </a:cubicBezTo>
                <a:cubicBezTo>
                  <a:pt x="34073" y="85235"/>
                  <a:pt x="28911" y="97780"/>
                  <a:pt x="28911" y="111512"/>
                </a:cubicBezTo>
                <a:lnTo>
                  <a:pt x="28911" y="115642"/>
                </a:lnTo>
                <a:cubicBezTo>
                  <a:pt x="28911" y="118585"/>
                  <a:pt x="29530" y="121373"/>
                  <a:pt x="30640" y="123902"/>
                </a:cubicBezTo>
                <a:lnTo>
                  <a:pt x="8260" y="123902"/>
                </a:lnTo>
                <a:cubicBezTo>
                  <a:pt x="3691" y="123902"/>
                  <a:pt x="0" y="120211"/>
                  <a:pt x="0" y="115642"/>
                </a:cubicBezTo>
                <a:lnTo>
                  <a:pt x="0" y="107382"/>
                </a:lnTo>
                <a:close/>
                <a:moveTo>
                  <a:pt x="134563" y="123902"/>
                </a:moveTo>
                <a:cubicBezTo>
                  <a:pt x="135673" y="121373"/>
                  <a:pt x="136293" y="118585"/>
                  <a:pt x="136293" y="115642"/>
                </a:cubicBezTo>
                <a:lnTo>
                  <a:pt x="136293" y="111512"/>
                </a:lnTo>
                <a:cubicBezTo>
                  <a:pt x="136293" y="97780"/>
                  <a:pt x="131130" y="85235"/>
                  <a:pt x="122638" y="75735"/>
                </a:cubicBezTo>
                <a:cubicBezTo>
                  <a:pt x="125658" y="74832"/>
                  <a:pt x="128859" y="74341"/>
                  <a:pt x="132163" y="74341"/>
                </a:cubicBezTo>
                <a:cubicBezTo>
                  <a:pt x="150412" y="74341"/>
                  <a:pt x="165203" y="89132"/>
                  <a:pt x="165203" y="107382"/>
                </a:cubicBezTo>
                <a:lnTo>
                  <a:pt x="165203" y="115642"/>
                </a:lnTo>
                <a:cubicBezTo>
                  <a:pt x="165203" y="120211"/>
                  <a:pt x="161512" y="123902"/>
                  <a:pt x="156943" y="123902"/>
                </a:cubicBezTo>
                <a:lnTo>
                  <a:pt x="134563" y="123902"/>
                </a:lnTo>
                <a:close/>
                <a:moveTo>
                  <a:pt x="121837" y="41301"/>
                </a:moveTo>
                <a:cubicBezTo>
                  <a:pt x="121837" y="31043"/>
                  <a:pt x="130165" y="22715"/>
                  <a:pt x="140423" y="22715"/>
                </a:cubicBezTo>
                <a:cubicBezTo>
                  <a:pt x="150680" y="22715"/>
                  <a:pt x="159008" y="31043"/>
                  <a:pt x="159008" y="41301"/>
                </a:cubicBezTo>
                <a:cubicBezTo>
                  <a:pt x="159008" y="51558"/>
                  <a:pt x="150680" y="59886"/>
                  <a:pt x="140423" y="59886"/>
                </a:cubicBezTo>
                <a:cubicBezTo>
                  <a:pt x="130165" y="59886"/>
                  <a:pt x="121837" y="51558"/>
                  <a:pt x="121837" y="41301"/>
                </a:cubicBezTo>
                <a:close/>
                <a:moveTo>
                  <a:pt x="41301" y="111512"/>
                </a:moveTo>
                <a:cubicBezTo>
                  <a:pt x="41301" y="88693"/>
                  <a:pt x="59783" y="70211"/>
                  <a:pt x="82602" y="70211"/>
                </a:cubicBezTo>
                <a:cubicBezTo>
                  <a:pt x="105420" y="70211"/>
                  <a:pt x="123902" y="88693"/>
                  <a:pt x="123902" y="111512"/>
                </a:cubicBezTo>
                <a:lnTo>
                  <a:pt x="123902" y="115642"/>
                </a:lnTo>
                <a:cubicBezTo>
                  <a:pt x="123902" y="120211"/>
                  <a:pt x="120211" y="123902"/>
                  <a:pt x="115642" y="123902"/>
                </a:cubicBezTo>
                <a:lnTo>
                  <a:pt x="49561" y="123902"/>
                </a:lnTo>
                <a:cubicBezTo>
                  <a:pt x="44992" y="123902"/>
                  <a:pt x="41301" y="120211"/>
                  <a:pt x="41301" y="115642"/>
                </a:cubicBezTo>
                <a:lnTo>
                  <a:pt x="41301" y="111512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70" name="Text 68"/>
          <p:cNvSpPr/>
          <p:nvPr/>
        </p:nvSpPr>
        <p:spPr>
          <a:xfrm>
            <a:off x="7802047" y="4939577"/>
            <a:ext cx="485671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评委组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401799" y="4939577"/>
            <a:ext cx="239545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10B98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RC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ed.eu/a62f31a52890ba387a9b19542707046fd888e9c5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5729" b="5729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381000" y="1930003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5" name="Text 2"/>
          <p:cNvSpPr/>
          <p:nvPr/>
        </p:nvSpPr>
        <p:spPr>
          <a:xfrm>
            <a:off x="609600" y="1339453"/>
            <a:ext cx="2857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10B98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09600" y="1720453"/>
            <a:ext cx="30861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运营与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推进计划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3739753"/>
            <a:ext cx="3495675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如何落地？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4546997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9" name="Text 6"/>
          <p:cNvSpPr/>
          <p:nvPr/>
        </p:nvSpPr>
        <p:spPr>
          <a:xfrm>
            <a:off x="1562100" y="4432697"/>
            <a:ext cx="2571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检视机制、分享机制与时间表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90563" y="5008959"/>
            <a:ext cx="1504950" cy="504825"/>
          </a:xfrm>
          <a:custGeom>
            <a:avLst/>
            <a:gdLst/>
            <a:ahLst/>
            <a:cxnLst/>
            <a:rect l="l" t="t" r="r" b="b"/>
            <a:pathLst>
              <a:path w="1504950" h="504825">
                <a:moveTo>
                  <a:pt x="76198" y="0"/>
                </a:moveTo>
                <a:lnTo>
                  <a:pt x="1428752" y="0"/>
                </a:lnTo>
                <a:cubicBezTo>
                  <a:pt x="1470835" y="0"/>
                  <a:pt x="1504950" y="34115"/>
                  <a:pt x="1504950" y="76198"/>
                </a:cubicBezTo>
                <a:lnTo>
                  <a:pt x="1504950" y="428627"/>
                </a:lnTo>
                <a:cubicBezTo>
                  <a:pt x="1504950" y="470710"/>
                  <a:pt x="1470835" y="504825"/>
                  <a:pt x="1428752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23925" y="516612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12" name="Text 9"/>
          <p:cNvSpPr/>
          <p:nvPr/>
        </p:nvSpPr>
        <p:spPr>
          <a:xfrm>
            <a:off x="1276350" y="5128022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运营机制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33638" y="5008959"/>
            <a:ext cx="1333500" cy="504825"/>
          </a:xfrm>
          <a:custGeom>
            <a:avLst/>
            <a:gdLst/>
            <a:ahLst/>
            <a:cxnLst/>
            <a:rect l="l" t="t" r="r" b="b"/>
            <a:pathLst>
              <a:path w="1333500" h="504825">
                <a:moveTo>
                  <a:pt x="76198" y="0"/>
                </a:moveTo>
                <a:lnTo>
                  <a:pt x="1257302" y="0"/>
                </a:lnTo>
                <a:cubicBezTo>
                  <a:pt x="1299385" y="0"/>
                  <a:pt x="1333500" y="34115"/>
                  <a:pt x="1333500" y="76198"/>
                </a:cubicBezTo>
                <a:lnTo>
                  <a:pt x="1333500" y="428627"/>
                </a:lnTo>
                <a:cubicBezTo>
                  <a:pt x="1333500" y="470710"/>
                  <a:pt x="1299385" y="504825"/>
                  <a:pt x="1257302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02719" y="516612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114746" y="85092"/>
                </a:moveTo>
                <a:cubicBezTo>
                  <a:pt x="117351" y="80925"/>
                  <a:pt x="116086" y="75419"/>
                  <a:pt x="111919" y="72777"/>
                </a:cubicBezTo>
                <a:cubicBezTo>
                  <a:pt x="107752" y="70135"/>
                  <a:pt x="102245" y="71438"/>
                  <a:pt x="99603" y="75605"/>
                </a:cubicBezTo>
                <a:lnTo>
                  <a:pt x="76758" y="112179"/>
                </a:lnTo>
                <a:lnTo>
                  <a:pt x="66712" y="98785"/>
                </a:lnTo>
                <a:cubicBezTo>
                  <a:pt x="63736" y="94841"/>
                  <a:pt x="58155" y="94022"/>
                  <a:pt x="54211" y="96999"/>
                </a:cubicBezTo>
                <a:cubicBezTo>
                  <a:pt x="50267" y="99975"/>
                  <a:pt x="49448" y="105556"/>
                  <a:pt x="52425" y="109500"/>
                </a:cubicBezTo>
                <a:lnTo>
                  <a:pt x="70284" y="133313"/>
                </a:lnTo>
                <a:cubicBezTo>
                  <a:pt x="72033" y="135657"/>
                  <a:pt x="74861" y="136996"/>
                  <a:pt x="77800" y="136885"/>
                </a:cubicBezTo>
                <a:cubicBezTo>
                  <a:pt x="80739" y="136773"/>
                  <a:pt x="83418" y="135210"/>
                  <a:pt x="84981" y="132680"/>
                </a:cubicBezTo>
                <a:lnTo>
                  <a:pt x="114746" y="85055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15" name="Text 12"/>
          <p:cNvSpPr/>
          <p:nvPr/>
        </p:nvSpPr>
        <p:spPr>
          <a:xfrm>
            <a:off x="3019425" y="5128022"/>
            <a:ext cx="600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54" y="342954"/>
            <a:ext cx="51443" cy="342954"/>
          </a:xfrm>
          <a:custGeom>
            <a:avLst/>
            <a:gdLst/>
            <a:ahLst/>
            <a:cxnLst/>
            <a:rect l="l" t="t" r="r" b="b"/>
            <a:pathLst>
              <a:path w="51443" h="342954">
                <a:moveTo>
                  <a:pt x="0" y="0"/>
                </a:moveTo>
                <a:lnTo>
                  <a:pt x="51443" y="0"/>
                </a:lnTo>
                <a:lnTo>
                  <a:pt x="51443" y="342954"/>
                </a:lnTo>
                <a:lnTo>
                  <a:pt x="0" y="342954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3" name="Text 1"/>
          <p:cNvSpPr/>
          <p:nvPr/>
        </p:nvSpPr>
        <p:spPr>
          <a:xfrm>
            <a:off x="497283" y="342954"/>
            <a:ext cx="3232338" cy="342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运营机制：检视与分享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726" y="754498"/>
            <a:ext cx="11377485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运营机制保障转型落地，激发团队竞争活力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241" y="1170329"/>
            <a:ext cx="5658734" cy="2632169"/>
          </a:xfrm>
          <a:custGeom>
            <a:avLst/>
            <a:gdLst/>
            <a:ahLst/>
            <a:cxnLst/>
            <a:rect l="l" t="t" r="r" b="b"/>
            <a:pathLst>
              <a:path w="5658734" h="2632169">
                <a:moveTo>
                  <a:pt x="102891" y="0"/>
                </a:moveTo>
                <a:lnTo>
                  <a:pt x="5555843" y="0"/>
                </a:lnTo>
                <a:cubicBezTo>
                  <a:pt x="5612668" y="0"/>
                  <a:pt x="5658734" y="46066"/>
                  <a:pt x="5658734" y="102891"/>
                </a:cubicBezTo>
                <a:lnTo>
                  <a:pt x="5658734" y="2529277"/>
                </a:lnTo>
                <a:cubicBezTo>
                  <a:pt x="5658734" y="2586103"/>
                  <a:pt x="5612668" y="2632169"/>
                  <a:pt x="5555843" y="2632169"/>
                </a:cubicBezTo>
                <a:lnTo>
                  <a:pt x="102891" y="2632169"/>
                </a:lnTo>
                <a:cubicBezTo>
                  <a:pt x="46066" y="2632169"/>
                  <a:pt x="0" y="2586103"/>
                  <a:pt x="0" y="2529277"/>
                </a:cubicBezTo>
                <a:lnTo>
                  <a:pt x="0" y="102891"/>
                </a:lnTo>
                <a:cubicBezTo>
                  <a:pt x="0" y="46104"/>
                  <a:pt x="46104" y="0"/>
                  <a:pt x="10289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3004" y="1346093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102888" y="0"/>
                </a:moveTo>
                <a:lnTo>
                  <a:pt x="377247" y="0"/>
                </a:lnTo>
                <a:cubicBezTo>
                  <a:pt x="434070" y="0"/>
                  <a:pt x="480135" y="46065"/>
                  <a:pt x="480135" y="102888"/>
                </a:cubicBezTo>
                <a:lnTo>
                  <a:pt x="480135" y="377247"/>
                </a:lnTo>
                <a:cubicBezTo>
                  <a:pt x="480135" y="434070"/>
                  <a:pt x="434070" y="480135"/>
                  <a:pt x="377247" y="480135"/>
                </a:cubicBezTo>
                <a:lnTo>
                  <a:pt x="102888" y="480135"/>
                </a:lnTo>
                <a:cubicBezTo>
                  <a:pt x="46065" y="480135"/>
                  <a:pt x="0" y="434070"/>
                  <a:pt x="0" y="377247"/>
                </a:cubicBezTo>
                <a:lnTo>
                  <a:pt x="0" y="102888"/>
                </a:lnTo>
                <a:cubicBezTo>
                  <a:pt x="0" y="46065"/>
                  <a:pt x="46065" y="0"/>
                  <a:pt x="102888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7" name="Shape 5"/>
          <p:cNvSpPr/>
          <p:nvPr/>
        </p:nvSpPr>
        <p:spPr>
          <a:xfrm>
            <a:off x="647325" y="1483274"/>
            <a:ext cx="231494" cy="205772"/>
          </a:xfrm>
          <a:custGeom>
            <a:avLst/>
            <a:gdLst/>
            <a:ahLst/>
            <a:cxnLst/>
            <a:rect l="l" t="t" r="r" b="b"/>
            <a:pathLst>
              <a:path w="231494" h="205772">
                <a:moveTo>
                  <a:pt x="115747" y="12861"/>
                </a:moveTo>
                <a:cubicBezTo>
                  <a:pt x="83273" y="12861"/>
                  <a:pt x="57271" y="27651"/>
                  <a:pt x="38341" y="45254"/>
                </a:cubicBezTo>
                <a:cubicBezTo>
                  <a:pt x="19532" y="62736"/>
                  <a:pt x="6953" y="83595"/>
                  <a:pt x="965" y="97943"/>
                </a:cubicBezTo>
                <a:cubicBezTo>
                  <a:pt x="-362" y="101118"/>
                  <a:pt x="-362" y="104654"/>
                  <a:pt x="965" y="107829"/>
                </a:cubicBezTo>
                <a:cubicBezTo>
                  <a:pt x="6953" y="122177"/>
                  <a:pt x="19532" y="143076"/>
                  <a:pt x="38341" y="160518"/>
                </a:cubicBezTo>
                <a:cubicBezTo>
                  <a:pt x="57271" y="178081"/>
                  <a:pt x="83273" y="192911"/>
                  <a:pt x="115747" y="192911"/>
                </a:cubicBezTo>
                <a:cubicBezTo>
                  <a:pt x="148220" y="192911"/>
                  <a:pt x="174223" y="178122"/>
                  <a:pt x="193153" y="160518"/>
                </a:cubicBezTo>
                <a:cubicBezTo>
                  <a:pt x="211961" y="143036"/>
                  <a:pt x="224541" y="122177"/>
                  <a:pt x="230529" y="107829"/>
                </a:cubicBezTo>
                <a:cubicBezTo>
                  <a:pt x="231855" y="104654"/>
                  <a:pt x="231855" y="101118"/>
                  <a:pt x="230529" y="97943"/>
                </a:cubicBezTo>
                <a:cubicBezTo>
                  <a:pt x="224541" y="83595"/>
                  <a:pt x="211961" y="62696"/>
                  <a:pt x="193153" y="45254"/>
                </a:cubicBezTo>
                <a:cubicBezTo>
                  <a:pt x="174223" y="27691"/>
                  <a:pt x="148220" y="12861"/>
                  <a:pt x="115747" y="12861"/>
                </a:cubicBezTo>
                <a:close/>
                <a:moveTo>
                  <a:pt x="57873" y="102886"/>
                </a:moveTo>
                <a:cubicBezTo>
                  <a:pt x="57873" y="70945"/>
                  <a:pt x="83806" y="45013"/>
                  <a:pt x="115747" y="45013"/>
                </a:cubicBezTo>
                <a:cubicBezTo>
                  <a:pt x="147688" y="45013"/>
                  <a:pt x="173620" y="70945"/>
                  <a:pt x="173620" y="102886"/>
                </a:cubicBezTo>
                <a:cubicBezTo>
                  <a:pt x="173620" y="134827"/>
                  <a:pt x="147688" y="160759"/>
                  <a:pt x="115747" y="160759"/>
                </a:cubicBezTo>
                <a:cubicBezTo>
                  <a:pt x="83806" y="160759"/>
                  <a:pt x="57873" y="134827"/>
                  <a:pt x="57873" y="102886"/>
                </a:cubicBezTo>
                <a:close/>
                <a:moveTo>
                  <a:pt x="115747" y="77165"/>
                </a:moveTo>
                <a:cubicBezTo>
                  <a:pt x="115747" y="91352"/>
                  <a:pt x="104212" y="102886"/>
                  <a:pt x="90025" y="102886"/>
                </a:cubicBezTo>
                <a:cubicBezTo>
                  <a:pt x="85403" y="102886"/>
                  <a:pt x="81063" y="101680"/>
                  <a:pt x="77285" y="99510"/>
                </a:cubicBezTo>
                <a:cubicBezTo>
                  <a:pt x="76883" y="103891"/>
                  <a:pt x="77245" y="108392"/>
                  <a:pt x="78451" y="112853"/>
                </a:cubicBezTo>
                <a:cubicBezTo>
                  <a:pt x="83957" y="133430"/>
                  <a:pt x="105137" y="145648"/>
                  <a:pt x="125714" y="140142"/>
                </a:cubicBezTo>
                <a:cubicBezTo>
                  <a:pt x="146291" y="134636"/>
                  <a:pt x="158509" y="113456"/>
                  <a:pt x="153003" y="92879"/>
                </a:cubicBezTo>
                <a:cubicBezTo>
                  <a:pt x="148100" y="74512"/>
                  <a:pt x="130697" y="62817"/>
                  <a:pt x="112371" y="64424"/>
                </a:cubicBezTo>
                <a:cubicBezTo>
                  <a:pt x="114501" y="68162"/>
                  <a:pt x="115747" y="72503"/>
                  <a:pt x="115747" y="7716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106025" y="1448979"/>
            <a:ext cx="720203" cy="274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检视会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0152" y="1963409"/>
            <a:ext cx="5290059" cy="780219"/>
          </a:xfrm>
          <a:custGeom>
            <a:avLst/>
            <a:gdLst/>
            <a:ahLst/>
            <a:cxnLst/>
            <a:rect l="l" t="t" r="r" b="b"/>
            <a:pathLst>
              <a:path w="5290059" h="780219">
                <a:moveTo>
                  <a:pt x="34295" y="0"/>
                </a:moveTo>
                <a:lnTo>
                  <a:pt x="5221470" y="0"/>
                </a:lnTo>
                <a:cubicBezTo>
                  <a:pt x="5259351" y="0"/>
                  <a:pt x="5290059" y="30708"/>
                  <a:pt x="5290059" y="68589"/>
                </a:cubicBezTo>
                <a:lnTo>
                  <a:pt x="5290059" y="711630"/>
                </a:lnTo>
                <a:cubicBezTo>
                  <a:pt x="5290059" y="749511"/>
                  <a:pt x="5259351" y="780219"/>
                  <a:pt x="5221470" y="780219"/>
                </a:cubicBezTo>
                <a:lnTo>
                  <a:pt x="34295" y="780219"/>
                </a:lnTo>
                <a:cubicBezTo>
                  <a:pt x="15355" y="780219"/>
                  <a:pt x="0" y="764865"/>
                  <a:pt x="0" y="745924"/>
                </a:cubicBezTo>
                <a:lnTo>
                  <a:pt x="0" y="34295"/>
                </a:lnTo>
                <a:cubicBezTo>
                  <a:pt x="0" y="15367"/>
                  <a:pt x="15367" y="0"/>
                  <a:pt x="342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40152" y="1963409"/>
            <a:ext cx="34295" cy="780219"/>
          </a:xfrm>
          <a:custGeom>
            <a:avLst/>
            <a:gdLst/>
            <a:ahLst/>
            <a:cxnLst/>
            <a:rect l="l" t="t" r="r" b="b"/>
            <a:pathLst>
              <a:path w="34295" h="780219">
                <a:moveTo>
                  <a:pt x="34295" y="0"/>
                </a:moveTo>
                <a:lnTo>
                  <a:pt x="34295" y="0"/>
                </a:lnTo>
                <a:lnTo>
                  <a:pt x="34295" y="780219"/>
                </a:lnTo>
                <a:lnTo>
                  <a:pt x="34295" y="780219"/>
                </a:lnTo>
                <a:cubicBezTo>
                  <a:pt x="15355" y="780219"/>
                  <a:pt x="0" y="764865"/>
                  <a:pt x="0" y="745924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1" name="Shape 9"/>
          <p:cNvSpPr/>
          <p:nvPr/>
        </p:nvSpPr>
        <p:spPr>
          <a:xfrm>
            <a:off x="720203" y="2152034"/>
            <a:ext cx="120034" cy="137181"/>
          </a:xfrm>
          <a:custGeom>
            <a:avLst/>
            <a:gdLst/>
            <a:ahLst/>
            <a:cxnLst/>
            <a:rect l="l" t="t" r="r" b="b"/>
            <a:pathLst>
              <a:path w="120034" h="137181">
                <a:moveTo>
                  <a:pt x="34295" y="0"/>
                </a:moveTo>
                <a:cubicBezTo>
                  <a:pt x="39038" y="0"/>
                  <a:pt x="42869" y="3831"/>
                  <a:pt x="42869" y="8574"/>
                </a:cubicBezTo>
                <a:lnTo>
                  <a:pt x="42869" y="17148"/>
                </a:lnTo>
                <a:lnTo>
                  <a:pt x="77165" y="17148"/>
                </a:lnTo>
                <a:lnTo>
                  <a:pt x="77165" y="8574"/>
                </a:lnTo>
                <a:cubicBezTo>
                  <a:pt x="77165" y="3831"/>
                  <a:pt x="80996" y="0"/>
                  <a:pt x="85738" y="0"/>
                </a:cubicBezTo>
                <a:cubicBezTo>
                  <a:pt x="90481" y="0"/>
                  <a:pt x="94312" y="3831"/>
                  <a:pt x="94312" y="8574"/>
                </a:cubicBezTo>
                <a:lnTo>
                  <a:pt x="94312" y="17148"/>
                </a:lnTo>
                <a:lnTo>
                  <a:pt x="102886" y="17148"/>
                </a:lnTo>
                <a:cubicBezTo>
                  <a:pt x="112344" y="17148"/>
                  <a:pt x="120034" y="24837"/>
                  <a:pt x="120034" y="34295"/>
                </a:cubicBezTo>
                <a:lnTo>
                  <a:pt x="120034" y="111460"/>
                </a:lnTo>
                <a:cubicBezTo>
                  <a:pt x="120034" y="120918"/>
                  <a:pt x="112344" y="128608"/>
                  <a:pt x="102886" y="128608"/>
                </a:cubicBezTo>
                <a:lnTo>
                  <a:pt x="17148" y="128608"/>
                </a:lnTo>
                <a:cubicBezTo>
                  <a:pt x="7690" y="128608"/>
                  <a:pt x="0" y="120918"/>
                  <a:pt x="0" y="111460"/>
                </a:cubicBezTo>
                <a:lnTo>
                  <a:pt x="0" y="34295"/>
                </a:lnTo>
                <a:cubicBezTo>
                  <a:pt x="0" y="24837"/>
                  <a:pt x="7690" y="17148"/>
                  <a:pt x="17148" y="17148"/>
                </a:cubicBezTo>
                <a:lnTo>
                  <a:pt x="25722" y="17148"/>
                </a:lnTo>
                <a:lnTo>
                  <a:pt x="25722" y="8574"/>
                </a:lnTo>
                <a:cubicBezTo>
                  <a:pt x="25722" y="3831"/>
                  <a:pt x="29553" y="0"/>
                  <a:pt x="34295" y="0"/>
                </a:cubicBezTo>
                <a:close/>
                <a:moveTo>
                  <a:pt x="34295" y="68591"/>
                </a:moveTo>
                <a:cubicBezTo>
                  <a:pt x="29553" y="68591"/>
                  <a:pt x="25722" y="72422"/>
                  <a:pt x="25722" y="77165"/>
                </a:cubicBezTo>
                <a:lnTo>
                  <a:pt x="25722" y="94312"/>
                </a:lnTo>
                <a:cubicBezTo>
                  <a:pt x="25722" y="99055"/>
                  <a:pt x="29553" y="102886"/>
                  <a:pt x="34295" y="102886"/>
                </a:cubicBezTo>
                <a:lnTo>
                  <a:pt x="85738" y="102886"/>
                </a:lnTo>
                <a:cubicBezTo>
                  <a:pt x="90481" y="102886"/>
                  <a:pt x="94312" y="99055"/>
                  <a:pt x="94312" y="94312"/>
                </a:cubicBezTo>
                <a:lnTo>
                  <a:pt x="94312" y="77165"/>
                </a:lnTo>
                <a:cubicBezTo>
                  <a:pt x="94312" y="72422"/>
                  <a:pt x="90481" y="68591"/>
                  <a:pt x="85738" y="68591"/>
                </a:cubicBezTo>
                <a:lnTo>
                  <a:pt x="34295" y="68591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12" name="Text 10"/>
          <p:cNvSpPr/>
          <p:nvPr/>
        </p:nvSpPr>
        <p:spPr>
          <a:xfrm>
            <a:off x="934549" y="2100591"/>
            <a:ext cx="694481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每周检视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481" y="2409249"/>
            <a:ext cx="5058565" cy="1971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5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EPG例会，检视A2、B类中的关键项目的AI-Native变革进展（主要跟踪进度和卡点）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0152" y="2844371"/>
            <a:ext cx="5290059" cy="780219"/>
          </a:xfrm>
          <a:custGeom>
            <a:avLst/>
            <a:gdLst/>
            <a:ahLst/>
            <a:cxnLst/>
            <a:rect l="l" t="t" r="r" b="b"/>
            <a:pathLst>
              <a:path w="5290059" h="780219">
                <a:moveTo>
                  <a:pt x="34295" y="0"/>
                </a:moveTo>
                <a:lnTo>
                  <a:pt x="5221470" y="0"/>
                </a:lnTo>
                <a:cubicBezTo>
                  <a:pt x="5259351" y="0"/>
                  <a:pt x="5290059" y="30708"/>
                  <a:pt x="5290059" y="68589"/>
                </a:cubicBezTo>
                <a:lnTo>
                  <a:pt x="5290059" y="711630"/>
                </a:lnTo>
                <a:cubicBezTo>
                  <a:pt x="5290059" y="749511"/>
                  <a:pt x="5259351" y="780219"/>
                  <a:pt x="5221470" y="780219"/>
                </a:cubicBezTo>
                <a:lnTo>
                  <a:pt x="34295" y="780219"/>
                </a:lnTo>
                <a:cubicBezTo>
                  <a:pt x="15355" y="780219"/>
                  <a:pt x="0" y="764865"/>
                  <a:pt x="0" y="745924"/>
                </a:cubicBezTo>
                <a:lnTo>
                  <a:pt x="0" y="34295"/>
                </a:lnTo>
                <a:cubicBezTo>
                  <a:pt x="0" y="15367"/>
                  <a:pt x="15367" y="0"/>
                  <a:pt x="3429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540152" y="2844371"/>
            <a:ext cx="34295" cy="780219"/>
          </a:xfrm>
          <a:custGeom>
            <a:avLst/>
            <a:gdLst/>
            <a:ahLst/>
            <a:cxnLst/>
            <a:rect l="l" t="t" r="r" b="b"/>
            <a:pathLst>
              <a:path w="34295" h="780219">
                <a:moveTo>
                  <a:pt x="34295" y="0"/>
                </a:moveTo>
                <a:lnTo>
                  <a:pt x="34295" y="0"/>
                </a:lnTo>
                <a:lnTo>
                  <a:pt x="34295" y="780219"/>
                </a:lnTo>
                <a:lnTo>
                  <a:pt x="34295" y="780219"/>
                </a:lnTo>
                <a:cubicBezTo>
                  <a:pt x="15355" y="780219"/>
                  <a:pt x="0" y="764865"/>
                  <a:pt x="0" y="745924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16" name="Shape 14"/>
          <p:cNvSpPr/>
          <p:nvPr/>
        </p:nvSpPr>
        <p:spPr>
          <a:xfrm>
            <a:off x="703055" y="3032996"/>
            <a:ext cx="154329" cy="137181"/>
          </a:xfrm>
          <a:custGeom>
            <a:avLst/>
            <a:gdLst/>
            <a:ahLst/>
            <a:cxnLst/>
            <a:rect l="l" t="t" r="r" b="b"/>
            <a:pathLst>
              <a:path w="154329" h="137181">
                <a:moveTo>
                  <a:pt x="82925" y="-5064"/>
                </a:moveTo>
                <a:cubicBezTo>
                  <a:pt x="81827" y="-7207"/>
                  <a:pt x="79603" y="-8574"/>
                  <a:pt x="77191" y="-8574"/>
                </a:cubicBezTo>
                <a:cubicBezTo>
                  <a:pt x="74780" y="-8574"/>
                  <a:pt x="72556" y="-7207"/>
                  <a:pt x="71458" y="-5064"/>
                </a:cubicBezTo>
                <a:lnTo>
                  <a:pt x="51738" y="33572"/>
                </a:lnTo>
                <a:lnTo>
                  <a:pt x="8895" y="40377"/>
                </a:lnTo>
                <a:cubicBezTo>
                  <a:pt x="6511" y="40753"/>
                  <a:pt x="4528" y="42441"/>
                  <a:pt x="3778" y="44745"/>
                </a:cubicBezTo>
                <a:cubicBezTo>
                  <a:pt x="3028" y="47049"/>
                  <a:pt x="3644" y="49568"/>
                  <a:pt x="5332" y="51282"/>
                </a:cubicBezTo>
                <a:lnTo>
                  <a:pt x="35983" y="81961"/>
                </a:lnTo>
                <a:lnTo>
                  <a:pt x="29231" y="124803"/>
                </a:lnTo>
                <a:cubicBezTo>
                  <a:pt x="28856" y="127188"/>
                  <a:pt x="29848" y="129599"/>
                  <a:pt x="31804" y="131019"/>
                </a:cubicBezTo>
                <a:cubicBezTo>
                  <a:pt x="33759" y="132439"/>
                  <a:pt x="36332" y="132653"/>
                  <a:pt x="38502" y="131555"/>
                </a:cubicBezTo>
                <a:lnTo>
                  <a:pt x="77191" y="111889"/>
                </a:lnTo>
                <a:lnTo>
                  <a:pt x="115854" y="131555"/>
                </a:lnTo>
                <a:cubicBezTo>
                  <a:pt x="117997" y="132653"/>
                  <a:pt x="120596" y="132439"/>
                  <a:pt x="122552" y="131019"/>
                </a:cubicBezTo>
                <a:cubicBezTo>
                  <a:pt x="124508" y="129599"/>
                  <a:pt x="125500" y="127214"/>
                  <a:pt x="125124" y="124803"/>
                </a:cubicBezTo>
                <a:lnTo>
                  <a:pt x="118346" y="81961"/>
                </a:lnTo>
                <a:lnTo>
                  <a:pt x="148997" y="51282"/>
                </a:lnTo>
                <a:cubicBezTo>
                  <a:pt x="150712" y="49568"/>
                  <a:pt x="151301" y="47049"/>
                  <a:pt x="150551" y="44745"/>
                </a:cubicBezTo>
                <a:cubicBezTo>
                  <a:pt x="149801" y="42441"/>
                  <a:pt x="147845" y="40753"/>
                  <a:pt x="145434" y="40377"/>
                </a:cubicBezTo>
                <a:lnTo>
                  <a:pt x="102618" y="33572"/>
                </a:lnTo>
                <a:lnTo>
                  <a:pt x="82925" y="-5064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17" name="Text 15"/>
          <p:cNvSpPr/>
          <p:nvPr/>
        </p:nvSpPr>
        <p:spPr>
          <a:xfrm>
            <a:off x="934549" y="2981553"/>
            <a:ext cx="694481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首次周会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481" y="3290211"/>
            <a:ext cx="5058565" cy="1971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5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由体系评审各部门AI-Native的具体OKR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7241" y="3943966"/>
            <a:ext cx="5658734" cy="2717907"/>
          </a:xfrm>
          <a:custGeom>
            <a:avLst/>
            <a:gdLst/>
            <a:ahLst/>
            <a:cxnLst/>
            <a:rect l="l" t="t" r="r" b="b"/>
            <a:pathLst>
              <a:path w="5658734" h="2717907">
                <a:moveTo>
                  <a:pt x="102873" y="0"/>
                </a:moveTo>
                <a:lnTo>
                  <a:pt x="5555861" y="0"/>
                </a:lnTo>
                <a:cubicBezTo>
                  <a:pt x="5612676" y="0"/>
                  <a:pt x="5658734" y="46058"/>
                  <a:pt x="5658734" y="102873"/>
                </a:cubicBezTo>
                <a:lnTo>
                  <a:pt x="5658734" y="2615034"/>
                </a:lnTo>
                <a:cubicBezTo>
                  <a:pt x="5658734" y="2671849"/>
                  <a:pt x="5612676" y="2717907"/>
                  <a:pt x="5555861" y="2717907"/>
                </a:cubicBezTo>
                <a:lnTo>
                  <a:pt x="102873" y="2717907"/>
                </a:lnTo>
                <a:cubicBezTo>
                  <a:pt x="46058" y="2717907"/>
                  <a:pt x="0" y="2671849"/>
                  <a:pt x="0" y="2615034"/>
                </a:cubicBezTo>
                <a:lnTo>
                  <a:pt x="0" y="102873"/>
                </a:lnTo>
                <a:cubicBezTo>
                  <a:pt x="0" y="46096"/>
                  <a:pt x="46096" y="0"/>
                  <a:pt x="102873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004" y="4119730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102888" y="0"/>
                </a:moveTo>
                <a:lnTo>
                  <a:pt x="377247" y="0"/>
                </a:lnTo>
                <a:cubicBezTo>
                  <a:pt x="434070" y="0"/>
                  <a:pt x="480135" y="46065"/>
                  <a:pt x="480135" y="102888"/>
                </a:cubicBezTo>
                <a:lnTo>
                  <a:pt x="480135" y="377247"/>
                </a:lnTo>
                <a:cubicBezTo>
                  <a:pt x="480135" y="434070"/>
                  <a:pt x="434070" y="480135"/>
                  <a:pt x="377247" y="480135"/>
                </a:cubicBezTo>
                <a:lnTo>
                  <a:pt x="102888" y="480135"/>
                </a:lnTo>
                <a:cubicBezTo>
                  <a:pt x="46065" y="480135"/>
                  <a:pt x="0" y="434070"/>
                  <a:pt x="0" y="377247"/>
                </a:cubicBezTo>
                <a:lnTo>
                  <a:pt x="0" y="102888"/>
                </a:lnTo>
                <a:cubicBezTo>
                  <a:pt x="0" y="46065"/>
                  <a:pt x="46065" y="0"/>
                  <a:pt x="102888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21" name="Shape 19"/>
          <p:cNvSpPr/>
          <p:nvPr/>
        </p:nvSpPr>
        <p:spPr>
          <a:xfrm>
            <a:off x="660186" y="4256911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54329" y="77165"/>
                </a:moveTo>
                <a:cubicBezTo>
                  <a:pt x="175630" y="77165"/>
                  <a:pt x="192911" y="59883"/>
                  <a:pt x="192911" y="38582"/>
                </a:cubicBezTo>
                <a:cubicBezTo>
                  <a:pt x="192911" y="17282"/>
                  <a:pt x="175630" y="0"/>
                  <a:pt x="154329" y="0"/>
                </a:cubicBezTo>
                <a:cubicBezTo>
                  <a:pt x="133028" y="0"/>
                  <a:pt x="115747" y="17282"/>
                  <a:pt x="115747" y="38582"/>
                </a:cubicBezTo>
                <a:cubicBezTo>
                  <a:pt x="115747" y="40753"/>
                  <a:pt x="115948" y="42923"/>
                  <a:pt x="116269" y="45013"/>
                </a:cubicBezTo>
                <a:lnTo>
                  <a:pt x="64143" y="73990"/>
                </a:lnTo>
                <a:cubicBezTo>
                  <a:pt x="57351" y="67961"/>
                  <a:pt x="48389" y="64304"/>
                  <a:pt x="38582" y="64304"/>
                </a:cubicBezTo>
                <a:cubicBezTo>
                  <a:pt x="17282" y="64304"/>
                  <a:pt x="0" y="81585"/>
                  <a:pt x="0" y="102886"/>
                </a:cubicBezTo>
                <a:cubicBezTo>
                  <a:pt x="0" y="124187"/>
                  <a:pt x="17282" y="141468"/>
                  <a:pt x="38582" y="141468"/>
                </a:cubicBezTo>
                <a:cubicBezTo>
                  <a:pt x="48389" y="141468"/>
                  <a:pt x="57311" y="137811"/>
                  <a:pt x="64143" y="131783"/>
                </a:cubicBezTo>
                <a:lnTo>
                  <a:pt x="116269" y="160759"/>
                </a:lnTo>
                <a:cubicBezTo>
                  <a:pt x="115908" y="162849"/>
                  <a:pt x="115747" y="164979"/>
                  <a:pt x="115747" y="167190"/>
                </a:cubicBezTo>
                <a:cubicBezTo>
                  <a:pt x="115747" y="188491"/>
                  <a:pt x="133028" y="205772"/>
                  <a:pt x="154329" y="205772"/>
                </a:cubicBezTo>
                <a:cubicBezTo>
                  <a:pt x="175630" y="205772"/>
                  <a:pt x="192911" y="188491"/>
                  <a:pt x="192911" y="167190"/>
                </a:cubicBezTo>
                <a:cubicBezTo>
                  <a:pt x="192911" y="145889"/>
                  <a:pt x="175630" y="128608"/>
                  <a:pt x="154329" y="128608"/>
                </a:cubicBezTo>
                <a:cubicBezTo>
                  <a:pt x="144523" y="128608"/>
                  <a:pt x="135601" y="132265"/>
                  <a:pt x="128768" y="138293"/>
                </a:cubicBezTo>
                <a:lnTo>
                  <a:pt x="76642" y="109316"/>
                </a:lnTo>
                <a:cubicBezTo>
                  <a:pt x="77004" y="107227"/>
                  <a:pt x="77165" y="105097"/>
                  <a:pt x="77165" y="102886"/>
                </a:cubicBezTo>
                <a:cubicBezTo>
                  <a:pt x="77165" y="100676"/>
                  <a:pt x="76964" y="98546"/>
                  <a:pt x="76642" y="96456"/>
                </a:cubicBezTo>
                <a:lnTo>
                  <a:pt x="128768" y="67479"/>
                </a:lnTo>
                <a:cubicBezTo>
                  <a:pt x="135560" y="73507"/>
                  <a:pt x="144523" y="77165"/>
                  <a:pt x="154329" y="7716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1106025" y="4222616"/>
            <a:ext cx="925975" cy="274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分享机制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3004" y="4737046"/>
            <a:ext cx="2606447" cy="823089"/>
          </a:xfrm>
          <a:custGeom>
            <a:avLst/>
            <a:gdLst/>
            <a:ahLst/>
            <a:cxnLst/>
            <a:rect l="l" t="t" r="r" b="b"/>
            <a:pathLst>
              <a:path w="2606447" h="823089">
                <a:moveTo>
                  <a:pt x="68588" y="0"/>
                </a:moveTo>
                <a:lnTo>
                  <a:pt x="2537859" y="0"/>
                </a:lnTo>
                <a:cubicBezTo>
                  <a:pt x="2575714" y="0"/>
                  <a:pt x="2606447" y="30733"/>
                  <a:pt x="2606447" y="68588"/>
                </a:cubicBezTo>
                <a:lnTo>
                  <a:pt x="2606447" y="754501"/>
                </a:lnTo>
                <a:cubicBezTo>
                  <a:pt x="2606447" y="792355"/>
                  <a:pt x="2575714" y="823089"/>
                  <a:pt x="2537859" y="823089"/>
                </a:cubicBezTo>
                <a:lnTo>
                  <a:pt x="68588" y="823089"/>
                </a:lnTo>
                <a:cubicBezTo>
                  <a:pt x="30733" y="823089"/>
                  <a:pt x="0" y="792355"/>
                  <a:pt x="0" y="754501"/>
                </a:cubicBezTo>
                <a:lnTo>
                  <a:pt x="0" y="68588"/>
                </a:lnTo>
                <a:cubicBezTo>
                  <a:pt x="0" y="30733"/>
                  <a:pt x="30733" y="0"/>
                  <a:pt x="6858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1721399" y="4839932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92952" y="77165"/>
                </a:moveTo>
                <a:lnTo>
                  <a:pt x="196127" y="77165"/>
                </a:lnTo>
                <a:cubicBezTo>
                  <a:pt x="201472" y="77165"/>
                  <a:pt x="205772" y="72864"/>
                  <a:pt x="205772" y="67519"/>
                </a:cubicBezTo>
                <a:lnTo>
                  <a:pt x="205772" y="9646"/>
                </a:lnTo>
                <a:cubicBezTo>
                  <a:pt x="205772" y="5747"/>
                  <a:pt x="203441" y="2210"/>
                  <a:pt x="199824" y="723"/>
                </a:cubicBezTo>
                <a:cubicBezTo>
                  <a:pt x="196207" y="-764"/>
                  <a:pt x="192067" y="80"/>
                  <a:pt x="189294" y="2813"/>
                </a:cubicBezTo>
                <a:lnTo>
                  <a:pt x="168516" y="23632"/>
                </a:lnTo>
                <a:cubicBezTo>
                  <a:pt x="150712" y="8882"/>
                  <a:pt x="127804" y="0"/>
                  <a:pt x="102886" y="0"/>
                </a:cubicBezTo>
                <a:cubicBezTo>
                  <a:pt x="51041" y="0"/>
                  <a:pt x="8159" y="38341"/>
                  <a:pt x="1045" y="88217"/>
                </a:cubicBezTo>
                <a:cubicBezTo>
                  <a:pt x="40" y="95250"/>
                  <a:pt x="4903" y="101761"/>
                  <a:pt x="11936" y="102766"/>
                </a:cubicBezTo>
                <a:cubicBezTo>
                  <a:pt x="18970" y="103770"/>
                  <a:pt x="25480" y="98867"/>
                  <a:pt x="26485" y="91874"/>
                </a:cubicBezTo>
                <a:cubicBezTo>
                  <a:pt x="31830" y="54457"/>
                  <a:pt x="64022" y="25722"/>
                  <a:pt x="102886" y="25722"/>
                </a:cubicBezTo>
                <a:cubicBezTo>
                  <a:pt x="120730" y="25722"/>
                  <a:pt x="137128" y="31750"/>
                  <a:pt x="150190" y="41918"/>
                </a:cubicBezTo>
                <a:lnTo>
                  <a:pt x="131421" y="60687"/>
                </a:lnTo>
                <a:cubicBezTo>
                  <a:pt x="128648" y="63460"/>
                  <a:pt x="127844" y="67599"/>
                  <a:pt x="129331" y="71216"/>
                </a:cubicBezTo>
                <a:cubicBezTo>
                  <a:pt x="130818" y="74834"/>
                  <a:pt x="134355" y="77165"/>
                  <a:pt x="138253" y="77165"/>
                </a:cubicBezTo>
                <a:lnTo>
                  <a:pt x="192952" y="77165"/>
                </a:lnTo>
                <a:close/>
                <a:moveTo>
                  <a:pt x="204767" y="117555"/>
                </a:moveTo>
                <a:cubicBezTo>
                  <a:pt x="205772" y="110522"/>
                  <a:pt x="200869" y="104011"/>
                  <a:pt x="193876" y="103007"/>
                </a:cubicBezTo>
                <a:cubicBezTo>
                  <a:pt x="186883" y="102002"/>
                  <a:pt x="180332" y="106905"/>
                  <a:pt x="179327" y="113898"/>
                </a:cubicBezTo>
                <a:cubicBezTo>
                  <a:pt x="173982" y="151275"/>
                  <a:pt x="141790" y="180010"/>
                  <a:pt x="102926" y="180010"/>
                </a:cubicBezTo>
                <a:cubicBezTo>
                  <a:pt x="85082" y="180010"/>
                  <a:pt x="68684" y="173982"/>
                  <a:pt x="55623" y="163814"/>
                </a:cubicBezTo>
                <a:lnTo>
                  <a:pt x="74351" y="145085"/>
                </a:lnTo>
                <a:cubicBezTo>
                  <a:pt x="77124" y="142312"/>
                  <a:pt x="77928" y="138173"/>
                  <a:pt x="76441" y="134556"/>
                </a:cubicBezTo>
                <a:cubicBezTo>
                  <a:pt x="74954" y="130939"/>
                  <a:pt x="71417" y="128608"/>
                  <a:pt x="67519" y="128608"/>
                </a:cubicBezTo>
                <a:lnTo>
                  <a:pt x="9646" y="128608"/>
                </a:lnTo>
                <a:cubicBezTo>
                  <a:pt x="4300" y="128608"/>
                  <a:pt x="0" y="132908"/>
                  <a:pt x="0" y="138253"/>
                </a:cubicBezTo>
                <a:lnTo>
                  <a:pt x="0" y="196127"/>
                </a:lnTo>
                <a:cubicBezTo>
                  <a:pt x="0" y="200025"/>
                  <a:pt x="2331" y="203562"/>
                  <a:pt x="5948" y="205049"/>
                </a:cubicBezTo>
                <a:cubicBezTo>
                  <a:pt x="9565" y="206536"/>
                  <a:pt x="13705" y="205692"/>
                  <a:pt x="16478" y="202959"/>
                </a:cubicBezTo>
                <a:lnTo>
                  <a:pt x="37296" y="182141"/>
                </a:lnTo>
                <a:cubicBezTo>
                  <a:pt x="55060" y="196890"/>
                  <a:pt x="77968" y="205772"/>
                  <a:pt x="102886" y="205772"/>
                </a:cubicBezTo>
                <a:cubicBezTo>
                  <a:pt x="154731" y="205772"/>
                  <a:pt x="197614" y="167431"/>
                  <a:pt x="204727" y="117555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25" name="Text 23"/>
          <p:cNvSpPr/>
          <p:nvPr/>
        </p:nvSpPr>
        <p:spPr>
          <a:xfrm>
            <a:off x="595882" y="5114295"/>
            <a:ext cx="2460692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每月同步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0169" y="5320068"/>
            <a:ext cx="2452118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至少拉通RC同步一次关键进展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28520" y="4737046"/>
            <a:ext cx="2606447" cy="823089"/>
          </a:xfrm>
          <a:custGeom>
            <a:avLst/>
            <a:gdLst/>
            <a:ahLst/>
            <a:cxnLst/>
            <a:rect l="l" t="t" r="r" b="b"/>
            <a:pathLst>
              <a:path w="2606447" h="823089">
                <a:moveTo>
                  <a:pt x="68588" y="0"/>
                </a:moveTo>
                <a:lnTo>
                  <a:pt x="2537859" y="0"/>
                </a:lnTo>
                <a:cubicBezTo>
                  <a:pt x="2575714" y="0"/>
                  <a:pt x="2606447" y="30733"/>
                  <a:pt x="2606447" y="68588"/>
                </a:cubicBezTo>
                <a:lnTo>
                  <a:pt x="2606447" y="754501"/>
                </a:lnTo>
                <a:cubicBezTo>
                  <a:pt x="2606447" y="792355"/>
                  <a:pt x="2575714" y="823089"/>
                  <a:pt x="2537859" y="823089"/>
                </a:cubicBezTo>
                <a:lnTo>
                  <a:pt x="68588" y="823089"/>
                </a:lnTo>
                <a:cubicBezTo>
                  <a:pt x="30733" y="823089"/>
                  <a:pt x="0" y="792355"/>
                  <a:pt x="0" y="754501"/>
                </a:cubicBezTo>
                <a:lnTo>
                  <a:pt x="0" y="68588"/>
                </a:lnTo>
                <a:cubicBezTo>
                  <a:pt x="0" y="30733"/>
                  <a:pt x="30733" y="0"/>
                  <a:pt x="6858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4426915" y="4839932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0" y="167190"/>
                </a:moveTo>
                <a:lnTo>
                  <a:pt x="0" y="48228"/>
                </a:lnTo>
                <a:cubicBezTo>
                  <a:pt x="0" y="42883"/>
                  <a:pt x="4300" y="38582"/>
                  <a:pt x="9646" y="38582"/>
                </a:cubicBezTo>
                <a:cubicBezTo>
                  <a:pt x="14991" y="38582"/>
                  <a:pt x="19291" y="42883"/>
                  <a:pt x="19291" y="48228"/>
                </a:cubicBezTo>
                <a:lnTo>
                  <a:pt x="19291" y="163975"/>
                </a:lnTo>
                <a:cubicBezTo>
                  <a:pt x="19291" y="169320"/>
                  <a:pt x="23591" y="173620"/>
                  <a:pt x="28937" y="173620"/>
                </a:cubicBezTo>
                <a:cubicBezTo>
                  <a:pt x="34282" y="173620"/>
                  <a:pt x="38582" y="169320"/>
                  <a:pt x="38582" y="163975"/>
                </a:cubicBezTo>
                <a:lnTo>
                  <a:pt x="38582" y="38582"/>
                </a:lnTo>
                <a:cubicBezTo>
                  <a:pt x="38582" y="24395"/>
                  <a:pt x="50117" y="12861"/>
                  <a:pt x="64304" y="12861"/>
                </a:cubicBezTo>
                <a:lnTo>
                  <a:pt x="180051" y="12861"/>
                </a:lnTo>
                <a:cubicBezTo>
                  <a:pt x="194238" y="12861"/>
                  <a:pt x="205772" y="24395"/>
                  <a:pt x="205772" y="38582"/>
                </a:cubicBezTo>
                <a:lnTo>
                  <a:pt x="205772" y="167190"/>
                </a:lnTo>
                <a:cubicBezTo>
                  <a:pt x="205772" y="181377"/>
                  <a:pt x="194238" y="192911"/>
                  <a:pt x="180051" y="192911"/>
                </a:cubicBezTo>
                <a:lnTo>
                  <a:pt x="25722" y="192911"/>
                </a:lnTo>
                <a:cubicBezTo>
                  <a:pt x="11534" y="192911"/>
                  <a:pt x="0" y="181377"/>
                  <a:pt x="0" y="167190"/>
                </a:cubicBezTo>
                <a:close/>
                <a:moveTo>
                  <a:pt x="64304" y="51443"/>
                </a:moveTo>
                <a:lnTo>
                  <a:pt x="64304" y="77165"/>
                </a:lnTo>
                <a:cubicBezTo>
                  <a:pt x="64304" y="84278"/>
                  <a:pt x="70051" y="90025"/>
                  <a:pt x="77165" y="90025"/>
                </a:cubicBezTo>
                <a:lnTo>
                  <a:pt x="102886" y="90025"/>
                </a:lnTo>
                <a:cubicBezTo>
                  <a:pt x="110000" y="90025"/>
                  <a:pt x="115747" y="84278"/>
                  <a:pt x="115747" y="77165"/>
                </a:cubicBezTo>
                <a:lnTo>
                  <a:pt x="115747" y="51443"/>
                </a:lnTo>
                <a:cubicBezTo>
                  <a:pt x="115747" y="44329"/>
                  <a:pt x="110000" y="38582"/>
                  <a:pt x="102886" y="38582"/>
                </a:cubicBezTo>
                <a:lnTo>
                  <a:pt x="77165" y="38582"/>
                </a:lnTo>
                <a:cubicBezTo>
                  <a:pt x="70051" y="38582"/>
                  <a:pt x="64304" y="44329"/>
                  <a:pt x="64304" y="51443"/>
                </a:cubicBezTo>
                <a:close/>
                <a:moveTo>
                  <a:pt x="73949" y="147899"/>
                </a:moveTo>
                <a:cubicBezTo>
                  <a:pt x="68604" y="147899"/>
                  <a:pt x="64304" y="152199"/>
                  <a:pt x="64304" y="157544"/>
                </a:cubicBezTo>
                <a:cubicBezTo>
                  <a:pt x="64304" y="162890"/>
                  <a:pt x="68604" y="167190"/>
                  <a:pt x="73949" y="167190"/>
                </a:cubicBezTo>
                <a:lnTo>
                  <a:pt x="170405" y="167190"/>
                </a:lnTo>
                <a:cubicBezTo>
                  <a:pt x="175750" y="167190"/>
                  <a:pt x="180051" y="162890"/>
                  <a:pt x="180051" y="157544"/>
                </a:cubicBezTo>
                <a:cubicBezTo>
                  <a:pt x="180051" y="152199"/>
                  <a:pt x="175750" y="147899"/>
                  <a:pt x="170405" y="147899"/>
                </a:cubicBezTo>
                <a:lnTo>
                  <a:pt x="73949" y="147899"/>
                </a:lnTo>
                <a:close/>
                <a:moveTo>
                  <a:pt x="64304" y="118962"/>
                </a:moveTo>
                <a:cubicBezTo>
                  <a:pt x="64304" y="124307"/>
                  <a:pt x="68604" y="128608"/>
                  <a:pt x="73949" y="128608"/>
                </a:cubicBezTo>
                <a:lnTo>
                  <a:pt x="170405" y="128608"/>
                </a:lnTo>
                <a:cubicBezTo>
                  <a:pt x="175750" y="128608"/>
                  <a:pt x="180051" y="124307"/>
                  <a:pt x="180051" y="118962"/>
                </a:cubicBezTo>
                <a:cubicBezTo>
                  <a:pt x="180051" y="113617"/>
                  <a:pt x="175750" y="109316"/>
                  <a:pt x="170405" y="109316"/>
                </a:cubicBezTo>
                <a:lnTo>
                  <a:pt x="73949" y="109316"/>
                </a:lnTo>
                <a:cubicBezTo>
                  <a:pt x="68604" y="109316"/>
                  <a:pt x="64304" y="113617"/>
                  <a:pt x="64304" y="118962"/>
                </a:cubicBezTo>
                <a:close/>
                <a:moveTo>
                  <a:pt x="144684" y="70734"/>
                </a:moveTo>
                <a:cubicBezTo>
                  <a:pt x="139338" y="70734"/>
                  <a:pt x="135038" y="75034"/>
                  <a:pt x="135038" y="80380"/>
                </a:cubicBezTo>
                <a:cubicBezTo>
                  <a:pt x="135038" y="85725"/>
                  <a:pt x="139338" y="90025"/>
                  <a:pt x="144684" y="90025"/>
                </a:cubicBezTo>
                <a:lnTo>
                  <a:pt x="170405" y="90025"/>
                </a:lnTo>
                <a:cubicBezTo>
                  <a:pt x="175750" y="90025"/>
                  <a:pt x="180051" y="85725"/>
                  <a:pt x="180051" y="80380"/>
                </a:cubicBezTo>
                <a:cubicBezTo>
                  <a:pt x="180051" y="75034"/>
                  <a:pt x="175750" y="70734"/>
                  <a:pt x="170405" y="70734"/>
                </a:cubicBezTo>
                <a:lnTo>
                  <a:pt x="144684" y="70734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29" name="Text 27"/>
          <p:cNvSpPr/>
          <p:nvPr/>
        </p:nvSpPr>
        <p:spPr>
          <a:xfrm>
            <a:off x="3301397" y="5114295"/>
            <a:ext cx="2460692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优秀案例推文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05684" y="5320068"/>
            <a:ext cx="2452118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通过企微公众号月度发布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04" y="5663021"/>
            <a:ext cx="2606447" cy="823089"/>
          </a:xfrm>
          <a:custGeom>
            <a:avLst/>
            <a:gdLst/>
            <a:ahLst/>
            <a:cxnLst/>
            <a:rect l="l" t="t" r="r" b="b"/>
            <a:pathLst>
              <a:path w="2606447" h="823089">
                <a:moveTo>
                  <a:pt x="68588" y="0"/>
                </a:moveTo>
                <a:lnTo>
                  <a:pt x="2537859" y="0"/>
                </a:lnTo>
                <a:cubicBezTo>
                  <a:pt x="2575714" y="0"/>
                  <a:pt x="2606447" y="30733"/>
                  <a:pt x="2606447" y="68588"/>
                </a:cubicBezTo>
                <a:lnTo>
                  <a:pt x="2606447" y="754501"/>
                </a:lnTo>
                <a:cubicBezTo>
                  <a:pt x="2606447" y="792355"/>
                  <a:pt x="2575714" y="823089"/>
                  <a:pt x="2537859" y="823089"/>
                </a:cubicBezTo>
                <a:lnTo>
                  <a:pt x="68588" y="823089"/>
                </a:lnTo>
                <a:cubicBezTo>
                  <a:pt x="30733" y="823089"/>
                  <a:pt x="0" y="792355"/>
                  <a:pt x="0" y="754501"/>
                </a:cubicBezTo>
                <a:lnTo>
                  <a:pt x="0" y="68588"/>
                </a:lnTo>
                <a:cubicBezTo>
                  <a:pt x="0" y="30733"/>
                  <a:pt x="30733" y="0"/>
                  <a:pt x="6858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1747121" y="5765907"/>
            <a:ext cx="154329" cy="205772"/>
          </a:xfrm>
          <a:custGeom>
            <a:avLst/>
            <a:gdLst/>
            <a:ahLst/>
            <a:cxnLst/>
            <a:rect l="l" t="t" r="r" b="b"/>
            <a:pathLst>
              <a:path w="154329" h="205772">
                <a:moveTo>
                  <a:pt x="0" y="25722"/>
                </a:moveTo>
                <a:cubicBezTo>
                  <a:pt x="0" y="11534"/>
                  <a:pt x="11534" y="0"/>
                  <a:pt x="25722" y="0"/>
                </a:cubicBezTo>
                <a:lnTo>
                  <a:pt x="85805" y="0"/>
                </a:lnTo>
                <a:cubicBezTo>
                  <a:pt x="92638" y="0"/>
                  <a:pt x="99189" y="2693"/>
                  <a:pt x="104011" y="7516"/>
                </a:cubicBezTo>
                <a:lnTo>
                  <a:pt x="146814" y="50358"/>
                </a:lnTo>
                <a:cubicBezTo>
                  <a:pt x="151636" y="55181"/>
                  <a:pt x="154329" y="61732"/>
                  <a:pt x="154329" y="68564"/>
                </a:cubicBezTo>
                <a:lnTo>
                  <a:pt x="154329" y="180051"/>
                </a:lnTo>
                <a:cubicBezTo>
                  <a:pt x="154329" y="194238"/>
                  <a:pt x="142795" y="205772"/>
                  <a:pt x="128608" y="205772"/>
                </a:cubicBezTo>
                <a:lnTo>
                  <a:pt x="25722" y="205772"/>
                </a:lnTo>
                <a:cubicBezTo>
                  <a:pt x="11534" y="205772"/>
                  <a:pt x="0" y="194238"/>
                  <a:pt x="0" y="180051"/>
                </a:cubicBezTo>
                <a:lnTo>
                  <a:pt x="0" y="25722"/>
                </a:lnTo>
                <a:close/>
                <a:moveTo>
                  <a:pt x="83595" y="23511"/>
                </a:moveTo>
                <a:lnTo>
                  <a:pt x="83595" y="61089"/>
                </a:lnTo>
                <a:cubicBezTo>
                  <a:pt x="83595" y="66434"/>
                  <a:pt x="87895" y="70734"/>
                  <a:pt x="93241" y="70734"/>
                </a:cubicBezTo>
                <a:lnTo>
                  <a:pt x="130818" y="70734"/>
                </a:lnTo>
                <a:lnTo>
                  <a:pt x="83595" y="23511"/>
                </a:lnTo>
                <a:close/>
                <a:moveTo>
                  <a:pt x="48228" y="102886"/>
                </a:moveTo>
                <a:cubicBezTo>
                  <a:pt x="42883" y="102886"/>
                  <a:pt x="38582" y="107186"/>
                  <a:pt x="38582" y="112532"/>
                </a:cubicBezTo>
                <a:cubicBezTo>
                  <a:pt x="38582" y="117877"/>
                  <a:pt x="42883" y="122177"/>
                  <a:pt x="48228" y="122177"/>
                </a:cubicBezTo>
                <a:lnTo>
                  <a:pt x="106101" y="122177"/>
                </a:lnTo>
                <a:cubicBezTo>
                  <a:pt x="111447" y="122177"/>
                  <a:pt x="115747" y="117877"/>
                  <a:pt x="115747" y="112532"/>
                </a:cubicBezTo>
                <a:cubicBezTo>
                  <a:pt x="115747" y="107186"/>
                  <a:pt x="111447" y="102886"/>
                  <a:pt x="106101" y="102886"/>
                </a:cubicBezTo>
                <a:lnTo>
                  <a:pt x="48228" y="102886"/>
                </a:lnTo>
                <a:close/>
                <a:moveTo>
                  <a:pt x="48228" y="141468"/>
                </a:moveTo>
                <a:cubicBezTo>
                  <a:pt x="42883" y="141468"/>
                  <a:pt x="38582" y="145769"/>
                  <a:pt x="38582" y="151114"/>
                </a:cubicBezTo>
                <a:cubicBezTo>
                  <a:pt x="38582" y="156459"/>
                  <a:pt x="42883" y="160759"/>
                  <a:pt x="48228" y="160759"/>
                </a:cubicBezTo>
                <a:lnTo>
                  <a:pt x="106101" y="160759"/>
                </a:lnTo>
                <a:cubicBezTo>
                  <a:pt x="111447" y="160759"/>
                  <a:pt x="115747" y="156459"/>
                  <a:pt x="115747" y="151114"/>
                </a:cubicBezTo>
                <a:cubicBezTo>
                  <a:pt x="115747" y="145769"/>
                  <a:pt x="111447" y="141468"/>
                  <a:pt x="106101" y="141468"/>
                </a:cubicBezTo>
                <a:lnTo>
                  <a:pt x="48228" y="141468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33" name="Text 31"/>
          <p:cNvSpPr/>
          <p:nvPr/>
        </p:nvSpPr>
        <p:spPr>
          <a:xfrm>
            <a:off x="595882" y="6040270"/>
            <a:ext cx="2460692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周报机制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0169" y="6246042"/>
            <a:ext cx="2452118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布道师每周发送周报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28520" y="5663021"/>
            <a:ext cx="2606447" cy="823089"/>
          </a:xfrm>
          <a:custGeom>
            <a:avLst/>
            <a:gdLst/>
            <a:ahLst/>
            <a:cxnLst/>
            <a:rect l="l" t="t" r="r" b="b"/>
            <a:pathLst>
              <a:path w="2606447" h="823089">
                <a:moveTo>
                  <a:pt x="68588" y="0"/>
                </a:moveTo>
                <a:lnTo>
                  <a:pt x="2537859" y="0"/>
                </a:lnTo>
                <a:cubicBezTo>
                  <a:pt x="2575714" y="0"/>
                  <a:pt x="2606447" y="30733"/>
                  <a:pt x="2606447" y="68588"/>
                </a:cubicBezTo>
                <a:lnTo>
                  <a:pt x="2606447" y="754501"/>
                </a:lnTo>
                <a:cubicBezTo>
                  <a:pt x="2606447" y="792355"/>
                  <a:pt x="2575714" y="823089"/>
                  <a:pt x="2537859" y="823089"/>
                </a:cubicBezTo>
                <a:lnTo>
                  <a:pt x="68588" y="823089"/>
                </a:lnTo>
                <a:cubicBezTo>
                  <a:pt x="30733" y="823089"/>
                  <a:pt x="0" y="792355"/>
                  <a:pt x="0" y="754501"/>
                </a:cubicBezTo>
                <a:lnTo>
                  <a:pt x="0" y="68588"/>
                </a:lnTo>
                <a:cubicBezTo>
                  <a:pt x="0" y="30733"/>
                  <a:pt x="30733" y="0"/>
                  <a:pt x="6858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4426915" y="5765907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2861" y="12861"/>
                </a:moveTo>
                <a:cubicBezTo>
                  <a:pt x="19974" y="12861"/>
                  <a:pt x="25722" y="18608"/>
                  <a:pt x="25722" y="25722"/>
                </a:cubicBezTo>
                <a:lnTo>
                  <a:pt x="25722" y="160759"/>
                </a:lnTo>
                <a:cubicBezTo>
                  <a:pt x="25722" y="164296"/>
                  <a:pt x="28615" y="167190"/>
                  <a:pt x="32152" y="167190"/>
                </a:cubicBezTo>
                <a:lnTo>
                  <a:pt x="192911" y="167190"/>
                </a:lnTo>
                <a:cubicBezTo>
                  <a:pt x="200025" y="167190"/>
                  <a:pt x="205772" y="172937"/>
                  <a:pt x="205772" y="180051"/>
                </a:cubicBezTo>
                <a:cubicBezTo>
                  <a:pt x="205772" y="187164"/>
                  <a:pt x="200025" y="192911"/>
                  <a:pt x="192911" y="192911"/>
                </a:cubicBezTo>
                <a:lnTo>
                  <a:pt x="32152" y="192911"/>
                </a:lnTo>
                <a:cubicBezTo>
                  <a:pt x="14388" y="192911"/>
                  <a:pt x="0" y="178523"/>
                  <a:pt x="0" y="160759"/>
                </a:cubicBezTo>
                <a:lnTo>
                  <a:pt x="0" y="25722"/>
                </a:lnTo>
                <a:cubicBezTo>
                  <a:pt x="0" y="18608"/>
                  <a:pt x="5747" y="12861"/>
                  <a:pt x="12861" y="12861"/>
                </a:cubicBezTo>
                <a:close/>
                <a:moveTo>
                  <a:pt x="51443" y="38582"/>
                </a:moveTo>
                <a:cubicBezTo>
                  <a:pt x="51443" y="31469"/>
                  <a:pt x="57190" y="25722"/>
                  <a:pt x="64304" y="25722"/>
                </a:cubicBezTo>
                <a:lnTo>
                  <a:pt x="141468" y="25722"/>
                </a:lnTo>
                <a:cubicBezTo>
                  <a:pt x="148582" y="25722"/>
                  <a:pt x="154329" y="31469"/>
                  <a:pt x="154329" y="38582"/>
                </a:cubicBezTo>
                <a:cubicBezTo>
                  <a:pt x="154329" y="45696"/>
                  <a:pt x="148582" y="51443"/>
                  <a:pt x="141468" y="51443"/>
                </a:cubicBezTo>
                <a:lnTo>
                  <a:pt x="64304" y="51443"/>
                </a:lnTo>
                <a:cubicBezTo>
                  <a:pt x="57190" y="51443"/>
                  <a:pt x="51443" y="45696"/>
                  <a:pt x="51443" y="38582"/>
                </a:cubicBezTo>
                <a:close/>
                <a:moveTo>
                  <a:pt x="64304" y="70734"/>
                </a:moveTo>
                <a:lnTo>
                  <a:pt x="115747" y="70734"/>
                </a:lnTo>
                <a:cubicBezTo>
                  <a:pt x="122860" y="70734"/>
                  <a:pt x="128608" y="76481"/>
                  <a:pt x="128608" y="83595"/>
                </a:cubicBezTo>
                <a:cubicBezTo>
                  <a:pt x="128608" y="90709"/>
                  <a:pt x="122860" y="96456"/>
                  <a:pt x="115747" y="96456"/>
                </a:cubicBezTo>
                <a:lnTo>
                  <a:pt x="64304" y="96456"/>
                </a:lnTo>
                <a:cubicBezTo>
                  <a:pt x="57190" y="96456"/>
                  <a:pt x="51443" y="90709"/>
                  <a:pt x="51443" y="83595"/>
                </a:cubicBezTo>
                <a:cubicBezTo>
                  <a:pt x="51443" y="76481"/>
                  <a:pt x="57190" y="70734"/>
                  <a:pt x="64304" y="70734"/>
                </a:cubicBezTo>
                <a:close/>
                <a:moveTo>
                  <a:pt x="64304" y="115747"/>
                </a:moveTo>
                <a:lnTo>
                  <a:pt x="167190" y="115747"/>
                </a:lnTo>
                <a:cubicBezTo>
                  <a:pt x="174303" y="115747"/>
                  <a:pt x="180051" y="121494"/>
                  <a:pt x="180051" y="128608"/>
                </a:cubicBezTo>
                <a:cubicBezTo>
                  <a:pt x="180051" y="135721"/>
                  <a:pt x="174303" y="141468"/>
                  <a:pt x="167190" y="141468"/>
                </a:cubicBezTo>
                <a:lnTo>
                  <a:pt x="64304" y="141468"/>
                </a:lnTo>
                <a:cubicBezTo>
                  <a:pt x="57190" y="141468"/>
                  <a:pt x="51443" y="135721"/>
                  <a:pt x="51443" y="128608"/>
                </a:cubicBezTo>
                <a:cubicBezTo>
                  <a:pt x="51443" y="121494"/>
                  <a:pt x="57190" y="115747"/>
                  <a:pt x="64304" y="115747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37" name="Text 35"/>
          <p:cNvSpPr/>
          <p:nvPr/>
        </p:nvSpPr>
        <p:spPr>
          <a:xfrm>
            <a:off x="3301397" y="6040270"/>
            <a:ext cx="2460692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度量公示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305684" y="6246042"/>
            <a:ext cx="2452118" cy="13718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定期跟踪及公示效能数据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86963" y="1170329"/>
            <a:ext cx="5658734" cy="3026565"/>
          </a:xfrm>
          <a:custGeom>
            <a:avLst/>
            <a:gdLst/>
            <a:ahLst/>
            <a:cxnLst/>
            <a:rect l="l" t="t" r="r" b="b"/>
            <a:pathLst>
              <a:path w="5658734" h="3026565">
                <a:moveTo>
                  <a:pt x="102873" y="0"/>
                </a:moveTo>
                <a:lnTo>
                  <a:pt x="5555861" y="0"/>
                </a:lnTo>
                <a:cubicBezTo>
                  <a:pt x="5612676" y="0"/>
                  <a:pt x="5658734" y="46058"/>
                  <a:pt x="5658734" y="102873"/>
                </a:cubicBezTo>
                <a:lnTo>
                  <a:pt x="5658734" y="2923692"/>
                </a:lnTo>
                <a:cubicBezTo>
                  <a:pt x="5658734" y="2980508"/>
                  <a:pt x="5612676" y="3026565"/>
                  <a:pt x="5555861" y="3026565"/>
                </a:cubicBezTo>
                <a:lnTo>
                  <a:pt x="102873" y="3026565"/>
                </a:lnTo>
                <a:cubicBezTo>
                  <a:pt x="46058" y="3026565"/>
                  <a:pt x="0" y="2980508"/>
                  <a:pt x="0" y="2923692"/>
                </a:cubicBezTo>
                <a:lnTo>
                  <a:pt x="0" y="102873"/>
                </a:lnTo>
                <a:cubicBezTo>
                  <a:pt x="0" y="46096"/>
                  <a:pt x="46096" y="0"/>
                  <a:pt x="10287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62727" y="1346093"/>
            <a:ext cx="480135" cy="480135"/>
          </a:xfrm>
          <a:custGeom>
            <a:avLst/>
            <a:gdLst/>
            <a:ahLst/>
            <a:cxnLst/>
            <a:rect l="l" t="t" r="r" b="b"/>
            <a:pathLst>
              <a:path w="480135" h="480135">
                <a:moveTo>
                  <a:pt x="102888" y="0"/>
                </a:moveTo>
                <a:lnTo>
                  <a:pt x="377247" y="0"/>
                </a:lnTo>
                <a:cubicBezTo>
                  <a:pt x="434070" y="0"/>
                  <a:pt x="480135" y="46065"/>
                  <a:pt x="480135" y="102888"/>
                </a:cubicBezTo>
                <a:lnTo>
                  <a:pt x="480135" y="377247"/>
                </a:lnTo>
                <a:cubicBezTo>
                  <a:pt x="480135" y="434070"/>
                  <a:pt x="434070" y="480135"/>
                  <a:pt x="377247" y="480135"/>
                </a:cubicBezTo>
                <a:lnTo>
                  <a:pt x="102888" y="480135"/>
                </a:lnTo>
                <a:cubicBezTo>
                  <a:pt x="46065" y="480135"/>
                  <a:pt x="0" y="434070"/>
                  <a:pt x="0" y="377247"/>
                </a:cubicBezTo>
                <a:lnTo>
                  <a:pt x="0" y="102888"/>
                </a:lnTo>
                <a:cubicBezTo>
                  <a:pt x="0" y="46065"/>
                  <a:pt x="46065" y="0"/>
                  <a:pt x="102888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41" name="Shape 39"/>
          <p:cNvSpPr/>
          <p:nvPr/>
        </p:nvSpPr>
        <p:spPr>
          <a:xfrm>
            <a:off x="6499908" y="1483274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53774" y="14589"/>
                </a:moveTo>
                <a:cubicBezTo>
                  <a:pt x="58155" y="17643"/>
                  <a:pt x="59200" y="23672"/>
                  <a:pt x="56145" y="28012"/>
                </a:cubicBezTo>
                <a:lnTo>
                  <a:pt x="33639" y="60164"/>
                </a:lnTo>
                <a:cubicBezTo>
                  <a:pt x="31991" y="62495"/>
                  <a:pt x="29419" y="63982"/>
                  <a:pt x="26566" y="64223"/>
                </a:cubicBezTo>
                <a:cubicBezTo>
                  <a:pt x="23712" y="64465"/>
                  <a:pt x="20899" y="63500"/>
                  <a:pt x="18889" y="61491"/>
                </a:cubicBezTo>
                <a:lnTo>
                  <a:pt x="2813" y="45415"/>
                </a:lnTo>
                <a:cubicBezTo>
                  <a:pt x="-924" y="41637"/>
                  <a:pt x="-924" y="35528"/>
                  <a:pt x="2813" y="31750"/>
                </a:cubicBezTo>
                <a:cubicBezTo>
                  <a:pt x="6551" y="27972"/>
                  <a:pt x="12700" y="28012"/>
                  <a:pt x="16478" y="31750"/>
                </a:cubicBezTo>
                <a:lnTo>
                  <a:pt x="24435" y="39708"/>
                </a:lnTo>
                <a:lnTo>
                  <a:pt x="40351" y="16960"/>
                </a:lnTo>
                <a:cubicBezTo>
                  <a:pt x="43405" y="12579"/>
                  <a:pt x="49434" y="11534"/>
                  <a:pt x="53774" y="14589"/>
                </a:cubicBezTo>
                <a:close/>
                <a:moveTo>
                  <a:pt x="53774" y="78893"/>
                </a:moveTo>
                <a:cubicBezTo>
                  <a:pt x="58155" y="81947"/>
                  <a:pt x="59200" y="87976"/>
                  <a:pt x="56145" y="92316"/>
                </a:cubicBezTo>
                <a:lnTo>
                  <a:pt x="33639" y="124468"/>
                </a:lnTo>
                <a:cubicBezTo>
                  <a:pt x="31991" y="126799"/>
                  <a:pt x="29419" y="128286"/>
                  <a:pt x="26566" y="128527"/>
                </a:cubicBezTo>
                <a:cubicBezTo>
                  <a:pt x="23712" y="128768"/>
                  <a:pt x="20899" y="127804"/>
                  <a:pt x="18889" y="125794"/>
                </a:cubicBezTo>
                <a:lnTo>
                  <a:pt x="2813" y="109718"/>
                </a:lnTo>
                <a:cubicBezTo>
                  <a:pt x="-965" y="105941"/>
                  <a:pt x="-965" y="99832"/>
                  <a:pt x="2813" y="96094"/>
                </a:cubicBezTo>
                <a:cubicBezTo>
                  <a:pt x="6591" y="92356"/>
                  <a:pt x="12700" y="92316"/>
                  <a:pt x="16438" y="96094"/>
                </a:cubicBezTo>
                <a:lnTo>
                  <a:pt x="24395" y="104052"/>
                </a:lnTo>
                <a:lnTo>
                  <a:pt x="40310" y="81304"/>
                </a:lnTo>
                <a:cubicBezTo>
                  <a:pt x="43365" y="76923"/>
                  <a:pt x="49393" y="75878"/>
                  <a:pt x="53734" y="78933"/>
                </a:cubicBezTo>
                <a:close/>
                <a:moveTo>
                  <a:pt x="90025" y="38582"/>
                </a:moveTo>
                <a:cubicBezTo>
                  <a:pt x="90025" y="31469"/>
                  <a:pt x="95772" y="25722"/>
                  <a:pt x="102886" y="25722"/>
                </a:cubicBezTo>
                <a:lnTo>
                  <a:pt x="192911" y="25722"/>
                </a:lnTo>
                <a:cubicBezTo>
                  <a:pt x="200025" y="25722"/>
                  <a:pt x="205772" y="31469"/>
                  <a:pt x="205772" y="38582"/>
                </a:cubicBezTo>
                <a:cubicBezTo>
                  <a:pt x="205772" y="45696"/>
                  <a:pt x="200025" y="51443"/>
                  <a:pt x="192911" y="51443"/>
                </a:cubicBezTo>
                <a:lnTo>
                  <a:pt x="102886" y="51443"/>
                </a:lnTo>
                <a:cubicBezTo>
                  <a:pt x="95772" y="51443"/>
                  <a:pt x="90025" y="45696"/>
                  <a:pt x="90025" y="38582"/>
                </a:cubicBezTo>
                <a:close/>
                <a:moveTo>
                  <a:pt x="90025" y="102886"/>
                </a:moveTo>
                <a:cubicBezTo>
                  <a:pt x="90025" y="95772"/>
                  <a:pt x="95772" y="90025"/>
                  <a:pt x="102886" y="90025"/>
                </a:cubicBezTo>
                <a:lnTo>
                  <a:pt x="192911" y="90025"/>
                </a:lnTo>
                <a:cubicBezTo>
                  <a:pt x="200025" y="90025"/>
                  <a:pt x="205772" y="95772"/>
                  <a:pt x="205772" y="102886"/>
                </a:cubicBezTo>
                <a:cubicBezTo>
                  <a:pt x="205772" y="110000"/>
                  <a:pt x="200025" y="115747"/>
                  <a:pt x="192911" y="115747"/>
                </a:cubicBezTo>
                <a:lnTo>
                  <a:pt x="102886" y="115747"/>
                </a:lnTo>
                <a:cubicBezTo>
                  <a:pt x="95772" y="115747"/>
                  <a:pt x="90025" y="110000"/>
                  <a:pt x="90025" y="102886"/>
                </a:cubicBezTo>
                <a:close/>
                <a:moveTo>
                  <a:pt x="64304" y="167190"/>
                </a:moveTo>
                <a:cubicBezTo>
                  <a:pt x="64304" y="160076"/>
                  <a:pt x="70051" y="154329"/>
                  <a:pt x="77165" y="154329"/>
                </a:cubicBezTo>
                <a:lnTo>
                  <a:pt x="192911" y="154329"/>
                </a:lnTo>
                <a:cubicBezTo>
                  <a:pt x="200025" y="154329"/>
                  <a:pt x="205772" y="160076"/>
                  <a:pt x="205772" y="167190"/>
                </a:cubicBezTo>
                <a:cubicBezTo>
                  <a:pt x="205772" y="174303"/>
                  <a:pt x="200025" y="180051"/>
                  <a:pt x="192911" y="180051"/>
                </a:cubicBezTo>
                <a:lnTo>
                  <a:pt x="77165" y="180051"/>
                </a:lnTo>
                <a:cubicBezTo>
                  <a:pt x="70051" y="180051"/>
                  <a:pt x="64304" y="174303"/>
                  <a:pt x="64304" y="167190"/>
                </a:cubicBezTo>
                <a:close/>
                <a:moveTo>
                  <a:pt x="25722" y="151114"/>
                </a:moveTo>
                <a:cubicBezTo>
                  <a:pt x="34594" y="151114"/>
                  <a:pt x="41797" y="158317"/>
                  <a:pt x="41797" y="167190"/>
                </a:cubicBezTo>
                <a:cubicBezTo>
                  <a:pt x="41797" y="176062"/>
                  <a:pt x="34594" y="183266"/>
                  <a:pt x="25722" y="183266"/>
                </a:cubicBezTo>
                <a:cubicBezTo>
                  <a:pt x="16849" y="183266"/>
                  <a:pt x="9646" y="176062"/>
                  <a:pt x="9646" y="167190"/>
                </a:cubicBezTo>
                <a:cubicBezTo>
                  <a:pt x="9646" y="158317"/>
                  <a:pt x="16849" y="151114"/>
                  <a:pt x="25722" y="15111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2" name="Text 40"/>
          <p:cNvSpPr/>
          <p:nvPr/>
        </p:nvSpPr>
        <p:spPr>
          <a:xfrm>
            <a:off x="6945748" y="1448979"/>
            <a:ext cx="925975" cy="274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运营流程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62727" y="1963409"/>
            <a:ext cx="342954" cy="342954"/>
          </a:xfrm>
          <a:custGeom>
            <a:avLst/>
            <a:gdLst/>
            <a:ahLst/>
            <a:cxnLst/>
            <a:rect l="l" t="t" r="r" b="b"/>
            <a:pathLst>
              <a:path w="342954" h="342954">
                <a:moveTo>
                  <a:pt x="171477" y="0"/>
                </a:moveTo>
                <a:lnTo>
                  <a:pt x="171477" y="0"/>
                </a:lnTo>
                <a:cubicBezTo>
                  <a:pt x="266181" y="0"/>
                  <a:pt x="342954" y="76773"/>
                  <a:pt x="342954" y="171477"/>
                </a:cubicBezTo>
                <a:lnTo>
                  <a:pt x="342954" y="171477"/>
                </a:lnTo>
                <a:cubicBezTo>
                  <a:pt x="342954" y="266181"/>
                  <a:pt x="266181" y="342954"/>
                  <a:pt x="171477" y="342954"/>
                </a:cubicBezTo>
                <a:lnTo>
                  <a:pt x="171477" y="342954"/>
                </a:lnTo>
                <a:cubicBezTo>
                  <a:pt x="76773" y="342954"/>
                  <a:pt x="0" y="266181"/>
                  <a:pt x="0" y="171477"/>
                </a:cubicBezTo>
                <a:lnTo>
                  <a:pt x="0" y="171477"/>
                </a:lnTo>
                <a:cubicBezTo>
                  <a:pt x="0" y="76773"/>
                  <a:pt x="76773" y="0"/>
                  <a:pt x="171477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44" name="Text 42"/>
          <p:cNvSpPr/>
          <p:nvPr/>
        </p:nvSpPr>
        <p:spPr>
          <a:xfrm>
            <a:off x="6328431" y="1963409"/>
            <a:ext cx="411544" cy="342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42862" y="1963409"/>
            <a:ext cx="4827072" cy="617316"/>
          </a:xfrm>
          <a:custGeom>
            <a:avLst/>
            <a:gdLst/>
            <a:ahLst/>
            <a:cxnLst/>
            <a:rect l="l" t="t" r="r" b="b"/>
            <a:pathLst>
              <a:path w="4827072" h="617316">
                <a:moveTo>
                  <a:pt x="68590" y="0"/>
                </a:moveTo>
                <a:lnTo>
                  <a:pt x="4758482" y="0"/>
                </a:lnTo>
                <a:cubicBezTo>
                  <a:pt x="4796363" y="0"/>
                  <a:pt x="4827072" y="30709"/>
                  <a:pt x="4827072" y="68590"/>
                </a:cubicBezTo>
                <a:lnTo>
                  <a:pt x="4827072" y="548726"/>
                </a:lnTo>
                <a:cubicBezTo>
                  <a:pt x="4827072" y="586608"/>
                  <a:pt x="4796363" y="617316"/>
                  <a:pt x="4758482" y="617316"/>
                </a:cubicBezTo>
                <a:lnTo>
                  <a:pt x="68590" y="617316"/>
                </a:lnTo>
                <a:cubicBezTo>
                  <a:pt x="30734" y="617316"/>
                  <a:pt x="0" y="586582"/>
                  <a:pt x="0" y="548726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6945748" y="2066295"/>
            <a:ext cx="4689890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收集优秀实践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45748" y="2306363"/>
            <a:ext cx="4681316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各团队定期提交AI-Native实践案例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62727" y="2683612"/>
            <a:ext cx="342954" cy="342954"/>
          </a:xfrm>
          <a:custGeom>
            <a:avLst/>
            <a:gdLst/>
            <a:ahLst/>
            <a:cxnLst/>
            <a:rect l="l" t="t" r="r" b="b"/>
            <a:pathLst>
              <a:path w="342954" h="342954">
                <a:moveTo>
                  <a:pt x="171477" y="0"/>
                </a:moveTo>
                <a:lnTo>
                  <a:pt x="171477" y="0"/>
                </a:lnTo>
                <a:cubicBezTo>
                  <a:pt x="266181" y="0"/>
                  <a:pt x="342954" y="76773"/>
                  <a:pt x="342954" y="171477"/>
                </a:cubicBezTo>
                <a:lnTo>
                  <a:pt x="342954" y="171477"/>
                </a:lnTo>
                <a:cubicBezTo>
                  <a:pt x="342954" y="266181"/>
                  <a:pt x="266181" y="342954"/>
                  <a:pt x="171477" y="342954"/>
                </a:cubicBezTo>
                <a:lnTo>
                  <a:pt x="171477" y="342954"/>
                </a:lnTo>
                <a:cubicBezTo>
                  <a:pt x="76773" y="342954"/>
                  <a:pt x="0" y="266181"/>
                  <a:pt x="0" y="171477"/>
                </a:cubicBezTo>
                <a:lnTo>
                  <a:pt x="0" y="171477"/>
                </a:lnTo>
                <a:cubicBezTo>
                  <a:pt x="0" y="76773"/>
                  <a:pt x="76773" y="0"/>
                  <a:pt x="171477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49" name="Text 47"/>
          <p:cNvSpPr/>
          <p:nvPr/>
        </p:nvSpPr>
        <p:spPr>
          <a:xfrm>
            <a:off x="6328431" y="2683612"/>
            <a:ext cx="411544" cy="342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842862" y="2683612"/>
            <a:ext cx="4827072" cy="617316"/>
          </a:xfrm>
          <a:custGeom>
            <a:avLst/>
            <a:gdLst/>
            <a:ahLst/>
            <a:cxnLst/>
            <a:rect l="l" t="t" r="r" b="b"/>
            <a:pathLst>
              <a:path w="4827072" h="617316">
                <a:moveTo>
                  <a:pt x="68590" y="0"/>
                </a:moveTo>
                <a:lnTo>
                  <a:pt x="4758482" y="0"/>
                </a:lnTo>
                <a:cubicBezTo>
                  <a:pt x="4796363" y="0"/>
                  <a:pt x="4827072" y="30709"/>
                  <a:pt x="4827072" y="68590"/>
                </a:cubicBezTo>
                <a:lnTo>
                  <a:pt x="4827072" y="548726"/>
                </a:lnTo>
                <a:cubicBezTo>
                  <a:pt x="4827072" y="586608"/>
                  <a:pt x="4796363" y="617316"/>
                  <a:pt x="4758482" y="617316"/>
                </a:cubicBezTo>
                <a:lnTo>
                  <a:pt x="68590" y="617316"/>
                </a:lnTo>
                <a:cubicBezTo>
                  <a:pt x="30734" y="617316"/>
                  <a:pt x="0" y="586582"/>
                  <a:pt x="0" y="548726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6945748" y="2786498"/>
            <a:ext cx="4689890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沉淀管理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45748" y="3026565"/>
            <a:ext cx="4681316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变革组整理并沉淀到知识库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62727" y="3403814"/>
            <a:ext cx="342954" cy="342954"/>
          </a:xfrm>
          <a:custGeom>
            <a:avLst/>
            <a:gdLst/>
            <a:ahLst/>
            <a:cxnLst/>
            <a:rect l="l" t="t" r="r" b="b"/>
            <a:pathLst>
              <a:path w="342954" h="342954">
                <a:moveTo>
                  <a:pt x="171477" y="0"/>
                </a:moveTo>
                <a:lnTo>
                  <a:pt x="171477" y="0"/>
                </a:lnTo>
                <a:cubicBezTo>
                  <a:pt x="266181" y="0"/>
                  <a:pt x="342954" y="76773"/>
                  <a:pt x="342954" y="171477"/>
                </a:cubicBezTo>
                <a:lnTo>
                  <a:pt x="342954" y="171477"/>
                </a:lnTo>
                <a:cubicBezTo>
                  <a:pt x="342954" y="266181"/>
                  <a:pt x="266181" y="342954"/>
                  <a:pt x="171477" y="342954"/>
                </a:cubicBezTo>
                <a:lnTo>
                  <a:pt x="171477" y="342954"/>
                </a:lnTo>
                <a:cubicBezTo>
                  <a:pt x="76773" y="342954"/>
                  <a:pt x="0" y="266181"/>
                  <a:pt x="0" y="171477"/>
                </a:cubicBezTo>
                <a:lnTo>
                  <a:pt x="0" y="171477"/>
                </a:lnTo>
                <a:cubicBezTo>
                  <a:pt x="0" y="76773"/>
                  <a:pt x="76773" y="0"/>
                  <a:pt x="171477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54" name="Text 52"/>
          <p:cNvSpPr/>
          <p:nvPr/>
        </p:nvSpPr>
        <p:spPr>
          <a:xfrm>
            <a:off x="6328431" y="3403814"/>
            <a:ext cx="411544" cy="342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842862" y="3403814"/>
            <a:ext cx="4827072" cy="617316"/>
          </a:xfrm>
          <a:custGeom>
            <a:avLst/>
            <a:gdLst/>
            <a:ahLst/>
            <a:cxnLst/>
            <a:rect l="l" t="t" r="r" b="b"/>
            <a:pathLst>
              <a:path w="4827072" h="617316">
                <a:moveTo>
                  <a:pt x="68590" y="0"/>
                </a:moveTo>
                <a:lnTo>
                  <a:pt x="4758482" y="0"/>
                </a:lnTo>
                <a:cubicBezTo>
                  <a:pt x="4796363" y="0"/>
                  <a:pt x="4827072" y="30709"/>
                  <a:pt x="4827072" y="68590"/>
                </a:cubicBezTo>
                <a:lnTo>
                  <a:pt x="4827072" y="548726"/>
                </a:lnTo>
                <a:cubicBezTo>
                  <a:pt x="4827072" y="586608"/>
                  <a:pt x="4796363" y="617316"/>
                  <a:pt x="4758482" y="617316"/>
                </a:cubicBezTo>
                <a:lnTo>
                  <a:pt x="68590" y="617316"/>
                </a:lnTo>
                <a:cubicBezTo>
                  <a:pt x="30734" y="617316"/>
                  <a:pt x="0" y="586582"/>
                  <a:pt x="0" y="548726"/>
                </a:cubicBezTo>
                <a:lnTo>
                  <a:pt x="0" y="68590"/>
                </a:lnTo>
                <a:cubicBezTo>
                  <a:pt x="0" y="30734"/>
                  <a:pt x="30734" y="0"/>
                  <a:pt x="6859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6" name="Text 54"/>
          <p:cNvSpPr/>
          <p:nvPr/>
        </p:nvSpPr>
        <p:spPr>
          <a:xfrm>
            <a:off x="6945748" y="3506700"/>
            <a:ext cx="4689890" cy="2057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推广经验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945748" y="3746768"/>
            <a:ext cx="4681316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通过多种渠道推广优秀实践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86963" y="4342650"/>
            <a:ext cx="5658734" cy="1791932"/>
          </a:xfrm>
          <a:custGeom>
            <a:avLst/>
            <a:gdLst/>
            <a:ahLst/>
            <a:cxnLst/>
            <a:rect l="l" t="t" r="r" b="b"/>
            <a:pathLst>
              <a:path w="5658734" h="1791932">
                <a:moveTo>
                  <a:pt x="102893" y="0"/>
                </a:moveTo>
                <a:lnTo>
                  <a:pt x="5555841" y="0"/>
                </a:lnTo>
                <a:cubicBezTo>
                  <a:pt x="5612668" y="0"/>
                  <a:pt x="5658734" y="46067"/>
                  <a:pt x="5658734" y="102893"/>
                </a:cubicBezTo>
                <a:lnTo>
                  <a:pt x="5658734" y="1689040"/>
                </a:lnTo>
                <a:cubicBezTo>
                  <a:pt x="5658734" y="1745866"/>
                  <a:pt x="5612668" y="1791932"/>
                  <a:pt x="5555841" y="1791932"/>
                </a:cubicBezTo>
                <a:lnTo>
                  <a:pt x="102893" y="1791932"/>
                </a:lnTo>
                <a:cubicBezTo>
                  <a:pt x="46067" y="1791932"/>
                  <a:pt x="0" y="1745866"/>
                  <a:pt x="0" y="1689040"/>
                </a:cubicBezTo>
                <a:lnTo>
                  <a:pt x="0" y="102893"/>
                </a:lnTo>
                <a:cubicBezTo>
                  <a:pt x="0" y="46105"/>
                  <a:pt x="46105" y="0"/>
                  <a:pt x="10289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03453" y="4561283"/>
            <a:ext cx="115747" cy="154329"/>
          </a:xfrm>
          <a:custGeom>
            <a:avLst/>
            <a:gdLst/>
            <a:ahLst/>
            <a:cxnLst/>
            <a:rect l="l" t="t" r="r" b="b"/>
            <a:pathLst>
              <a:path w="115747" h="154329">
                <a:moveTo>
                  <a:pt x="88287" y="115747"/>
                </a:moveTo>
                <a:cubicBezTo>
                  <a:pt x="90488" y="109025"/>
                  <a:pt x="94888" y="102936"/>
                  <a:pt x="99862" y="97692"/>
                </a:cubicBezTo>
                <a:cubicBezTo>
                  <a:pt x="109718" y="87323"/>
                  <a:pt x="115747" y="73306"/>
                  <a:pt x="115747" y="57873"/>
                </a:cubicBezTo>
                <a:cubicBezTo>
                  <a:pt x="115747" y="25922"/>
                  <a:pt x="89824" y="0"/>
                  <a:pt x="57873" y="0"/>
                </a:cubicBezTo>
                <a:cubicBezTo>
                  <a:pt x="25922" y="0"/>
                  <a:pt x="0" y="25922"/>
                  <a:pt x="0" y="57873"/>
                </a:cubicBezTo>
                <a:cubicBezTo>
                  <a:pt x="0" y="73306"/>
                  <a:pt x="6028" y="87323"/>
                  <a:pt x="15885" y="97692"/>
                </a:cubicBezTo>
                <a:cubicBezTo>
                  <a:pt x="20859" y="102936"/>
                  <a:pt x="25289" y="109025"/>
                  <a:pt x="27460" y="115747"/>
                </a:cubicBezTo>
                <a:lnTo>
                  <a:pt x="88257" y="115747"/>
                </a:lnTo>
                <a:close/>
                <a:moveTo>
                  <a:pt x="86810" y="130215"/>
                </a:moveTo>
                <a:lnTo>
                  <a:pt x="28937" y="130215"/>
                </a:lnTo>
                <a:lnTo>
                  <a:pt x="28937" y="135038"/>
                </a:lnTo>
                <a:cubicBezTo>
                  <a:pt x="28937" y="148361"/>
                  <a:pt x="39728" y="159152"/>
                  <a:pt x="53051" y="159152"/>
                </a:cubicBezTo>
                <a:lnTo>
                  <a:pt x="62696" y="159152"/>
                </a:lnTo>
                <a:cubicBezTo>
                  <a:pt x="76019" y="159152"/>
                  <a:pt x="86810" y="148361"/>
                  <a:pt x="86810" y="135038"/>
                </a:cubicBezTo>
                <a:lnTo>
                  <a:pt x="86810" y="130215"/>
                </a:lnTo>
                <a:close/>
                <a:moveTo>
                  <a:pt x="55462" y="33759"/>
                </a:moveTo>
                <a:cubicBezTo>
                  <a:pt x="43465" y="33759"/>
                  <a:pt x="33759" y="43465"/>
                  <a:pt x="33759" y="55462"/>
                </a:cubicBezTo>
                <a:cubicBezTo>
                  <a:pt x="33759" y="59471"/>
                  <a:pt x="30534" y="62696"/>
                  <a:pt x="26525" y="62696"/>
                </a:cubicBezTo>
                <a:cubicBezTo>
                  <a:pt x="22516" y="62696"/>
                  <a:pt x="19291" y="59471"/>
                  <a:pt x="19291" y="55462"/>
                </a:cubicBezTo>
                <a:cubicBezTo>
                  <a:pt x="19291" y="35478"/>
                  <a:pt x="35478" y="19291"/>
                  <a:pt x="55462" y="19291"/>
                </a:cubicBezTo>
                <a:cubicBezTo>
                  <a:pt x="59471" y="19291"/>
                  <a:pt x="62696" y="22516"/>
                  <a:pt x="62696" y="26525"/>
                </a:cubicBezTo>
                <a:cubicBezTo>
                  <a:pt x="62696" y="30534"/>
                  <a:pt x="59471" y="33759"/>
                  <a:pt x="55462" y="33759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60" name="Text 58"/>
          <p:cNvSpPr/>
          <p:nvPr/>
        </p:nvSpPr>
        <p:spPr>
          <a:xfrm>
            <a:off x="6559925" y="4518414"/>
            <a:ext cx="5187173" cy="2400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运营原则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84161" y="4929958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77165" y="154329"/>
                </a:moveTo>
                <a:cubicBezTo>
                  <a:pt x="119753" y="154329"/>
                  <a:pt x="154329" y="119753"/>
                  <a:pt x="154329" y="77165"/>
                </a:cubicBezTo>
                <a:cubicBezTo>
                  <a:pt x="154329" y="34576"/>
                  <a:pt x="119753" y="0"/>
                  <a:pt x="77165" y="0"/>
                </a:cubicBezTo>
                <a:cubicBezTo>
                  <a:pt x="34576" y="0"/>
                  <a:pt x="0" y="34576"/>
                  <a:pt x="0" y="77165"/>
                </a:cubicBezTo>
                <a:cubicBezTo>
                  <a:pt x="0" y="119753"/>
                  <a:pt x="34576" y="154329"/>
                  <a:pt x="77165" y="154329"/>
                </a:cubicBezTo>
                <a:close/>
                <a:moveTo>
                  <a:pt x="102605" y="64113"/>
                </a:moveTo>
                <a:lnTo>
                  <a:pt x="78491" y="102695"/>
                </a:lnTo>
                <a:cubicBezTo>
                  <a:pt x="77225" y="104715"/>
                  <a:pt x="75055" y="105981"/>
                  <a:pt x="72673" y="106101"/>
                </a:cubicBezTo>
                <a:cubicBezTo>
                  <a:pt x="70292" y="106222"/>
                  <a:pt x="68001" y="105137"/>
                  <a:pt x="66585" y="103208"/>
                </a:cubicBezTo>
                <a:lnTo>
                  <a:pt x="52116" y="83916"/>
                </a:lnTo>
                <a:cubicBezTo>
                  <a:pt x="49705" y="80721"/>
                  <a:pt x="50368" y="76200"/>
                  <a:pt x="53563" y="73789"/>
                </a:cubicBezTo>
                <a:cubicBezTo>
                  <a:pt x="56758" y="71377"/>
                  <a:pt x="61280" y="72040"/>
                  <a:pt x="63691" y="75235"/>
                </a:cubicBezTo>
                <a:lnTo>
                  <a:pt x="71829" y="86087"/>
                </a:lnTo>
                <a:lnTo>
                  <a:pt x="90337" y="56457"/>
                </a:lnTo>
                <a:cubicBezTo>
                  <a:pt x="92447" y="53081"/>
                  <a:pt x="96908" y="52026"/>
                  <a:pt x="100314" y="54166"/>
                </a:cubicBezTo>
                <a:cubicBezTo>
                  <a:pt x="103720" y="56306"/>
                  <a:pt x="104745" y="60737"/>
                  <a:pt x="102605" y="64143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62" name="Text 60"/>
          <p:cNvSpPr/>
          <p:nvPr/>
        </p:nvSpPr>
        <p:spPr>
          <a:xfrm>
            <a:off x="6658524" y="4895662"/>
            <a:ext cx="2460692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高频检视：</a:t>
            </a:r>
            <a:r>
              <a:rPr lang="en-US" sz="94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每周检视确保问题及时发现和解决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84161" y="5221468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77165" y="154329"/>
                </a:moveTo>
                <a:cubicBezTo>
                  <a:pt x="119753" y="154329"/>
                  <a:pt x="154329" y="119753"/>
                  <a:pt x="154329" y="77165"/>
                </a:cubicBezTo>
                <a:cubicBezTo>
                  <a:pt x="154329" y="34576"/>
                  <a:pt x="119753" y="0"/>
                  <a:pt x="77165" y="0"/>
                </a:cubicBezTo>
                <a:cubicBezTo>
                  <a:pt x="34576" y="0"/>
                  <a:pt x="0" y="34576"/>
                  <a:pt x="0" y="77165"/>
                </a:cubicBezTo>
                <a:cubicBezTo>
                  <a:pt x="0" y="119753"/>
                  <a:pt x="34576" y="154329"/>
                  <a:pt x="77165" y="154329"/>
                </a:cubicBezTo>
                <a:close/>
                <a:moveTo>
                  <a:pt x="102605" y="64113"/>
                </a:moveTo>
                <a:lnTo>
                  <a:pt x="78491" y="102695"/>
                </a:lnTo>
                <a:cubicBezTo>
                  <a:pt x="77225" y="104715"/>
                  <a:pt x="75055" y="105981"/>
                  <a:pt x="72673" y="106101"/>
                </a:cubicBezTo>
                <a:cubicBezTo>
                  <a:pt x="70292" y="106222"/>
                  <a:pt x="68001" y="105137"/>
                  <a:pt x="66585" y="103208"/>
                </a:cubicBezTo>
                <a:lnTo>
                  <a:pt x="52116" y="83916"/>
                </a:lnTo>
                <a:cubicBezTo>
                  <a:pt x="49705" y="80721"/>
                  <a:pt x="50368" y="76200"/>
                  <a:pt x="53563" y="73789"/>
                </a:cubicBezTo>
                <a:cubicBezTo>
                  <a:pt x="56758" y="71377"/>
                  <a:pt x="61280" y="72040"/>
                  <a:pt x="63691" y="75235"/>
                </a:cubicBezTo>
                <a:lnTo>
                  <a:pt x="71829" y="86087"/>
                </a:lnTo>
                <a:lnTo>
                  <a:pt x="90337" y="56457"/>
                </a:lnTo>
                <a:cubicBezTo>
                  <a:pt x="92447" y="53081"/>
                  <a:pt x="96908" y="52026"/>
                  <a:pt x="100314" y="54166"/>
                </a:cubicBezTo>
                <a:cubicBezTo>
                  <a:pt x="103720" y="56306"/>
                  <a:pt x="104745" y="60737"/>
                  <a:pt x="102605" y="64143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64" name="Text 62"/>
          <p:cNvSpPr/>
          <p:nvPr/>
        </p:nvSpPr>
        <p:spPr>
          <a:xfrm>
            <a:off x="6658524" y="5187173"/>
            <a:ext cx="2460692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透明公开：</a:t>
            </a:r>
            <a:r>
              <a:rPr lang="en-US" sz="94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度量数据定期公示，形成良性竞争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84161" y="5512979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77165" y="154329"/>
                </a:moveTo>
                <a:cubicBezTo>
                  <a:pt x="119753" y="154329"/>
                  <a:pt x="154329" y="119753"/>
                  <a:pt x="154329" y="77165"/>
                </a:cubicBezTo>
                <a:cubicBezTo>
                  <a:pt x="154329" y="34576"/>
                  <a:pt x="119753" y="0"/>
                  <a:pt x="77165" y="0"/>
                </a:cubicBezTo>
                <a:cubicBezTo>
                  <a:pt x="34576" y="0"/>
                  <a:pt x="0" y="34576"/>
                  <a:pt x="0" y="77165"/>
                </a:cubicBezTo>
                <a:cubicBezTo>
                  <a:pt x="0" y="119753"/>
                  <a:pt x="34576" y="154329"/>
                  <a:pt x="77165" y="154329"/>
                </a:cubicBezTo>
                <a:close/>
                <a:moveTo>
                  <a:pt x="102605" y="64113"/>
                </a:moveTo>
                <a:lnTo>
                  <a:pt x="78491" y="102695"/>
                </a:lnTo>
                <a:cubicBezTo>
                  <a:pt x="77225" y="104715"/>
                  <a:pt x="75055" y="105981"/>
                  <a:pt x="72673" y="106101"/>
                </a:cubicBezTo>
                <a:cubicBezTo>
                  <a:pt x="70292" y="106222"/>
                  <a:pt x="68001" y="105137"/>
                  <a:pt x="66585" y="103208"/>
                </a:cubicBezTo>
                <a:lnTo>
                  <a:pt x="52116" y="83916"/>
                </a:lnTo>
                <a:cubicBezTo>
                  <a:pt x="49705" y="80721"/>
                  <a:pt x="50368" y="76200"/>
                  <a:pt x="53563" y="73789"/>
                </a:cubicBezTo>
                <a:cubicBezTo>
                  <a:pt x="56758" y="71377"/>
                  <a:pt x="61280" y="72040"/>
                  <a:pt x="63691" y="75235"/>
                </a:cubicBezTo>
                <a:lnTo>
                  <a:pt x="71829" y="86087"/>
                </a:lnTo>
                <a:lnTo>
                  <a:pt x="90337" y="56457"/>
                </a:lnTo>
                <a:cubicBezTo>
                  <a:pt x="92447" y="53081"/>
                  <a:pt x="96908" y="52026"/>
                  <a:pt x="100314" y="54166"/>
                </a:cubicBezTo>
                <a:cubicBezTo>
                  <a:pt x="103720" y="56306"/>
                  <a:pt x="104745" y="60737"/>
                  <a:pt x="102605" y="64143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66" name="Text 64"/>
          <p:cNvSpPr/>
          <p:nvPr/>
        </p:nvSpPr>
        <p:spPr>
          <a:xfrm>
            <a:off x="6658524" y="5478684"/>
            <a:ext cx="2460692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经验共享：</a:t>
            </a:r>
            <a:r>
              <a:rPr lang="en-US" sz="94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优秀实践快速复制，避免重复踩坑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84161" y="5804489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77165" y="154329"/>
                </a:moveTo>
                <a:cubicBezTo>
                  <a:pt x="119753" y="154329"/>
                  <a:pt x="154329" y="119753"/>
                  <a:pt x="154329" y="77165"/>
                </a:cubicBezTo>
                <a:cubicBezTo>
                  <a:pt x="154329" y="34576"/>
                  <a:pt x="119753" y="0"/>
                  <a:pt x="77165" y="0"/>
                </a:cubicBezTo>
                <a:cubicBezTo>
                  <a:pt x="34576" y="0"/>
                  <a:pt x="0" y="34576"/>
                  <a:pt x="0" y="77165"/>
                </a:cubicBezTo>
                <a:cubicBezTo>
                  <a:pt x="0" y="119753"/>
                  <a:pt x="34576" y="154329"/>
                  <a:pt x="77165" y="154329"/>
                </a:cubicBezTo>
                <a:close/>
                <a:moveTo>
                  <a:pt x="102605" y="64113"/>
                </a:moveTo>
                <a:lnTo>
                  <a:pt x="78491" y="102695"/>
                </a:lnTo>
                <a:cubicBezTo>
                  <a:pt x="77225" y="104715"/>
                  <a:pt x="75055" y="105981"/>
                  <a:pt x="72673" y="106101"/>
                </a:cubicBezTo>
                <a:cubicBezTo>
                  <a:pt x="70292" y="106222"/>
                  <a:pt x="68001" y="105137"/>
                  <a:pt x="66585" y="103208"/>
                </a:cubicBezTo>
                <a:lnTo>
                  <a:pt x="52116" y="83916"/>
                </a:lnTo>
                <a:cubicBezTo>
                  <a:pt x="49705" y="80721"/>
                  <a:pt x="50368" y="76200"/>
                  <a:pt x="53563" y="73789"/>
                </a:cubicBezTo>
                <a:cubicBezTo>
                  <a:pt x="56758" y="71377"/>
                  <a:pt x="61280" y="72040"/>
                  <a:pt x="63691" y="75235"/>
                </a:cubicBezTo>
                <a:lnTo>
                  <a:pt x="71829" y="86087"/>
                </a:lnTo>
                <a:lnTo>
                  <a:pt x="90337" y="56457"/>
                </a:lnTo>
                <a:cubicBezTo>
                  <a:pt x="92447" y="53081"/>
                  <a:pt x="96908" y="52026"/>
                  <a:pt x="100314" y="54166"/>
                </a:cubicBezTo>
                <a:cubicBezTo>
                  <a:pt x="103720" y="56306"/>
                  <a:pt x="104745" y="60737"/>
                  <a:pt x="102605" y="64143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68" name="Text 66"/>
          <p:cNvSpPr/>
          <p:nvPr/>
        </p:nvSpPr>
        <p:spPr>
          <a:xfrm>
            <a:off x="6658524" y="5770194"/>
            <a:ext cx="2220624" cy="171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持续优化：</a:t>
            </a:r>
            <a:r>
              <a:rPr lang="en-US" sz="945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基于数据和反馈不断调整优化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47625" cy="317500"/>
          </a:xfrm>
          <a:custGeom>
            <a:avLst/>
            <a:gdLst/>
            <a:ahLst/>
            <a:cxnLst/>
            <a:rect l="l" t="t" r="r" b="b"/>
            <a:pathLst>
              <a:path w="47625" h="317500">
                <a:moveTo>
                  <a:pt x="0" y="0"/>
                </a:moveTo>
                <a:lnTo>
                  <a:pt x="47625" y="0"/>
                </a:lnTo>
                <a:lnTo>
                  <a:pt x="47625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460375" y="317500"/>
            <a:ext cx="2532063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2026年推进路线图</a:t>
            </a:r>
            <a:endParaRPr lang="en-US" sz="1600" dirty="0"/>
          </a:p>
        </p:txBody>
      </p:sp>
      <p:pic>
        <p:nvPicPr>
          <p:cNvPr id="124" name="图片 1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65" y="2432050"/>
            <a:ext cx="11913870" cy="22783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231" y="356231"/>
            <a:ext cx="53435" cy="356231"/>
          </a:xfrm>
          <a:custGeom>
            <a:avLst/>
            <a:gdLst/>
            <a:ahLst/>
            <a:cxnLst/>
            <a:rect l="l" t="t" r="r" b="b"/>
            <a:pathLst>
              <a:path w="53435" h="356231">
                <a:moveTo>
                  <a:pt x="0" y="0"/>
                </a:moveTo>
                <a:lnTo>
                  <a:pt x="53435" y="0"/>
                </a:lnTo>
                <a:lnTo>
                  <a:pt x="53435" y="356231"/>
                </a:lnTo>
                <a:lnTo>
                  <a:pt x="0" y="356231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3" name="Text 1"/>
          <p:cNvSpPr/>
          <p:nvPr/>
        </p:nvSpPr>
        <p:spPr>
          <a:xfrm>
            <a:off x="516535" y="356231"/>
            <a:ext cx="3143737" cy="3562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惊喜环节：部门PK赛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9969" y="783708"/>
            <a:ext cx="11345952" cy="2493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激发团队在AI-Native效率提升方面的探索与实践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0684" y="1215638"/>
            <a:ext cx="6768386" cy="2128479"/>
          </a:xfrm>
          <a:custGeom>
            <a:avLst/>
            <a:gdLst/>
            <a:ahLst/>
            <a:cxnLst/>
            <a:rect l="l" t="t" r="r" b="b"/>
            <a:pathLst>
              <a:path w="6768386" h="2128479">
                <a:moveTo>
                  <a:pt x="106871" y="0"/>
                </a:moveTo>
                <a:lnTo>
                  <a:pt x="6661515" y="0"/>
                </a:lnTo>
                <a:cubicBezTo>
                  <a:pt x="6720538" y="0"/>
                  <a:pt x="6768386" y="47848"/>
                  <a:pt x="6768386" y="106871"/>
                </a:cubicBezTo>
                <a:lnTo>
                  <a:pt x="6768386" y="2021608"/>
                </a:lnTo>
                <a:cubicBezTo>
                  <a:pt x="6768386" y="2080631"/>
                  <a:pt x="6720538" y="2128479"/>
                  <a:pt x="6661515" y="2128479"/>
                </a:cubicBezTo>
                <a:lnTo>
                  <a:pt x="106871" y="2128479"/>
                </a:lnTo>
                <a:cubicBezTo>
                  <a:pt x="47848" y="2128479"/>
                  <a:pt x="0" y="2080631"/>
                  <a:pt x="0" y="2021608"/>
                </a:cubicBezTo>
                <a:lnTo>
                  <a:pt x="0" y="106871"/>
                </a:lnTo>
                <a:cubicBezTo>
                  <a:pt x="0" y="47848"/>
                  <a:pt x="47848" y="0"/>
                  <a:pt x="106871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3252" y="1398206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7" name="Shape 5"/>
          <p:cNvSpPr/>
          <p:nvPr/>
        </p:nvSpPr>
        <p:spPr>
          <a:xfrm>
            <a:off x="685744" y="1540698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60239" y="0"/>
                </a:moveTo>
                <a:lnTo>
                  <a:pt x="153750" y="0"/>
                </a:lnTo>
                <a:cubicBezTo>
                  <a:pt x="164812" y="0"/>
                  <a:pt x="173830" y="9101"/>
                  <a:pt x="173412" y="20121"/>
                </a:cubicBezTo>
                <a:cubicBezTo>
                  <a:pt x="173329" y="22334"/>
                  <a:pt x="173245" y="24547"/>
                  <a:pt x="173120" y="26717"/>
                </a:cubicBezTo>
                <a:lnTo>
                  <a:pt x="193826" y="26717"/>
                </a:lnTo>
                <a:cubicBezTo>
                  <a:pt x="204721" y="26717"/>
                  <a:pt x="214323" y="35734"/>
                  <a:pt x="213488" y="47507"/>
                </a:cubicBezTo>
                <a:cubicBezTo>
                  <a:pt x="210357" y="90797"/>
                  <a:pt x="188232" y="114592"/>
                  <a:pt x="164228" y="127032"/>
                </a:cubicBezTo>
                <a:cubicBezTo>
                  <a:pt x="157632" y="130456"/>
                  <a:pt x="150911" y="133002"/>
                  <a:pt x="144524" y="134881"/>
                </a:cubicBezTo>
                <a:cubicBezTo>
                  <a:pt x="136091" y="146820"/>
                  <a:pt x="127325" y="153124"/>
                  <a:pt x="120353" y="156505"/>
                </a:cubicBezTo>
                <a:lnTo>
                  <a:pt x="120353" y="187021"/>
                </a:lnTo>
                <a:lnTo>
                  <a:pt x="147070" y="187021"/>
                </a:lnTo>
                <a:cubicBezTo>
                  <a:pt x="154459" y="187021"/>
                  <a:pt x="160429" y="192991"/>
                  <a:pt x="160429" y="200380"/>
                </a:cubicBezTo>
                <a:cubicBezTo>
                  <a:pt x="160429" y="207769"/>
                  <a:pt x="154459" y="213738"/>
                  <a:pt x="147070" y="213738"/>
                </a:cubicBezTo>
                <a:lnTo>
                  <a:pt x="66919" y="213738"/>
                </a:lnTo>
                <a:cubicBezTo>
                  <a:pt x="59530" y="213738"/>
                  <a:pt x="53560" y="207769"/>
                  <a:pt x="53560" y="200380"/>
                </a:cubicBezTo>
                <a:cubicBezTo>
                  <a:pt x="53560" y="192991"/>
                  <a:pt x="59530" y="187021"/>
                  <a:pt x="66919" y="187021"/>
                </a:cubicBezTo>
                <a:lnTo>
                  <a:pt x="93636" y="187021"/>
                </a:lnTo>
                <a:lnTo>
                  <a:pt x="93636" y="156505"/>
                </a:lnTo>
                <a:cubicBezTo>
                  <a:pt x="86957" y="153291"/>
                  <a:pt x="78649" y="147321"/>
                  <a:pt x="70550" y="136342"/>
                </a:cubicBezTo>
                <a:cubicBezTo>
                  <a:pt x="62869" y="134338"/>
                  <a:pt x="54520" y="131291"/>
                  <a:pt x="46380" y="126699"/>
                </a:cubicBezTo>
                <a:cubicBezTo>
                  <a:pt x="23795" y="114050"/>
                  <a:pt x="3423" y="90213"/>
                  <a:pt x="501" y="47423"/>
                </a:cubicBezTo>
                <a:cubicBezTo>
                  <a:pt x="-292" y="35693"/>
                  <a:pt x="9268" y="26676"/>
                  <a:pt x="20163" y="26676"/>
                </a:cubicBezTo>
                <a:lnTo>
                  <a:pt x="40869" y="26676"/>
                </a:lnTo>
                <a:cubicBezTo>
                  <a:pt x="40744" y="24505"/>
                  <a:pt x="40660" y="22334"/>
                  <a:pt x="40577" y="20080"/>
                </a:cubicBezTo>
                <a:cubicBezTo>
                  <a:pt x="40159" y="9017"/>
                  <a:pt x="49177" y="-42"/>
                  <a:pt x="60239" y="-42"/>
                </a:cubicBezTo>
                <a:close/>
                <a:moveTo>
                  <a:pt x="42372" y="46755"/>
                </a:moveTo>
                <a:lnTo>
                  <a:pt x="20497" y="46755"/>
                </a:lnTo>
                <a:cubicBezTo>
                  <a:pt x="23085" y="82114"/>
                  <a:pt x="39325" y="99814"/>
                  <a:pt x="56065" y="109207"/>
                </a:cubicBezTo>
                <a:cubicBezTo>
                  <a:pt x="50053" y="93636"/>
                  <a:pt x="45085" y="73306"/>
                  <a:pt x="42372" y="46755"/>
                </a:cubicBezTo>
                <a:close/>
                <a:moveTo>
                  <a:pt x="158634" y="107203"/>
                </a:moveTo>
                <a:cubicBezTo>
                  <a:pt x="175541" y="97268"/>
                  <a:pt x="190820" y="79609"/>
                  <a:pt x="193408" y="46755"/>
                </a:cubicBezTo>
                <a:lnTo>
                  <a:pt x="171575" y="46755"/>
                </a:lnTo>
                <a:cubicBezTo>
                  <a:pt x="168987" y="72178"/>
                  <a:pt x="164311" y="91924"/>
                  <a:pt x="158634" y="10720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148844" y="1416018"/>
            <a:ext cx="1727720" cy="284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PK赛目的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8844" y="1701002"/>
            <a:ext cx="1683191" cy="178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激发竞争活力，促进经验交流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3252" y="2039421"/>
            <a:ext cx="2066139" cy="1122127"/>
          </a:xfrm>
          <a:custGeom>
            <a:avLst/>
            <a:gdLst/>
            <a:ahLst/>
            <a:cxnLst/>
            <a:rect l="l" t="t" r="r" b="b"/>
            <a:pathLst>
              <a:path w="2066139" h="1122127">
                <a:moveTo>
                  <a:pt x="71244" y="0"/>
                </a:moveTo>
                <a:lnTo>
                  <a:pt x="1994895" y="0"/>
                </a:lnTo>
                <a:cubicBezTo>
                  <a:pt x="2034242" y="0"/>
                  <a:pt x="2066139" y="31897"/>
                  <a:pt x="2066139" y="71244"/>
                </a:cubicBezTo>
                <a:lnTo>
                  <a:pt x="2066139" y="1050883"/>
                </a:lnTo>
                <a:cubicBezTo>
                  <a:pt x="2066139" y="1090230"/>
                  <a:pt x="2034242" y="1122127"/>
                  <a:pt x="1994895" y="1122127"/>
                </a:cubicBezTo>
                <a:lnTo>
                  <a:pt x="71244" y="1122127"/>
                </a:lnTo>
                <a:cubicBezTo>
                  <a:pt x="31923" y="1122127"/>
                  <a:pt x="0" y="1090204"/>
                  <a:pt x="0" y="1050883"/>
                </a:cubicBezTo>
                <a:lnTo>
                  <a:pt x="0" y="71244"/>
                </a:lnTo>
                <a:cubicBezTo>
                  <a:pt x="0" y="31923"/>
                  <a:pt x="31923" y="0"/>
                  <a:pt x="7124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1460616" y="2181914"/>
            <a:ext cx="233776" cy="267173"/>
          </a:xfrm>
          <a:custGeom>
            <a:avLst/>
            <a:gdLst/>
            <a:ahLst/>
            <a:cxnLst/>
            <a:rect l="l" t="t" r="r" b="b"/>
            <a:pathLst>
              <a:path w="233776" h="267173">
                <a:moveTo>
                  <a:pt x="83753" y="-13776"/>
                </a:moveTo>
                <a:cubicBezTo>
                  <a:pt x="88605" y="-17846"/>
                  <a:pt x="95754" y="-17690"/>
                  <a:pt x="100399" y="-13306"/>
                </a:cubicBezTo>
                <a:cubicBezTo>
                  <a:pt x="106817" y="-7253"/>
                  <a:pt x="112557" y="-574"/>
                  <a:pt x="118088" y="6210"/>
                </a:cubicBezTo>
                <a:cubicBezTo>
                  <a:pt x="125133" y="14820"/>
                  <a:pt x="133587" y="26195"/>
                  <a:pt x="141727" y="39711"/>
                </a:cubicBezTo>
                <a:cubicBezTo>
                  <a:pt x="144440" y="36162"/>
                  <a:pt x="146945" y="33031"/>
                  <a:pt x="149137" y="30370"/>
                </a:cubicBezTo>
                <a:cubicBezTo>
                  <a:pt x="149711" y="29692"/>
                  <a:pt x="150285" y="28961"/>
                  <a:pt x="150859" y="28231"/>
                </a:cubicBezTo>
                <a:cubicBezTo>
                  <a:pt x="154981" y="23117"/>
                  <a:pt x="160095" y="16698"/>
                  <a:pt x="166931" y="16698"/>
                </a:cubicBezTo>
                <a:cubicBezTo>
                  <a:pt x="173923" y="16698"/>
                  <a:pt x="178829" y="22908"/>
                  <a:pt x="183003" y="28231"/>
                </a:cubicBezTo>
                <a:cubicBezTo>
                  <a:pt x="183682" y="29118"/>
                  <a:pt x="184360" y="29953"/>
                  <a:pt x="185038" y="30735"/>
                </a:cubicBezTo>
                <a:cubicBezTo>
                  <a:pt x="190413" y="37206"/>
                  <a:pt x="197562" y="46547"/>
                  <a:pt x="204711" y="58079"/>
                </a:cubicBezTo>
                <a:cubicBezTo>
                  <a:pt x="218905" y="80987"/>
                  <a:pt x="233724" y="113601"/>
                  <a:pt x="233724" y="150233"/>
                </a:cubicBezTo>
                <a:cubicBezTo>
                  <a:pt x="233724" y="214782"/>
                  <a:pt x="181386" y="267121"/>
                  <a:pt x="116836" y="267121"/>
                </a:cubicBezTo>
                <a:cubicBezTo>
                  <a:pt x="52287" y="267121"/>
                  <a:pt x="0" y="214834"/>
                  <a:pt x="0" y="150285"/>
                </a:cubicBezTo>
                <a:cubicBezTo>
                  <a:pt x="0" y="102747"/>
                  <a:pt x="21447" y="61575"/>
                  <a:pt x="42007" y="32875"/>
                </a:cubicBezTo>
                <a:cubicBezTo>
                  <a:pt x="52391" y="18420"/>
                  <a:pt x="62723" y="6836"/>
                  <a:pt x="70498" y="-1096"/>
                </a:cubicBezTo>
                <a:cubicBezTo>
                  <a:pt x="74777" y="-5479"/>
                  <a:pt x="79108" y="-9810"/>
                  <a:pt x="83805" y="-13724"/>
                </a:cubicBezTo>
                <a:close/>
                <a:moveTo>
                  <a:pt x="117775" y="217078"/>
                </a:moveTo>
                <a:cubicBezTo>
                  <a:pt x="130977" y="217078"/>
                  <a:pt x="142666" y="213425"/>
                  <a:pt x="153677" y="206120"/>
                </a:cubicBezTo>
                <a:cubicBezTo>
                  <a:pt x="175645" y="190778"/>
                  <a:pt x="181542" y="160095"/>
                  <a:pt x="168340" y="135987"/>
                </a:cubicBezTo>
                <a:cubicBezTo>
                  <a:pt x="165992" y="131291"/>
                  <a:pt x="159991" y="130977"/>
                  <a:pt x="156599" y="134943"/>
                </a:cubicBezTo>
                <a:lnTo>
                  <a:pt x="143449" y="150233"/>
                </a:lnTo>
                <a:cubicBezTo>
                  <a:pt x="140005" y="154199"/>
                  <a:pt x="133795" y="154094"/>
                  <a:pt x="130560" y="149972"/>
                </a:cubicBezTo>
                <a:cubicBezTo>
                  <a:pt x="121532" y="138440"/>
                  <a:pt x="104939" y="117410"/>
                  <a:pt x="96485" y="106661"/>
                </a:cubicBezTo>
                <a:cubicBezTo>
                  <a:pt x="93667" y="103060"/>
                  <a:pt x="88553" y="102486"/>
                  <a:pt x="85266" y="105669"/>
                </a:cubicBezTo>
                <a:cubicBezTo>
                  <a:pt x="75716" y="114957"/>
                  <a:pt x="58392" y="135309"/>
                  <a:pt x="58392" y="160095"/>
                </a:cubicBezTo>
                <a:cubicBezTo>
                  <a:pt x="58392" y="195892"/>
                  <a:pt x="84796" y="217078"/>
                  <a:pt x="117723" y="217078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12" name="Text 10"/>
          <p:cNvSpPr/>
          <p:nvPr/>
        </p:nvSpPr>
        <p:spPr>
          <a:xfrm>
            <a:off x="654574" y="2520333"/>
            <a:ext cx="1843495" cy="178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激发探索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9027" y="2734072"/>
            <a:ext cx="1834589" cy="284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鼓励团队积极探索AI-Native工具和最佳实践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14242" y="2039421"/>
            <a:ext cx="2066139" cy="1122127"/>
          </a:xfrm>
          <a:custGeom>
            <a:avLst/>
            <a:gdLst/>
            <a:ahLst/>
            <a:cxnLst/>
            <a:rect l="l" t="t" r="r" b="b"/>
            <a:pathLst>
              <a:path w="2066139" h="1122127">
                <a:moveTo>
                  <a:pt x="71244" y="0"/>
                </a:moveTo>
                <a:lnTo>
                  <a:pt x="1994895" y="0"/>
                </a:lnTo>
                <a:cubicBezTo>
                  <a:pt x="2034242" y="0"/>
                  <a:pt x="2066139" y="31897"/>
                  <a:pt x="2066139" y="71244"/>
                </a:cubicBezTo>
                <a:lnTo>
                  <a:pt x="2066139" y="1050883"/>
                </a:lnTo>
                <a:cubicBezTo>
                  <a:pt x="2066139" y="1090230"/>
                  <a:pt x="2034242" y="1122127"/>
                  <a:pt x="1994895" y="1122127"/>
                </a:cubicBezTo>
                <a:lnTo>
                  <a:pt x="71244" y="1122127"/>
                </a:lnTo>
                <a:cubicBezTo>
                  <a:pt x="31923" y="1122127"/>
                  <a:pt x="0" y="1090204"/>
                  <a:pt x="0" y="1050883"/>
                </a:cubicBezTo>
                <a:lnTo>
                  <a:pt x="0" y="71244"/>
                </a:lnTo>
                <a:cubicBezTo>
                  <a:pt x="0" y="31923"/>
                  <a:pt x="31923" y="0"/>
                  <a:pt x="7124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3614908" y="2181914"/>
            <a:ext cx="267173" cy="267173"/>
          </a:xfrm>
          <a:custGeom>
            <a:avLst/>
            <a:gdLst/>
            <a:ahLst/>
            <a:cxnLst/>
            <a:rect l="l" t="t" r="r" b="b"/>
            <a:pathLst>
              <a:path w="267173" h="267173">
                <a:moveTo>
                  <a:pt x="262268" y="78586"/>
                </a:moveTo>
                <a:lnTo>
                  <a:pt x="212173" y="128681"/>
                </a:lnTo>
                <a:cubicBezTo>
                  <a:pt x="207372" y="133482"/>
                  <a:pt x="200223" y="134891"/>
                  <a:pt x="193961" y="132282"/>
                </a:cubicBezTo>
                <a:cubicBezTo>
                  <a:pt x="187700" y="129673"/>
                  <a:pt x="183682" y="123620"/>
                  <a:pt x="183682" y="116888"/>
                </a:cubicBezTo>
                <a:lnTo>
                  <a:pt x="183682" y="83492"/>
                </a:lnTo>
                <a:lnTo>
                  <a:pt x="16698" y="83492"/>
                </a:lnTo>
                <a:cubicBezTo>
                  <a:pt x="7462" y="83492"/>
                  <a:pt x="0" y="76030"/>
                  <a:pt x="0" y="66793"/>
                </a:cubicBezTo>
                <a:cubicBezTo>
                  <a:pt x="0" y="57557"/>
                  <a:pt x="7462" y="50095"/>
                  <a:pt x="16698" y="50095"/>
                </a:cubicBezTo>
                <a:lnTo>
                  <a:pt x="183682" y="50095"/>
                </a:lnTo>
                <a:lnTo>
                  <a:pt x="183682" y="16698"/>
                </a:lnTo>
                <a:cubicBezTo>
                  <a:pt x="183682" y="9967"/>
                  <a:pt x="187752" y="3861"/>
                  <a:pt x="194014" y="1252"/>
                </a:cubicBezTo>
                <a:cubicBezTo>
                  <a:pt x="200275" y="-1357"/>
                  <a:pt x="207424" y="104"/>
                  <a:pt x="212225" y="4853"/>
                </a:cubicBezTo>
                <a:lnTo>
                  <a:pt x="262320" y="54948"/>
                </a:lnTo>
                <a:cubicBezTo>
                  <a:pt x="268843" y="61471"/>
                  <a:pt x="268843" y="72064"/>
                  <a:pt x="262320" y="78586"/>
                </a:cubicBezTo>
                <a:close/>
                <a:moveTo>
                  <a:pt x="54948" y="262268"/>
                </a:moveTo>
                <a:lnTo>
                  <a:pt x="4853" y="212173"/>
                </a:lnTo>
                <a:cubicBezTo>
                  <a:pt x="-1670" y="205650"/>
                  <a:pt x="-1670" y="195057"/>
                  <a:pt x="4853" y="188534"/>
                </a:cubicBezTo>
                <a:lnTo>
                  <a:pt x="54948" y="138440"/>
                </a:lnTo>
                <a:cubicBezTo>
                  <a:pt x="59749" y="133639"/>
                  <a:pt x="66898" y="132230"/>
                  <a:pt x="73160" y="134839"/>
                </a:cubicBezTo>
                <a:cubicBezTo>
                  <a:pt x="79421" y="137448"/>
                  <a:pt x="83492" y="143553"/>
                  <a:pt x="83492" y="150285"/>
                </a:cubicBezTo>
                <a:lnTo>
                  <a:pt x="83492" y="183682"/>
                </a:lnTo>
                <a:lnTo>
                  <a:pt x="250475" y="183682"/>
                </a:lnTo>
                <a:cubicBezTo>
                  <a:pt x="259711" y="183682"/>
                  <a:pt x="267173" y="191144"/>
                  <a:pt x="267173" y="200380"/>
                </a:cubicBezTo>
                <a:cubicBezTo>
                  <a:pt x="267173" y="209616"/>
                  <a:pt x="259711" y="217078"/>
                  <a:pt x="250475" y="217078"/>
                </a:cubicBezTo>
                <a:lnTo>
                  <a:pt x="83492" y="217078"/>
                </a:lnTo>
                <a:lnTo>
                  <a:pt x="83492" y="250475"/>
                </a:lnTo>
                <a:cubicBezTo>
                  <a:pt x="83492" y="257206"/>
                  <a:pt x="79421" y="263312"/>
                  <a:pt x="73160" y="265921"/>
                </a:cubicBezTo>
                <a:cubicBezTo>
                  <a:pt x="66898" y="268530"/>
                  <a:pt x="59749" y="267069"/>
                  <a:pt x="54948" y="26232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6" name="Text 14"/>
          <p:cNvSpPr/>
          <p:nvPr/>
        </p:nvSpPr>
        <p:spPr>
          <a:xfrm>
            <a:off x="2825564" y="2520333"/>
            <a:ext cx="1843495" cy="178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促进交流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30017" y="2734072"/>
            <a:ext cx="1834589" cy="1424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跨团队经验分享，避免重复踩坑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85233" y="2039421"/>
            <a:ext cx="2066139" cy="1122127"/>
          </a:xfrm>
          <a:custGeom>
            <a:avLst/>
            <a:gdLst/>
            <a:ahLst/>
            <a:cxnLst/>
            <a:rect l="l" t="t" r="r" b="b"/>
            <a:pathLst>
              <a:path w="2066139" h="1122127">
                <a:moveTo>
                  <a:pt x="71244" y="0"/>
                </a:moveTo>
                <a:lnTo>
                  <a:pt x="1994895" y="0"/>
                </a:lnTo>
                <a:cubicBezTo>
                  <a:pt x="2034242" y="0"/>
                  <a:pt x="2066139" y="31897"/>
                  <a:pt x="2066139" y="71244"/>
                </a:cubicBezTo>
                <a:lnTo>
                  <a:pt x="2066139" y="1050883"/>
                </a:lnTo>
                <a:cubicBezTo>
                  <a:pt x="2066139" y="1090230"/>
                  <a:pt x="2034242" y="1122127"/>
                  <a:pt x="1994895" y="1122127"/>
                </a:cubicBezTo>
                <a:lnTo>
                  <a:pt x="71244" y="1122127"/>
                </a:lnTo>
                <a:cubicBezTo>
                  <a:pt x="31923" y="1122127"/>
                  <a:pt x="0" y="1090204"/>
                  <a:pt x="0" y="1050883"/>
                </a:cubicBezTo>
                <a:lnTo>
                  <a:pt x="0" y="71244"/>
                </a:lnTo>
                <a:cubicBezTo>
                  <a:pt x="0" y="31923"/>
                  <a:pt x="31923" y="0"/>
                  <a:pt x="7124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785968" y="2181914"/>
            <a:ext cx="267173" cy="267173"/>
          </a:xfrm>
          <a:custGeom>
            <a:avLst/>
            <a:gdLst/>
            <a:ahLst/>
            <a:cxnLst/>
            <a:rect l="l" t="t" r="r" b="b"/>
            <a:pathLst>
              <a:path w="267173" h="267173">
                <a:moveTo>
                  <a:pt x="33397" y="33397"/>
                </a:moveTo>
                <a:cubicBezTo>
                  <a:pt x="33397" y="24160"/>
                  <a:pt x="25935" y="16698"/>
                  <a:pt x="16698" y="16698"/>
                </a:cubicBezTo>
                <a:cubicBezTo>
                  <a:pt x="7462" y="16698"/>
                  <a:pt x="0" y="24160"/>
                  <a:pt x="0" y="33397"/>
                </a:cubicBezTo>
                <a:lnTo>
                  <a:pt x="0" y="208729"/>
                </a:lnTo>
                <a:cubicBezTo>
                  <a:pt x="0" y="231794"/>
                  <a:pt x="18681" y="250475"/>
                  <a:pt x="41746" y="250475"/>
                </a:cubicBezTo>
                <a:lnTo>
                  <a:pt x="250475" y="250475"/>
                </a:lnTo>
                <a:cubicBezTo>
                  <a:pt x="259711" y="250475"/>
                  <a:pt x="267173" y="243013"/>
                  <a:pt x="267173" y="233776"/>
                </a:cubicBezTo>
                <a:cubicBezTo>
                  <a:pt x="267173" y="224540"/>
                  <a:pt x="259711" y="217078"/>
                  <a:pt x="250475" y="217078"/>
                </a:cubicBezTo>
                <a:lnTo>
                  <a:pt x="41746" y="217078"/>
                </a:lnTo>
                <a:cubicBezTo>
                  <a:pt x="37154" y="217078"/>
                  <a:pt x="33397" y="213321"/>
                  <a:pt x="33397" y="208729"/>
                </a:cubicBezTo>
                <a:lnTo>
                  <a:pt x="33397" y="33397"/>
                </a:lnTo>
                <a:close/>
                <a:moveTo>
                  <a:pt x="245570" y="78586"/>
                </a:moveTo>
                <a:cubicBezTo>
                  <a:pt x="252092" y="72064"/>
                  <a:pt x="252092" y="61471"/>
                  <a:pt x="245570" y="54948"/>
                </a:cubicBezTo>
                <a:cubicBezTo>
                  <a:pt x="239047" y="48425"/>
                  <a:pt x="228454" y="48425"/>
                  <a:pt x="221931" y="54948"/>
                </a:cubicBezTo>
                <a:lnTo>
                  <a:pt x="166983" y="109948"/>
                </a:lnTo>
                <a:lnTo>
                  <a:pt x="137031" y="80048"/>
                </a:lnTo>
                <a:cubicBezTo>
                  <a:pt x="130508" y="73525"/>
                  <a:pt x="119915" y="73525"/>
                  <a:pt x="113392" y="80048"/>
                </a:cubicBezTo>
                <a:lnTo>
                  <a:pt x="63297" y="130143"/>
                </a:lnTo>
                <a:cubicBezTo>
                  <a:pt x="56774" y="136665"/>
                  <a:pt x="56774" y="147258"/>
                  <a:pt x="63297" y="153781"/>
                </a:cubicBezTo>
                <a:cubicBezTo>
                  <a:pt x="69820" y="160304"/>
                  <a:pt x="80413" y="160304"/>
                  <a:pt x="86936" y="153781"/>
                </a:cubicBezTo>
                <a:lnTo>
                  <a:pt x="125237" y="115479"/>
                </a:lnTo>
                <a:lnTo>
                  <a:pt x="155190" y="145432"/>
                </a:lnTo>
                <a:cubicBezTo>
                  <a:pt x="161713" y="151955"/>
                  <a:pt x="172306" y="151955"/>
                  <a:pt x="178829" y="145432"/>
                </a:cubicBezTo>
                <a:lnTo>
                  <a:pt x="245622" y="78639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20" name="Text 18"/>
          <p:cNvSpPr/>
          <p:nvPr/>
        </p:nvSpPr>
        <p:spPr>
          <a:xfrm>
            <a:off x="4996555" y="2520333"/>
            <a:ext cx="1843495" cy="178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提升效能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01008" y="2734072"/>
            <a:ext cx="1834589" cy="1424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通过竞争推动整体研发效能提升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0684" y="3495515"/>
            <a:ext cx="6768386" cy="3357476"/>
          </a:xfrm>
          <a:custGeom>
            <a:avLst/>
            <a:gdLst/>
            <a:ahLst/>
            <a:cxnLst/>
            <a:rect l="l" t="t" r="r" b="b"/>
            <a:pathLst>
              <a:path w="6768386" h="3357476">
                <a:moveTo>
                  <a:pt x="106868" y="0"/>
                </a:moveTo>
                <a:lnTo>
                  <a:pt x="6661517" y="0"/>
                </a:lnTo>
                <a:cubicBezTo>
                  <a:pt x="6720539" y="0"/>
                  <a:pt x="6768386" y="47847"/>
                  <a:pt x="6768386" y="106868"/>
                </a:cubicBezTo>
                <a:lnTo>
                  <a:pt x="6768386" y="3250607"/>
                </a:lnTo>
                <a:cubicBezTo>
                  <a:pt x="6768386" y="3309629"/>
                  <a:pt x="6720539" y="3357476"/>
                  <a:pt x="6661517" y="3357476"/>
                </a:cubicBezTo>
                <a:lnTo>
                  <a:pt x="106868" y="3357476"/>
                </a:lnTo>
                <a:cubicBezTo>
                  <a:pt x="47847" y="3357476"/>
                  <a:pt x="0" y="3309629"/>
                  <a:pt x="0" y="3250607"/>
                </a:cubicBezTo>
                <a:lnTo>
                  <a:pt x="0" y="106868"/>
                </a:lnTo>
                <a:cubicBezTo>
                  <a:pt x="0" y="47886"/>
                  <a:pt x="47886" y="0"/>
                  <a:pt x="106868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3252" y="3678083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24" name="Shape 22"/>
          <p:cNvSpPr/>
          <p:nvPr/>
        </p:nvSpPr>
        <p:spPr>
          <a:xfrm>
            <a:off x="685744" y="3820576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70133" y="23378"/>
                </a:moveTo>
                <a:lnTo>
                  <a:pt x="70133" y="40076"/>
                </a:lnTo>
                <a:lnTo>
                  <a:pt x="37529" y="40076"/>
                </a:lnTo>
                <a:cubicBezTo>
                  <a:pt x="31560" y="40076"/>
                  <a:pt x="26717" y="44918"/>
                  <a:pt x="26717" y="50888"/>
                </a:cubicBezTo>
                <a:cubicBezTo>
                  <a:pt x="26717" y="52558"/>
                  <a:pt x="27093" y="54228"/>
                  <a:pt x="27844" y="55731"/>
                </a:cubicBezTo>
                <a:lnTo>
                  <a:pt x="41788" y="83617"/>
                </a:lnTo>
                <a:cubicBezTo>
                  <a:pt x="37029" y="84368"/>
                  <a:pt x="33355" y="88501"/>
                  <a:pt x="33355" y="93511"/>
                </a:cubicBezTo>
                <a:cubicBezTo>
                  <a:pt x="33355" y="99063"/>
                  <a:pt x="37822" y="103530"/>
                  <a:pt x="43374" y="103530"/>
                </a:cubicBezTo>
                <a:lnTo>
                  <a:pt x="45712" y="103530"/>
                </a:lnTo>
                <a:lnTo>
                  <a:pt x="40034" y="160304"/>
                </a:lnTo>
                <a:lnTo>
                  <a:pt x="16573" y="189651"/>
                </a:lnTo>
                <a:cubicBezTo>
                  <a:pt x="14486" y="192281"/>
                  <a:pt x="13317" y="195537"/>
                  <a:pt x="13317" y="198919"/>
                </a:cubicBezTo>
                <a:cubicBezTo>
                  <a:pt x="13317" y="207101"/>
                  <a:pt x="19954" y="213738"/>
                  <a:pt x="28137" y="213738"/>
                </a:cubicBezTo>
                <a:lnTo>
                  <a:pt x="132042" y="213738"/>
                </a:lnTo>
                <a:cubicBezTo>
                  <a:pt x="140224" y="213738"/>
                  <a:pt x="146862" y="207101"/>
                  <a:pt x="146862" y="198919"/>
                </a:cubicBezTo>
                <a:cubicBezTo>
                  <a:pt x="146862" y="195537"/>
                  <a:pt x="145735" y="192281"/>
                  <a:pt x="143606" y="189651"/>
                </a:cubicBezTo>
                <a:lnTo>
                  <a:pt x="120228" y="160304"/>
                </a:lnTo>
                <a:lnTo>
                  <a:pt x="114550" y="103530"/>
                </a:lnTo>
                <a:lnTo>
                  <a:pt x="116888" y="103530"/>
                </a:lnTo>
                <a:cubicBezTo>
                  <a:pt x="122440" y="103530"/>
                  <a:pt x="126907" y="99063"/>
                  <a:pt x="126907" y="93511"/>
                </a:cubicBezTo>
                <a:cubicBezTo>
                  <a:pt x="126907" y="88543"/>
                  <a:pt x="123275" y="84368"/>
                  <a:pt x="118475" y="83617"/>
                </a:cubicBezTo>
                <a:lnTo>
                  <a:pt x="132418" y="55731"/>
                </a:lnTo>
                <a:cubicBezTo>
                  <a:pt x="133169" y="54228"/>
                  <a:pt x="133545" y="52558"/>
                  <a:pt x="133545" y="50888"/>
                </a:cubicBezTo>
                <a:cubicBezTo>
                  <a:pt x="133545" y="44918"/>
                  <a:pt x="128702" y="40076"/>
                  <a:pt x="122733" y="40076"/>
                </a:cubicBezTo>
                <a:lnTo>
                  <a:pt x="90129" y="40076"/>
                </a:lnTo>
                <a:lnTo>
                  <a:pt x="90129" y="23378"/>
                </a:lnTo>
                <a:lnTo>
                  <a:pt x="96809" y="23378"/>
                </a:lnTo>
                <a:cubicBezTo>
                  <a:pt x="102361" y="23378"/>
                  <a:pt x="106828" y="18911"/>
                  <a:pt x="106828" y="13359"/>
                </a:cubicBezTo>
                <a:cubicBezTo>
                  <a:pt x="106828" y="7806"/>
                  <a:pt x="102402" y="3340"/>
                  <a:pt x="96850" y="3340"/>
                </a:cubicBezTo>
                <a:lnTo>
                  <a:pt x="90171" y="3340"/>
                </a:lnTo>
                <a:lnTo>
                  <a:pt x="90171" y="-3340"/>
                </a:lnTo>
                <a:cubicBezTo>
                  <a:pt x="90171" y="-8892"/>
                  <a:pt x="85704" y="-13359"/>
                  <a:pt x="80152" y="-13359"/>
                </a:cubicBezTo>
                <a:cubicBezTo>
                  <a:pt x="74600" y="-13359"/>
                  <a:pt x="70133" y="-8892"/>
                  <a:pt x="70133" y="-3340"/>
                </a:cubicBezTo>
                <a:lnTo>
                  <a:pt x="70133" y="3340"/>
                </a:lnTo>
                <a:lnTo>
                  <a:pt x="63454" y="3340"/>
                </a:lnTo>
                <a:cubicBezTo>
                  <a:pt x="57901" y="3340"/>
                  <a:pt x="53435" y="7806"/>
                  <a:pt x="53435" y="13359"/>
                </a:cubicBezTo>
                <a:cubicBezTo>
                  <a:pt x="53435" y="18911"/>
                  <a:pt x="57901" y="23378"/>
                  <a:pt x="63454" y="23378"/>
                </a:cubicBezTo>
                <a:lnTo>
                  <a:pt x="70133" y="23378"/>
                </a:lnTo>
                <a:close/>
                <a:moveTo>
                  <a:pt x="136008" y="116721"/>
                </a:moveTo>
                <a:lnTo>
                  <a:pt x="139556" y="152414"/>
                </a:lnTo>
                <a:lnTo>
                  <a:pt x="159344" y="177127"/>
                </a:lnTo>
                <a:lnTo>
                  <a:pt x="161097" y="179507"/>
                </a:lnTo>
                <a:cubicBezTo>
                  <a:pt x="164938" y="185226"/>
                  <a:pt x="166983" y="191989"/>
                  <a:pt x="166983" y="198919"/>
                </a:cubicBezTo>
                <a:cubicBezTo>
                  <a:pt x="166983" y="204220"/>
                  <a:pt x="165814" y="209272"/>
                  <a:pt x="163685" y="213738"/>
                </a:cubicBezTo>
                <a:lnTo>
                  <a:pt x="198376" y="213738"/>
                </a:lnTo>
                <a:cubicBezTo>
                  <a:pt x="206850" y="213738"/>
                  <a:pt x="213738" y="206850"/>
                  <a:pt x="213738" y="198376"/>
                </a:cubicBezTo>
                <a:cubicBezTo>
                  <a:pt x="213738" y="195329"/>
                  <a:pt x="212820" y="192365"/>
                  <a:pt x="211150" y="189860"/>
                </a:cubicBezTo>
                <a:lnTo>
                  <a:pt x="200380" y="173704"/>
                </a:lnTo>
                <a:lnTo>
                  <a:pt x="200380" y="146987"/>
                </a:lnTo>
                <a:lnTo>
                  <a:pt x="205932" y="141435"/>
                </a:lnTo>
                <a:cubicBezTo>
                  <a:pt x="210942" y="136425"/>
                  <a:pt x="213738" y="129621"/>
                  <a:pt x="213738" y="122524"/>
                </a:cubicBezTo>
                <a:lnTo>
                  <a:pt x="213738" y="80152"/>
                </a:lnTo>
                <a:cubicBezTo>
                  <a:pt x="213738" y="72763"/>
                  <a:pt x="207769" y="66793"/>
                  <a:pt x="200380" y="66793"/>
                </a:cubicBezTo>
                <a:cubicBezTo>
                  <a:pt x="192991" y="66793"/>
                  <a:pt x="187021" y="72763"/>
                  <a:pt x="187021" y="80152"/>
                </a:cubicBezTo>
                <a:lnTo>
                  <a:pt x="187021" y="86831"/>
                </a:lnTo>
                <a:lnTo>
                  <a:pt x="173663" y="86831"/>
                </a:lnTo>
                <a:lnTo>
                  <a:pt x="173663" y="80152"/>
                </a:lnTo>
                <a:cubicBezTo>
                  <a:pt x="173663" y="72763"/>
                  <a:pt x="167693" y="66793"/>
                  <a:pt x="160304" y="66793"/>
                </a:cubicBezTo>
                <a:cubicBezTo>
                  <a:pt x="152915" y="66793"/>
                  <a:pt x="146945" y="72763"/>
                  <a:pt x="146945" y="80152"/>
                </a:cubicBezTo>
                <a:lnTo>
                  <a:pt x="146945" y="93511"/>
                </a:lnTo>
                <a:cubicBezTo>
                  <a:pt x="146945" y="102862"/>
                  <a:pt x="142687" y="111211"/>
                  <a:pt x="136008" y="116721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1148844" y="3784953"/>
            <a:ext cx="819331" cy="284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PK方式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1064" y="4319299"/>
            <a:ext cx="6385438" cy="712462"/>
          </a:xfrm>
          <a:custGeom>
            <a:avLst/>
            <a:gdLst/>
            <a:ahLst/>
            <a:cxnLst/>
            <a:rect l="l" t="t" r="r" b="b"/>
            <a:pathLst>
              <a:path w="6385438" h="712462">
                <a:moveTo>
                  <a:pt x="35623" y="0"/>
                </a:moveTo>
                <a:lnTo>
                  <a:pt x="6314191" y="0"/>
                </a:lnTo>
                <a:cubicBezTo>
                  <a:pt x="6353540" y="0"/>
                  <a:pt x="6385438" y="31898"/>
                  <a:pt x="6385438" y="71246"/>
                </a:cubicBezTo>
                <a:lnTo>
                  <a:pt x="6385438" y="641215"/>
                </a:lnTo>
                <a:cubicBezTo>
                  <a:pt x="6385438" y="680564"/>
                  <a:pt x="6353540" y="712462"/>
                  <a:pt x="6314191" y="712462"/>
                </a:cubicBezTo>
                <a:lnTo>
                  <a:pt x="35623" y="712462"/>
                </a:lnTo>
                <a:cubicBezTo>
                  <a:pt x="15949" y="712462"/>
                  <a:pt x="0" y="696513"/>
                  <a:pt x="0" y="67683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561064" y="4319299"/>
            <a:ext cx="35623" cy="712462"/>
          </a:xfrm>
          <a:custGeom>
            <a:avLst/>
            <a:gdLst/>
            <a:ahLst/>
            <a:cxnLst/>
            <a:rect l="l" t="t" r="r" b="b"/>
            <a:pathLst>
              <a:path w="35623" h="712462">
                <a:moveTo>
                  <a:pt x="35623" y="0"/>
                </a:moveTo>
                <a:lnTo>
                  <a:pt x="35623" y="0"/>
                </a:lnTo>
                <a:lnTo>
                  <a:pt x="35623" y="712462"/>
                </a:lnTo>
                <a:lnTo>
                  <a:pt x="35623" y="712462"/>
                </a:lnTo>
                <a:cubicBezTo>
                  <a:pt x="15949" y="712462"/>
                  <a:pt x="0" y="696513"/>
                  <a:pt x="0" y="67683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28" name="Shape 26"/>
          <p:cNvSpPr/>
          <p:nvPr/>
        </p:nvSpPr>
        <p:spPr>
          <a:xfrm>
            <a:off x="721367" y="4461791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826776" y="4533037"/>
            <a:ext cx="213738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3B82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20091" y="4461791"/>
            <a:ext cx="4595378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比较指标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20091" y="4711153"/>
            <a:ext cx="4586472" cy="178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以团队为单位，比较AI-Native研发效能指标（端到端周期、提效比例、硅含量等）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1064" y="5138630"/>
            <a:ext cx="6385438" cy="712462"/>
          </a:xfrm>
          <a:custGeom>
            <a:avLst/>
            <a:gdLst/>
            <a:ahLst/>
            <a:cxnLst/>
            <a:rect l="l" t="t" r="r" b="b"/>
            <a:pathLst>
              <a:path w="6385438" h="712462">
                <a:moveTo>
                  <a:pt x="35623" y="0"/>
                </a:moveTo>
                <a:lnTo>
                  <a:pt x="6314191" y="0"/>
                </a:lnTo>
                <a:cubicBezTo>
                  <a:pt x="6353540" y="0"/>
                  <a:pt x="6385438" y="31898"/>
                  <a:pt x="6385438" y="71246"/>
                </a:cubicBezTo>
                <a:lnTo>
                  <a:pt x="6385438" y="641215"/>
                </a:lnTo>
                <a:cubicBezTo>
                  <a:pt x="6385438" y="680564"/>
                  <a:pt x="6353540" y="712462"/>
                  <a:pt x="6314191" y="712462"/>
                </a:cubicBezTo>
                <a:lnTo>
                  <a:pt x="35623" y="712462"/>
                </a:lnTo>
                <a:cubicBezTo>
                  <a:pt x="15949" y="712462"/>
                  <a:pt x="0" y="696513"/>
                  <a:pt x="0" y="67683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561064" y="5138630"/>
            <a:ext cx="35623" cy="712462"/>
          </a:xfrm>
          <a:custGeom>
            <a:avLst/>
            <a:gdLst/>
            <a:ahLst/>
            <a:cxnLst/>
            <a:rect l="l" t="t" r="r" b="b"/>
            <a:pathLst>
              <a:path w="35623" h="712462">
                <a:moveTo>
                  <a:pt x="35623" y="0"/>
                </a:moveTo>
                <a:lnTo>
                  <a:pt x="35623" y="0"/>
                </a:lnTo>
                <a:lnTo>
                  <a:pt x="35623" y="712462"/>
                </a:lnTo>
                <a:lnTo>
                  <a:pt x="35623" y="712462"/>
                </a:lnTo>
                <a:cubicBezTo>
                  <a:pt x="15949" y="712462"/>
                  <a:pt x="0" y="696513"/>
                  <a:pt x="0" y="67683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34" name="Shape 32"/>
          <p:cNvSpPr/>
          <p:nvPr/>
        </p:nvSpPr>
        <p:spPr>
          <a:xfrm>
            <a:off x="721367" y="5281122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814739" y="5352368"/>
            <a:ext cx="240456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10B98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20091" y="5281122"/>
            <a:ext cx="3295135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匹配机制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20091" y="5530484"/>
            <a:ext cx="3286229" cy="178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按A2、B两个组对赌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61064" y="5957961"/>
            <a:ext cx="6385438" cy="712462"/>
          </a:xfrm>
          <a:custGeom>
            <a:avLst/>
            <a:gdLst/>
            <a:ahLst/>
            <a:cxnLst/>
            <a:rect l="l" t="t" r="r" b="b"/>
            <a:pathLst>
              <a:path w="6385438" h="712462">
                <a:moveTo>
                  <a:pt x="35623" y="0"/>
                </a:moveTo>
                <a:lnTo>
                  <a:pt x="6314191" y="0"/>
                </a:lnTo>
                <a:cubicBezTo>
                  <a:pt x="6353540" y="0"/>
                  <a:pt x="6385438" y="31898"/>
                  <a:pt x="6385438" y="71246"/>
                </a:cubicBezTo>
                <a:lnTo>
                  <a:pt x="6385438" y="641215"/>
                </a:lnTo>
                <a:cubicBezTo>
                  <a:pt x="6385438" y="680564"/>
                  <a:pt x="6353540" y="712462"/>
                  <a:pt x="6314191" y="712462"/>
                </a:cubicBezTo>
                <a:lnTo>
                  <a:pt x="35623" y="712462"/>
                </a:lnTo>
                <a:cubicBezTo>
                  <a:pt x="15949" y="712462"/>
                  <a:pt x="0" y="696513"/>
                  <a:pt x="0" y="67683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561064" y="5957961"/>
            <a:ext cx="35623" cy="712462"/>
          </a:xfrm>
          <a:custGeom>
            <a:avLst/>
            <a:gdLst/>
            <a:ahLst/>
            <a:cxnLst/>
            <a:rect l="l" t="t" r="r" b="b"/>
            <a:pathLst>
              <a:path w="35623" h="712462">
                <a:moveTo>
                  <a:pt x="35623" y="0"/>
                </a:moveTo>
                <a:lnTo>
                  <a:pt x="35623" y="0"/>
                </a:lnTo>
                <a:lnTo>
                  <a:pt x="35623" y="712462"/>
                </a:lnTo>
                <a:lnTo>
                  <a:pt x="35623" y="712462"/>
                </a:lnTo>
                <a:cubicBezTo>
                  <a:pt x="15949" y="712462"/>
                  <a:pt x="0" y="696513"/>
                  <a:pt x="0" y="676839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40" name="Shape 38"/>
          <p:cNvSpPr/>
          <p:nvPr/>
        </p:nvSpPr>
        <p:spPr>
          <a:xfrm>
            <a:off x="721367" y="6100453"/>
            <a:ext cx="356231" cy="356231"/>
          </a:xfrm>
          <a:custGeom>
            <a:avLst/>
            <a:gdLst/>
            <a:ahLst/>
            <a:cxnLst/>
            <a:rect l="l" t="t" r="r" b="b"/>
            <a:pathLst>
              <a:path w="356231" h="356231">
                <a:moveTo>
                  <a:pt x="71246" y="0"/>
                </a:moveTo>
                <a:lnTo>
                  <a:pt x="284985" y="0"/>
                </a:lnTo>
                <a:cubicBezTo>
                  <a:pt x="324306" y="0"/>
                  <a:pt x="356231" y="31924"/>
                  <a:pt x="356231" y="71246"/>
                </a:cubicBezTo>
                <a:lnTo>
                  <a:pt x="356231" y="284985"/>
                </a:lnTo>
                <a:cubicBezTo>
                  <a:pt x="356231" y="324306"/>
                  <a:pt x="324306" y="356231"/>
                  <a:pt x="284985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812860" y="6171699"/>
            <a:ext cx="240456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59E0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20091" y="6100453"/>
            <a:ext cx="5067383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周期安排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20091" y="6349814"/>
            <a:ext cx="5058478" cy="178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每月公布结果，最终裁判方式由组办方邀请AI Native专家共同决定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23466" y="1220091"/>
            <a:ext cx="4506320" cy="3473251"/>
          </a:xfrm>
          <a:custGeom>
            <a:avLst/>
            <a:gdLst/>
            <a:ahLst/>
            <a:cxnLst/>
            <a:rect l="l" t="t" r="r" b="b"/>
            <a:pathLst>
              <a:path w="4506320" h="3473251">
                <a:moveTo>
                  <a:pt x="106872" y="0"/>
                </a:moveTo>
                <a:lnTo>
                  <a:pt x="4399448" y="0"/>
                </a:lnTo>
                <a:cubicBezTo>
                  <a:pt x="4458472" y="0"/>
                  <a:pt x="4506320" y="47848"/>
                  <a:pt x="4506320" y="106872"/>
                </a:cubicBezTo>
                <a:lnTo>
                  <a:pt x="4506320" y="3366379"/>
                </a:lnTo>
                <a:cubicBezTo>
                  <a:pt x="4506320" y="3425402"/>
                  <a:pt x="4458472" y="3473251"/>
                  <a:pt x="4399448" y="3473251"/>
                </a:cubicBezTo>
                <a:lnTo>
                  <a:pt x="106872" y="3473251"/>
                </a:lnTo>
                <a:cubicBezTo>
                  <a:pt x="47848" y="3473251"/>
                  <a:pt x="0" y="3425402"/>
                  <a:pt x="0" y="3366379"/>
                </a:cubicBezTo>
                <a:lnTo>
                  <a:pt x="0" y="106872"/>
                </a:lnTo>
                <a:cubicBezTo>
                  <a:pt x="0" y="47888"/>
                  <a:pt x="47888" y="0"/>
                  <a:pt x="10687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5000"/>
                </a:srgbClr>
              </a:gs>
              <a:gs pos="100000">
                <a:srgbClr val="10B981">
                  <a:alpha val="10000"/>
                </a:srgbClr>
              </a:gs>
            </a:gsLst>
            <a:lin ang="2700000" scaled="1"/>
          </a:gradFill>
          <a:ln w="254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104452" y="1228996"/>
            <a:ext cx="712462" cy="712462"/>
          </a:xfrm>
          <a:custGeom>
            <a:avLst/>
            <a:gdLst/>
            <a:ahLst/>
            <a:cxnLst/>
            <a:rect l="l" t="t" r="r" b="b"/>
            <a:pathLst>
              <a:path w="712462" h="712462">
                <a:moveTo>
                  <a:pt x="0" y="0"/>
                </a:moveTo>
                <a:lnTo>
                  <a:pt x="712462" y="0"/>
                </a:lnTo>
                <a:lnTo>
                  <a:pt x="712462" y="712462"/>
                </a:lnTo>
                <a:lnTo>
                  <a:pt x="356231" y="712462"/>
                </a:lnTo>
                <a:cubicBezTo>
                  <a:pt x="159622" y="712462"/>
                  <a:pt x="0" y="552840"/>
                  <a:pt x="0" y="356231"/>
                </a:cubicBez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20000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7319013" y="4849192"/>
            <a:ext cx="4515226" cy="2003798"/>
          </a:xfrm>
          <a:custGeom>
            <a:avLst/>
            <a:gdLst/>
            <a:ahLst/>
            <a:cxnLst/>
            <a:rect l="l" t="t" r="r" b="b"/>
            <a:pathLst>
              <a:path w="4515226" h="2003798">
                <a:moveTo>
                  <a:pt x="106863" y="0"/>
                </a:moveTo>
                <a:lnTo>
                  <a:pt x="4408363" y="0"/>
                </a:lnTo>
                <a:cubicBezTo>
                  <a:pt x="4467382" y="0"/>
                  <a:pt x="4515226" y="47844"/>
                  <a:pt x="4515226" y="106863"/>
                </a:cubicBezTo>
                <a:lnTo>
                  <a:pt x="4515226" y="1896936"/>
                </a:lnTo>
                <a:cubicBezTo>
                  <a:pt x="4515226" y="1955954"/>
                  <a:pt x="4467382" y="2003798"/>
                  <a:pt x="4408363" y="2003798"/>
                </a:cubicBezTo>
                <a:lnTo>
                  <a:pt x="106863" y="2003798"/>
                </a:lnTo>
                <a:cubicBezTo>
                  <a:pt x="47844" y="2003798"/>
                  <a:pt x="0" y="1955954"/>
                  <a:pt x="0" y="1896936"/>
                </a:cubicBezTo>
                <a:lnTo>
                  <a:pt x="0" y="106863"/>
                </a:lnTo>
                <a:cubicBezTo>
                  <a:pt x="0" y="47884"/>
                  <a:pt x="47884" y="0"/>
                  <a:pt x="10686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ang="2700000" scaled="1"/>
          </a:gradFill>
          <a:ln w="127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43883" y="5076289"/>
            <a:ext cx="120228" cy="160304"/>
          </a:xfrm>
          <a:custGeom>
            <a:avLst/>
            <a:gdLst/>
            <a:ahLst/>
            <a:cxnLst/>
            <a:rect l="l" t="t" r="r" b="b"/>
            <a:pathLst>
              <a:path w="120228" h="160304">
                <a:moveTo>
                  <a:pt x="91705" y="120228"/>
                </a:moveTo>
                <a:cubicBezTo>
                  <a:pt x="93991" y="113246"/>
                  <a:pt x="98562" y="106921"/>
                  <a:pt x="103728" y="101474"/>
                </a:cubicBezTo>
                <a:cubicBezTo>
                  <a:pt x="113966" y="90703"/>
                  <a:pt x="120228" y="76144"/>
                  <a:pt x="120228" y="60114"/>
                </a:cubicBezTo>
                <a:cubicBezTo>
                  <a:pt x="120228" y="26926"/>
                  <a:pt x="93302" y="0"/>
                  <a:pt x="60114" y="0"/>
                </a:cubicBezTo>
                <a:cubicBezTo>
                  <a:pt x="26926" y="0"/>
                  <a:pt x="0" y="26926"/>
                  <a:pt x="0" y="60114"/>
                </a:cubicBezTo>
                <a:cubicBezTo>
                  <a:pt x="0" y="76144"/>
                  <a:pt x="6262" y="90703"/>
                  <a:pt x="16500" y="101474"/>
                </a:cubicBezTo>
                <a:cubicBezTo>
                  <a:pt x="21666" y="106921"/>
                  <a:pt x="26269" y="113246"/>
                  <a:pt x="28523" y="120228"/>
                </a:cubicBezTo>
                <a:lnTo>
                  <a:pt x="91674" y="120228"/>
                </a:lnTo>
                <a:close/>
                <a:moveTo>
                  <a:pt x="90171" y="135256"/>
                </a:moveTo>
                <a:lnTo>
                  <a:pt x="30057" y="135256"/>
                </a:lnTo>
                <a:lnTo>
                  <a:pt x="30057" y="140266"/>
                </a:lnTo>
                <a:cubicBezTo>
                  <a:pt x="30057" y="154105"/>
                  <a:pt x="41266" y="165313"/>
                  <a:pt x="55104" y="165313"/>
                </a:cubicBezTo>
                <a:lnTo>
                  <a:pt x="65123" y="165313"/>
                </a:lnTo>
                <a:cubicBezTo>
                  <a:pt x="78962" y="165313"/>
                  <a:pt x="90171" y="154105"/>
                  <a:pt x="90171" y="140266"/>
                </a:cubicBezTo>
                <a:lnTo>
                  <a:pt x="90171" y="135256"/>
                </a:lnTo>
                <a:close/>
                <a:moveTo>
                  <a:pt x="57609" y="35066"/>
                </a:moveTo>
                <a:cubicBezTo>
                  <a:pt x="45148" y="35066"/>
                  <a:pt x="35066" y="45148"/>
                  <a:pt x="35066" y="57609"/>
                </a:cubicBezTo>
                <a:cubicBezTo>
                  <a:pt x="35066" y="61773"/>
                  <a:pt x="31716" y="65123"/>
                  <a:pt x="27552" y="65123"/>
                </a:cubicBezTo>
                <a:cubicBezTo>
                  <a:pt x="23388" y="65123"/>
                  <a:pt x="20038" y="61773"/>
                  <a:pt x="20038" y="57609"/>
                </a:cubicBezTo>
                <a:cubicBezTo>
                  <a:pt x="20038" y="36851"/>
                  <a:pt x="36851" y="20038"/>
                  <a:pt x="57609" y="20038"/>
                </a:cubicBezTo>
                <a:cubicBezTo>
                  <a:pt x="61773" y="20038"/>
                  <a:pt x="65123" y="23388"/>
                  <a:pt x="65123" y="27552"/>
                </a:cubicBezTo>
                <a:cubicBezTo>
                  <a:pt x="65123" y="31716"/>
                  <a:pt x="61773" y="35066"/>
                  <a:pt x="57609" y="35066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48" name="Text 46"/>
          <p:cNvSpPr/>
          <p:nvPr/>
        </p:nvSpPr>
        <p:spPr>
          <a:xfrm>
            <a:off x="7706414" y="5031760"/>
            <a:ext cx="4025408" cy="2493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PK赛价值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23846" y="5459237"/>
            <a:ext cx="160304" cy="160304"/>
          </a:xfrm>
          <a:custGeom>
            <a:avLst/>
            <a:gdLst/>
            <a:ahLst/>
            <a:cxnLst/>
            <a:rect l="l" t="t" r="r" b="b"/>
            <a:pathLst>
              <a:path w="160304" h="160304">
                <a:moveTo>
                  <a:pt x="80152" y="160304"/>
                </a:moveTo>
                <a:cubicBezTo>
                  <a:pt x="124389" y="160304"/>
                  <a:pt x="160304" y="124389"/>
                  <a:pt x="160304" y="80152"/>
                </a:cubicBezTo>
                <a:cubicBezTo>
                  <a:pt x="160304" y="35915"/>
                  <a:pt x="124389" y="0"/>
                  <a:pt x="80152" y="0"/>
                </a:cubicBezTo>
                <a:cubicBezTo>
                  <a:pt x="35915" y="0"/>
                  <a:pt x="0" y="35915"/>
                  <a:pt x="0" y="80152"/>
                </a:cubicBezTo>
                <a:cubicBezTo>
                  <a:pt x="0" y="124389"/>
                  <a:pt x="35915" y="160304"/>
                  <a:pt x="80152" y="160304"/>
                </a:cubicBezTo>
                <a:close/>
                <a:moveTo>
                  <a:pt x="106577" y="66595"/>
                </a:moveTo>
                <a:lnTo>
                  <a:pt x="81530" y="106671"/>
                </a:lnTo>
                <a:cubicBezTo>
                  <a:pt x="80215" y="108769"/>
                  <a:pt x="77960" y="110084"/>
                  <a:pt x="75487" y="110209"/>
                </a:cubicBezTo>
                <a:cubicBezTo>
                  <a:pt x="73013" y="110334"/>
                  <a:pt x="70634" y="109207"/>
                  <a:pt x="69162" y="107203"/>
                </a:cubicBezTo>
                <a:lnTo>
                  <a:pt x="54134" y="87165"/>
                </a:lnTo>
                <a:cubicBezTo>
                  <a:pt x="51629" y="83846"/>
                  <a:pt x="52318" y="79150"/>
                  <a:pt x="55637" y="76645"/>
                </a:cubicBezTo>
                <a:cubicBezTo>
                  <a:pt x="58956" y="74141"/>
                  <a:pt x="63652" y="74829"/>
                  <a:pt x="66157" y="78148"/>
                </a:cubicBezTo>
                <a:lnTo>
                  <a:pt x="74610" y="89420"/>
                </a:lnTo>
                <a:lnTo>
                  <a:pt x="93834" y="58642"/>
                </a:lnTo>
                <a:cubicBezTo>
                  <a:pt x="96026" y="55136"/>
                  <a:pt x="100660" y="54040"/>
                  <a:pt x="104198" y="56263"/>
                </a:cubicBezTo>
                <a:cubicBezTo>
                  <a:pt x="107735" y="58486"/>
                  <a:pt x="108800" y="63088"/>
                  <a:pt x="106577" y="66626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50" name="Text 48"/>
          <p:cNvSpPr/>
          <p:nvPr/>
        </p:nvSpPr>
        <p:spPr>
          <a:xfrm>
            <a:off x="7808830" y="5423614"/>
            <a:ext cx="2929999" cy="178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增强趣味性：</a:t>
            </a:r>
            <a:r>
              <a:rPr lang="en-US" sz="98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将严肃的转型工作游戏化，提升参与度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23846" y="5762034"/>
            <a:ext cx="160304" cy="160304"/>
          </a:xfrm>
          <a:custGeom>
            <a:avLst/>
            <a:gdLst/>
            <a:ahLst/>
            <a:cxnLst/>
            <a:rect l="l" t="t" r="r" b="b"/>
            <a:pathLst>
              <a:path w="160304" h="160304">
                <a:moveTo>
                  <a:pt x="80152" y="160304"/>
                </a:moveTo>
                <a:cubicBezTo>
                  <a:pt x="124389" y="160304"/>
                  <a:pt x="160304" y="124389"/>
                  <a:pt x="160304" y="80152"/>
                </a:cubicBezTo>
                <a:cubicBezTo>
                  <a:pt x="160304" y="35915"/>
                  <a:pt x="124389" y="0"/>
                  <a:pt x="80152" y="0"/>
                </a:cubicBezTo>
                <a:cubicBezTo>
                  <a:pt x="35915" y="0"/>
                  <a:pt x="0" y="35915"/>
                  <a:pt x="0" y="80152"/>
                </a:cubicBezTo>
                <a:cubicBezTo>
                  <a:pt x="0" y="124389"/>
                  <a:pt x="35915" y="160304"/>
                  <a:pt x="80152" y="160304"/>
                </a:cubicBezTo>
                <a:close/>
                <a:moveTo>
                  <a:pt x="106577" y="66595"/>
                </a:moveTo>
                <a:lnTo>
                  <a:pt x="81530" y="106671"/>
                </a:lnTo>
                <a:cubicBezTo>
                  <a:pt x="80215" y="108769"/>
                  <a:pt x="77960" y="110084"/>
                  <a:pt x="75487" y="110209"/>
                </a:cubicBezTo>
                <a:cubicBezTo>
                  <a:pt x="73013" y="110334"/>
                  <a:pt x="70634" y="109207"/>
                  <a:pt x="69162" y="107203"/>
                </a:cubicBezTo>
                <a:lnTo>
                  <a:pt x="54134" y="87165"/>
                </a:lnTo>
                <a:cubicBezTo>
                  <a:pt x="51629" y="83846"/>
                  <a:pt x="52318" y="79150"/>
                  <a:pt x="55637" y="76645"/>
                </a:cubicBezTo>
                <a:cubicBezTo>
                  <a:pt x="58956" y="74141"/>
                  <a:pt x="63652" y="74829"/>
                  <a:pt x="66157" y="78148"/>
                </a:cubicBezTo>
                <a:lnTo>
                  <a:pt x="74610" y="89420"/>
                </a:lnTo>
                <a:lnTo>
                  <a:pt x="93834" y="58642"/>
                </a:lnTo>
                <a:cubicBezTo>
                  <a:pt x="96026" y="55136"/>
                  <a:pt x="100660" y="54040"/>
                  <a:pt x="104198" y="56263"/>
                </a:cubicBezTo>
                <a:cubicBezTo>
                  <a:pt x="107735" y="58486"/>
                  <a:pt x="108800" y="63088"/>
                  <a:pt x="106577" y="66626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52" name="Text 50"/>
          <p:cNvSpPr/>
          <p:nvPr/>
        </p:nvSpPr>
        <p:spPr>
          <a:xfrm>
            <a:off x="7808830" y="5726411"/>
            <a:ext cx="2555956" cy="178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形成良性竞争：</a:t>
            </a:r>
            <a:r>
              <a:rPr lang="en-US" sz="98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团队之间相互学习、共同进步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523846" y="6064830"/>
            <a:ext cx="160304" cy="160304"/>
          </a:xfrm>
          <a:custGeom>
            <a:avLst/>
            <a:gdLst/>
            <a:ahLst/>
            <a:cxnLst/>
            <a:rect l="l" t="t" r="r" b="b"/>
            <a:pathLst>
              <a:path w="160304" h="160304">
                <a:moveTo>
                  <a:pt x="80152" y="160304"/>
                </a:moveTo>
                <a:cubicBezTo>
                  <a:pt x="124389" y="160304"/>
                  <a:pt x="160304" y="124389"/>
                  <a:pt x="160304" y="80152"/>
                </a:cubicBezTo>
                <a:cubicBezTo>
                  <a:pt x="160304" y="35915"/>
                  <a:pt x="124389" y="0"/>
                  <a:pt x="80152" y="0"/>
                </a:cubicBezTo>
                <a:cubicBezTo>
                  <a:pt x="35915" y="0"/>
                  <a:pt x="0" y="35915"/>
                  <a:pt x="0" y="80152"/>
                </a:cubicBezTo>
                <a:cubicBezTo>
                  <a:pt x="0" y="124389"/>
                  <a:pt x="35915" y="160304"/>
                  <a:pt x="80152" y="160304"/>
                </a:cubicBezTo>
                <a:close/>
                <a:moveTo>
                  <a:pt x="106577" y="66595"/>
                </a:moveTo>
                <a:lnTo>
                  <a:pt x="81530" y="106671"/>
                </a:lnTo>
                <a:cubicBezTo>
                  <a:pt x="80215" y="108769"/>
                  <a:pt x="77960" y="110084"/>
                  <a:pt x="75487" y="110209"/>
                </a:cubicBezTo>
                <a:cubicBezTo>
                  <a:pt x="73013" y="110334"/>
                  <a:pt x="70634" y="109207"/>
                  <a:pt x="69162" y="107203"/>
                </a:cubicBezTo>
                <a:lnTo>
                  <a:pt x="54134" y="87165"/>
                </a:lnTo>
                <a:cubicBezTo>
                  <a:pt x="51629" y="83846"/>
                  <a:pt x="52318" y="79150"/>
                  <a:pt x="55637" y="76645"/>
                </a:cubicBezTo>
                <a:cubicBezTo>
                  <a:pt x="58956" y="74141"/>
                  <a:pt x="63652" y="74829"/>
                  <a:pt x="66157" y="78148"/>
                </a:cubicBezTo>
                <a:lnTo>
                  <a:pt x="74610" y="89420"/>
                </a:lnTo>
                <a:lnTo>
                  <a:pt x="93834" y="58642"/>
                </a:lnTo>
                <a:cubicBezTo>
                  <a:pt x="96026" y="55136"/>
                  <a:pt x="100660" y="54040"/>
                  <a:pt x="104198" y="56263"/>
                </a:cubicBezTo>
                <a:cubicBezTo>
                  <a:pt x="107735" y="58486"/>
                  <a:pt x="108800" y="63088"/>
                  <a:pt x="106577" y="66626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54" name="Text 52"/>
          <p:cNvSpPr/>
          <p:nvPr/>
        </p:nvSpPr>
        <p:spPr>
          <a:xfrm>
            <a:off x="7808830" y="6029207"/>
            <a:ext cx="2805318" cy="178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快速发现问题：</a:t>
            </a:r>
            <a:r>
              <a:rPr lang="en-US" sz="98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通过对比发现自身不足和改进空间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23846" y="6367626"/>
            <a:ext cx="160304" cy="160304"/>
          </a:xfrm>
          <a:custGeom>
            <a:avLst/>
            <a:gdLst/>
            <a:ahLst/>
            <a:cxnLst/>
            <a:rect l="l" t="t" r="r" b="b"/>
            <a:pathLst>
              <a:path w="160304" h="160304">
                <a:moveTo>
                  <a:pt x="80152" y="160304"/>
                </a:moveTo>
                <a:cubicBezTo>
                  <a:pt x="124389" y="160304"/>
                  <a:pt x="160304" y="124389"/>
                  <a:pt x="160304" y="80152"/>
                </a:cubicBezTo>
                <a:cubicBezTo>
                  <a:pt x="160304" y="35915"/>
                  <a:pt x="124389" y="0"/>
                  <a:pt x="80152" y="0"/>
                </a:cubicBezTo>
                <a:cubicBezTo>
                  <a:pt x="35915" y="0"/>
                  <a:pt x="0" y="35915"/>
                  <a:pt x="0" y="80152"/>
                </a:cubicBezTo>
                <a:cubicBezTo>
                  <a:pt x="0" y="124389"/>
                  <a:pt x="35915" y="160304"/>
                  <a:pt x="80152" y="160304"/>
                </a:cubicBezTo>
                <a:close/>
                <a:moveTo>
                  <a:pt x="106577" y="66595"/>
                </a:moveTo>
                <a:lnTo>
                  <a:pt x="81530" y="106671"/>
                </a:lnTo>
                <a:cubicBezTo>
                  <a:pt x="80215" y="108769"/>
                  <a:pt x="77960" y="110084"/>
                  <a:pt x="75487" y="110209"/>
                </a:cubicBezTo>
                <a:cubicBezTo>
                  <a:pt x="73013" y="110334"/>
                  <a:pt x="70634" y="109207"/>
                  <a:pt x="69162" y="107203"/>
                </a:cubicBezTo>
                <a:lnTo>
                  <a:pt x="54134" y="87165"/>
                </a:lnTo>
                <a:cubicBezTo>
                  <a:pt x="51629" y="83846"/>
                  <a:pt x="52318" y="79150"/>
                  <a:pt x="55637" y="76645"/>
                </a:cubicBezTo>
                <a:cubicBezTo>
                  <a:pt x="58956" y="74141"/>
                  <a:pt x="63652" y="74829"/>
                  <a:pt x="66157" y="78148"/>
                </a:cubicBezTo>
                <a:lnTo>
                  <a:pt x="74610" y="89420"/>
                </a:lnTo>
                <a:lnTo>
                  <a:pt x="93834" y="58642"/>
                </a:lnTo>
                <a:cubicBezTo>
                  <a:pt x="96026" y="55136"/>
                  <a:pt x="100660" y="54040"/>
                  <a:pt x="104198" y="56263"/>
                </a:cubicBezTo>
                <a:cubicBezTo>
                  <a:pt x="107735" y="58486"/>
                  <a:pt x="108800" y="63088"/>
                  <a:pt x="106577" y="66626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56" name="Text 54"/>
          <p:cNvSpPr/>
          <p:nvPr/>
        </p:nvSpPr>
        <p:spPr>
          <a:xfrm>
            <a:off x="7808830" y="6332003"/>
            <a:ext cx="2591579" cy="178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营造变革氛围：</a:t>
            </a:r>
            <a:r>
              <a:rPr lang="en-US" sz="98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让AI-Native成为团队日常话题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510487" y="1407112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58" name="Shape 56"/>
          <p:cNvSpPr/>
          <p:nvPr/>
        </p:nvSpPr>
        <p:spPr>
          <a:xfrm>
            <a:off x="7652979" y="1549604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134213" y="28721"/>
                </a:moveTo>
                <a:cubicBezTo>
                  <a:pt x="137385" y="23336"/>
                  <a:pt x="143146" y="20038"/>
                  <a:pt x="149366" y="20038"/>
                </a:cubicBezTo>
                <a:lnTo>
                  <a:pt x="150285" y="20038"/>
                </a:lnTo>
                <a:cubicBezTo>
                  <a:pt x="159511" y="20038"/>
                  <a:pt x="166983" y="27510"/>
                  <a:pt x="166983" y="36736"/>
                </a:cubicBezTo>
                <a:cubicBezTo>
                  <a:pt x="166983" y="45962"/>
                  <a:pt x="159511" y="53435"/>
                  <a:pt x="150285" y="53435"/>
                </a:cubicBezTo>
                <a:lnTo>
                  <a:pt x="119685" y="53435"/>
                </a:lnTo>
                <a:lnTo>
                  <a:pt x="134213" y="28721"/>
                </a:lnTo>
                <a:close/>
                <a:moveTo>
                  <a:pt x="79526" y="28721"/>
                </a:moveTo>
                <a:lnTo>
                  <a:pt x="94053" y="53435"/>
                </a:lnTo>
                <a:lnTo>
                  <a:pt x="63454" y="53435"/>
                </a:lnTo>
                <a:cubicBezTo>
                  <a:pt x="54228" y="53435"/>
                  <a:pt x="46755" y="45962"/>
                  <a:pt x="46755" y="36736"/>
                </a:cubicBezTo>
                <a:cubicBezTo>
                  <a:pt x="46755" y="27510"/>
                  <a:pt x="54228" y="20038"/>
                  <a:pt x="63454" y="20038"/>
                </a:cubicBezTo>
                <a:lnTo>
                  <a:pt x="64372" y="20038"/>
                </a:lnTo>
                <a:cubicBezTo>
                  <a:pt x="70592" y="20038"/>
                  <a:pt x="76395" y="23336"/>
                  <a:pt x="79526" y="28721"/>
                </a:cubicBezTo>
                <a:close/>
                <a:moveTo>
                  <a:pt x="116930" y="18577"/>
                </a:moveTo>
                <a:lnTo>
                  <a:pt x="106869" y="35693"/>
                </a:lnTo>
                <a:lnTo>
                  <a:pt x="96809" y="18577"/>
                </a:lnTo>
                <a:cubicBezTo>
                  <a:pt x="90046" y="7055"/>
                  <a:pt x="77689" y="0"/>
                  <a:pt x="64372" y="0"/>
                </a:cubicBezTo>
                <a:lnTo>
                  <a:pt x="63454" y="0"/>
                </a:lnTo>
                <a:cubicBezTo>
                  <a:pt x="43165" y="0"/>
                  <a:pt x="26717" y="16448"/>
                  <a:pt x="26717" y="36736"/>
                </a:cubicBezTo>
                <a:cubicBezTo>
                  <a:pt x="26717" y="42748"/>
                  <a:pt x="28178" y="48425"/>
                  <a:pt x="30725" y="53435"/>
                </a:cubicBezTo>
                <a:lnTo>
                  <a:pt x="13359" y="53435"/>
                </a:lnTo>
                <a:cubicBezTo>
                  <a:pt x="5970" y="53435"/>
                  <a:pt x="0" y="59404"/>
                  <a:pt x="0" y="66793"/>
                </a:cubicBezTo>
                <a:lnTo>
                  <a:pt x="0" y="80152"/>
                </a:lnTo>
                <a:cubicBezTo>
                  <a:pt x="0" y="87541"/>
                  <a:pt x="5970" y="93511"/>
                  <a:pt x="13359" y="93511"/>
                </a:cubicBezTo>
                <a:lnTo>
                  <a:pt x="200380" y="93511"/>
                </a:lnTo>
                <a:cubicBezTo>
                  <a:pt x="207769" y="93511"/>
                  <a:pt x="213738" y="87541"/>
                  <a:pt x="213738" y="80152"/>
                </a:cubicBezTo>
                <a:lnTo>
                  <a:pt x="213738" y="66793"/>
                </a:lnTo>
                <a:cubicBezTo>
                  <a:pt x="213738" y="59404"/>
                  <a:pt x="207769" y="53435"/>
                  <a:pt x="200380" y="53435"/>
                </a:cubicBezTo>
                <a:lnTo>
                  <a:pt x="183014" y="53435"/>
                </a:lnTo>
                <a:cubicBezTo>
                  <a:pt x="185560" y="48425"/>
                  <a:pt x="187021" y="42748"/>
                  <a:pt x="187021" y="36736"/>
                </a:cubicBezTo>
                <a:cubicBezTo>
                  <a:pt x="187021" y="16448"/>
                  <a:pt x="170573" y="0"/>
                  <a:pt x="150285" y="0"/>
                </a:cubicBezTo>
                <a:lnTo>
                  <a:pt x="149366" y="0"/>
                </a:lnTo>
                <a:cubicBezTo>
                  <a:pt x="136050" y="0"/>
                  <a:pt x="123693" y="7055"/>
                  <a:pt x="116930" y="18535"/>
                </a:cubicBezTo>
                <a:close/>
                <a:moveTo>
                  <a:pt x="200380" y="113549"/>
                </a:moveTo>
                <a:lnTo>
                  <a:pt x="116888" y="113549"/>
                </a:lnTo>
                <a:lnTo>
                  <a:pt x="116888" y="200380"/>
                </a:lnTo>
                <a:lnTo>
                  <a:pt x="173663" y="200380"/>
                </a:lnTo>
                <a:cubicBezTo>
                  <a:pt x="188399" y="200380"/>
                  <a:pt x="200380" y="188399"/>
                  <a:pt x="200380" y="173663"/>
                </a:cubicBezTo>
                <a:lnTo>
                  <a:pt x="200380" y="113549"/>
                </a:lnTo>
                <a:close/>
                <a:moveTo>
                  <a:pt x="96850" y="113549"/>
                </a:moveTo>
                <a:lnTo>
                  <a:pt x="13359" y="113549"/>
                </a:lnTo>
                <a:lnTo>
                  <a:pt x="13359" y="173663"/>
                </a:lnTo>
                <a:cubicBezTo>
                  <a:pt x="13359" y="188399"/>
                  <a:pt x="25340" y="200380"/>
                  <a:pt x="40076" y="200380"/>
                </a:cubicBezTo>
                <a:lnTo>
                  <a:pt x="96850" y="200380"/>
                </a:lnTo>
                <a:lnTo>
                  <a:pt x="96850" y="113549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9" name="Text 57"/>
          <p:cNvSpPr/>
          <p:nvPr/>
        </p:nvSpPr>
        <p:spPr>
          <a:xfrm>
            <a:off x="8116079" y="1513981"/>
            <a:ext cx="961823" cy="284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激励机制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528298" y="2048327"/>
            <a:ext cx="4114466" cy="748085"/>
          </a:xfrm>
          <a:custGeom>
            <a:avLst/>
            <a:gdLst/>
            <a:ahLst/>
            <a:cxnLst/>
            <a:rect l="l" t="t" r="r" b="b"/>
            <a:pathLst>
              <a:path w="4114466" h="748085">
                <a:moveTo>
                  <a:pt x="35623" y="0"/>
                </a:moveTo>
                <a:lnTo>
                  <a:pt x="4043218" y="0"/>
                </a:lnTo>
                <a:cubicBezTo>
                  <a:pt x="4082567" y="0"/>
                  <a:pt x="4114466" y="31899"/>
                  <a:pt x="4114466" y="71248"/>
                </a:cubicBezTo>
                <a:lnTo>
                  <a:pt x="4114466" y="676837"/>
                </a:lnTo>
                <a:cubicBezTo>
                  <a:pt x="4114466" y="716186"/>
                  <a:pt x="4082567" y="748085"/>
                  <a:pt x="4043218" y="748085"/>
                </a:cubicBezTo>
                <a:lnTo>
                  <a:pt x="35623" y="748085"/>
                </a:lnTo>
                <a:cubicBezTo>
                  <a:pt x="15949" y="748085"/>
                  <a:pt x="0" y="732136"/>
                  <a:pt x="0" y="712462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1" name="Shape 59"/>
          <p:cNvSpPr/>
          <p:nvPr/>
        </p:nvSpPr>
        <p:spPr>
          <a:xfrm>
            <a:off x="7528298" y="2048327"/>
            <a:ext cx="35623" cy="748085"/>
          </a:xfrm>
          <a:custGeom>
            <a:avLst/>
            <a:gdLst/>
            <a:ahLst/>
            <a:cxnLst/>
            <a:rect l="l" t="t" r="r" b="b"/>
            <a:pathLst>
              <a:path w="35623" h="748085">
                <a:moveTo>
                  <a:pt x="35623" y="0"/>
                </a:moveTo>
                <a:lnTo>
                  <a:pt x="35623" y="0"/>
                </a:lnTo>
                <a:lnTo>
                  <a:pt x="35623" y="748085"/>
                </a:lnTo>
                <a:lnTo>
                  <a:pt x="35623" y="748085"/>
                </a:lnTo>
                <a:cubicBezTo>
                  <a:pt x="15949" y="748085"/>
                  <a:pt x="0" y="732136"/>
                  <a:pt x="0" y="712462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62" name="Shape 60"/>
          <p:cNvSpPr/>
          <p:nvPr/>
        </p:nvSpPr>
        <p:spPr>
          <a:xfrm>
            <a:off x="7706414" y="2217537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35623" y="26717"/>
                </a:moveTo>
                <a:lnTo>
                  <a:pt x="35623" y="22264"/>
                </a:lnTo>
                <a:cubicBezTo>
                  <a:pt x="35623" y="9963"/>
                  <a:pt x="59557" y="0"/>
                  <a:pt x="89058" y="0"/>
                </a:cubicBezTo>
                <a:cubicBezTo>
                  <a:pt x="118558" y="0"/>
                  <a:pt x="142492" y="9963"/>
                  <a:pt x="142492" y="22264"/>
                </a:cubicBezTo>
                <a:lnTo>
                  <a:pt x="142492" y="26717"/>
                </a:lnTo>
                <a:cubicBezTo>
                  <a:pt x="142492" y="35233"/>
                  <a:pt x="130998" y="42636"/>
                  <a:pt x="114105" y="46393"/>
                </a:cubicBezTo>
                <a:cubicBezTo>
                  <a:pt x="113437" y="45614"/>
                  <a:pt x="112741" y="44863"/>
                  <a:pt x="112046" y="44167"/>
                </a:cubicBezTo>
                <a:cubicBezTo>
                  <a:pt x="107732" y="39909"/>
                  <a:pt x="102166" y="36681"/>
                  <a:pt x="96349" y="34287"/>
                </a:cubicBezTo>
                <a:cubicBezTo>
                  <a:pt x="84688" y="29417"/>
                  <a:pt x="69493" y="26745"/>
                  <a:pt x="53435" y="26745"/>
                </a:cubicBezTo>
                <a:cubicBezTo>
                  <a:pt x="47340" y="26745"/>
                  <a:pt x="41384" y="27135"/>
                  <a:pt x="35679" y="27886"/>
                </a:cubicBezTo>
                <a:cubicBezTo>
                  <a:pt x="35623" y="27524"/>
                  <a:pt x="35623" y="27135"/>
                  <a:pt x="35623" y="26745"/>
                </a:cubicBezTo>
                <a:close/>
                <a:moveTo>
                  <a:pt x="120228" y="98242"/>
                </a:moveTo>
                <a:lnTo>
                  <a:pt x="120228" y="85384"/>
                </a:lnTo>
                <a:cubicBezTo>
                  <a:pt x="124430" y="84299"/>
                  <a:pt x="128382" y="83018"/>
                  <a:pt x="131972" y="81516"/>
                </a:cubicBezTo>
                <a:cubicBezTo>
                  <a:pt x="135646" y="79985"/>
                  <a:pt x="139236" y="78120"/>
                  <a:pt x="142492" y="75866"/>
                </a:cubicBezTo>
                <a:lnTo>
                  <a:pt x="142492" y="80152"/>
                </a:lnTo>
                <a:cubicBezTo>
                  <a:pt x="142492" y="87611"/>
                  <a:pt x="133726" y="94206"/>
                  <a:pt x="120228" y="98242"/>
                </a:cubicBezTo>
                <a:close/>
                <a:moveTo>
                  <a:pt x="120228" y="71524"/>
                </a:moveTo>
                <a:lnTo>
                  <a:pt x="120228" y="62340"/>
                </a:lnTo>
                <a:cubicBezTo>
                  <a:pt x="120228" y="61088"/>
                  <a:pt x="120117" y="59891"/>
                  <a:pt x="119950" y="58722"/>
                </a:cubicBezTo>
                <a:cubicBezTo>
                  <a:pt x="124263" y="57637"/>
                  <a:pt x="128299" y="56329"/>
                  <a:pt x="131972" y="54770"/>
                </a:cubicBezTo>
                <a:cubicBezTo>
                  <a:pt x="135646" y="53212"/>
                  <a:pt x="139236" y="51375"/>
                  <a:pt x="142492" y="49121"/>
                </a:cubicBezTo>
                <a:lnTo>
                  <a:pt x="142492" y="53407"/>
                </a:lnTo>
                <a:cubicBezTo>
                  <a:pt x="142492" y="60865"/>
                  <a:pt x="133726" y="67461"/>
                  <a:pt x="120228" y="71497"/>
                </a:cubicBezTo>
                <a:close/>
                <a:moveTo>
                  <a:pt x="0" y="66793"/>
                </a:moveTo>
                <a:lnTo>
                  <a:pt x="0" y="62340"/>
                </a:lnTo>
                <a:cubicBezTo>
                  <a:pt x="0" y="50039"/>
                  <a:pt x="23934" y="40076"/>
                  <a:pt x="53435" y="40076"/>
                </a:cubicBezTo>
                <a:cubicBezTo>
                  <a:pt x="82935" y="40076"/>
                  <a:pt x="106869" y="50039"/>
                  <a:pt x="106869" y="62340"/>
                </a:cubicBezTo>
                <a:lnTo>
                  <a:pt x="106869" y="66793"/>
                </a:lnTo>
                <a:cubicBezTo>
                  <a:pt x="106869" y="79094"/>
                  <a:pt x="82935" y="89058"/>
                  <a:pt x="53435" y="89058"/>
                </a:cubicBezTo>
                <a:cubicBezTo>
                  <a:pt x="23934" y="89058"/>
                  <a:pt x="0" y="79094"/>
                  <a:pt x="0" y="66793"/>
                </a:cubicBezTo>
                <a:close/>
                <a:moveTo>
                  <a:pt x="106869" y="93511"/>
                </a:moveTo>
                <a:cubicBezTo>
                  <a:pt x="106869" y="105812"/>
                  <a:pt x="82935" y="115775"/>
                  <a:pt x="53435" y="115775"/>
                </a:cubicBezTo>
                <a:cubicBezTo>
                  <a:pt x="23934" y="115775"/>
                  <a:pt x="0" y="105812"/>
                  <a:pt x="0" y="93511"/>
                </a:cubicBezTo>
                <a:lnTo>
                  <a:pt x="0" y="89225"/>
                </a:lnTo>
                <a:cubicBezTo>
                  <a:pt x="3228" y="91479"/>
                  <a:pt x="6818" y="93316"/>
                  <a:pt x="10520" y="94874"/>
                </a:cubicBezTo>
                <a:cubicBezTo>
                  <a:pt x="22181" y="99745"/>
                  <a:pt x="37376" y="102416"/>
                  <a:pt x="53435" y="102416"/>
                </a:cubicBezTo>
                <a:cubicBezTo>
                  <a:pt x="69493" y="102416"/>
                  <a:pt x="84688" y="99717"/>
                  <a:pt x="96349" y="94874"/>
                </a:cubicBezTo>
                <a:cubicBezTo>
                  <a:pt x="100023" y="93344"/>
                  <a:pt x="103613" y="91479"/>
                  <a:pt x="106869" y="89225"/>
                </a:cubicBezTo>
                <a:lnTo>
                  <a:pt x="106869" y="93511"/>
                </a:lnTo>
                <a:close/>
                <a:moveTo>
                  <a:pt x="106869" y="115942"/>
                </a:moveTo>
                <a:lnTo>
                  <a:pt x="106869" y="120228"/>
                </a:lnTo>
                <a:cubicBezTo>
                  <a:pt x="106869" y="132529"/>
                  <a:pt x="82935" y="142492"/>
                  <a:pt x="53435" y="142492"/>
                </a:cubicBezTo>
                <a:cubicBezTo>
                  <a:pt x="23934" y="142492"/>
                  <a:pt x="0" y="132529"/>
                  <a:pt x="0" y="120228"/>
                </a:cubicBezTo>
                <a:lnTo>
                  <a:pt x="0" y="115942"/>
                </a:lnTo>
                <a:cubicBezTo>
                  <a:pt x="3228" y="118196"/>
                  <a:pt x="6818" y="120033"/>
                  <a:pt x="10520" y="121592"/>
                </a:cubicBezTo>
                <a:cubicBezTo>
                  <a:pt x="22181" y="126462"/>
                  <a:pt x="37376" y="129134"/>
                  <a:pt x="53435" y="129134"/>
                </a:cubicBezTo>
                <a:cubicBezTo>
                  <a:pt x="69493" y="129134"/>
                  <a:pt x="84688" y="126434"/>
                  <a:pt x="96349" y="121592"/>
                </a:cubicBezTo>
                <a:cubicBezTo>
                  <a:pt x="100023" y="120061"/>
                  <a:pt x="103613" y="118196"/>
                  <a:pt x="106869" y="115942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63" name="Text 61"/>
          <p:cNvSpPr/>
          <p:nvPr/>
        </p:nvSpPr>
        <p:spPr>
          <a:xfrm>
            <a:off x="7916678" y="2190820"/>
            <a:ext cx="3654840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奖励来源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688602" y="2475804"/>
            <a:ext cx="3874010" cy="178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负方团队需从当月研发活动经费中拿出奖励转给胜方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528298" y="2903281"/>
            <a:ext cx="4114466" cy="748085"/>
          </a:xfrm>
          <a:custGeom>
            <a:avLst/>
            <a:gdLst/>
            <a:ahLst/>
            <a:cxnLst/>
            <a:rect l="l" t="t" r="r" b="b"/>
            <a:pathLst>
              <a:path w="4114466" h="748085">
                <a:moveTo>
                  <a:pt x="35623" y="0"/>
                </a:moveTo>
                <a:lnTo>
                  <a:pt x="4043218" y="0"/>
                </a:lnTo>
                <a:cubicBezTo>
                  <a:pt x="4082567" y="0"/>
                  <a:pt x="4114466" y="31899"/>
                  <a:pt x="4114466" y="71248"/>
                </a:cubicBezTo>
                <a:lnTo>
                  <a:pt x="4114466" y="676837"/>
                </a:lnTo>
                <a:cubicBezTo>
                  <a:pt x="4114466" y="716186"/>
                  <a:pt x="4082567" y="748085"/>
                  <a:pt x="4043218" y="748085"/>
                </a:cubicBezTo>
                <a:lnTo>
                  <a:pt x="35623" y="748085"/>
                </a:lnTo>
                <a:cubicBezTo>
                  <a:pt x="15949" y="748085"/>
                  <a:pt x="0" y="732136"/>
                  <a:pt x="0" y="712462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7528298" y="2903281"/>
            <a:ext cx="35623" cy="748085"/>
          </a:xfrm>
          <a:custGeom>
            <a:avLst/>
            <a:gdLst/>
            <a:ahLst/>
            <a:cxnLst/>
            <a:rect l="l" t="t" r="r" b="b"/>
            <a:pathLst>
              <a:path w="35623" h="748085">
                <a:moveTo>
                  <a:pt x="35623" y="0"/>
                </a:moveTo>
                <a:lnTo>
                  <a:pt x="35623" y="0"/>
                </a:lnTo>
                <a:lnTo>
                  <a:pt x="35623" y="748085"/>
                </a:lnTo>
                <a:lnTo>
                  <a:pt x="35623" y="748085"/>
                </a:lnTo>
                <a:cubicBezTo>
                  <a:pt x="15949" y="748085"/>
                  <a:pt x="0" y="732136"/>
                  <a:pt x="0" y="712462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67" name="Shape 65"/>
          <p:cNvSpPr/>
          <p:nvPr/>
        </p:nvSpPr>
        <p:spPr>
          <a:xfrm>
            <a:off x="7724225" y="3072491"/>
            <a:ext cx="106869" cy="142492"/>
          </a:xfrm>
          <a:custGeom>
            <a:avLst/>
            <a:gdLst/>
            <a:ahLst/>
            <a:cxnLst/>
            <a:rect l="l" t="t" r="r" b="b"/>
            <a:pathLst>
              <a:path w="106869" h="142492">
                <a:moveTo>
                  <a:pt x="17812" y="0"/>
                </a:moveTo>
                <a:cubicBezTo>
                  <a:pt x="7987" y="0"/>
                  <a:pt x="0" y="7987"/>
                  <a:pt x="0" y="17812"/>
                </a:cubicBezTo>
                <a:lnTo>
                  <a:pt x="0" y="124681"/>
                </a:lnTo>
                <a:cubicBezTo>
                  <a:pt x="0" y="134505"/>
                  <a:pt x="7987" y="142492"/>
                  <a:pt x="17812" y="142492"/>
                </a:cubicBezTo>
                <a:lnTo>
                  <a:pt x="89058" y="142492"/>
                </a:lnTo>
                <a:cubicBezTo>
                  <a:pt x="98882" y="142492"/>
                  <a:pt x="106869" y="134505"/>
                  <a:pt x="106869" y="124681"/>
                </a:cubicBezTo>
                <a:lnTo>
                  <a:pt x="106869" y="17812"/>
                </a:lnTo>
                <a:cubicBezTo>
                  <a:pt x="106869" y="7987"/>
                  <a:pt x="98882" y="0"/>
                  <a:pt x="89058" y="0"/>
                </a:cubicBezTo>
                <a:lnTo>
                  <a:pt x="17812" y="0"/>
                </a:lnTo>
                <a:close/>
                <a:moveTo>
                  <a:pt x="26717" y="17812"/>
                </a:moveTo>
                <a:lnTo>
                  <a:pt x="80152" y="17812"/>
                </a:lnTo>
                <a:cubicBezTo>
                  <a:pt x="85078" y="17812"/>
                  <a:pt x="89058" y="21791"/>
                  <a:pt x="89058" y="26717"/>
                </a:cubicBezTo>
                <a:lnTo>
                  <a:pt x="89058" y="35623"/>
                </a:lnTo>
                <a:cubicBezTo>
                  <a:pt x="89058" y="40549"/>
                  <a:pt x="85078" y="44529"/>
                  <a:pt x="80152" y="44529"/>
                </a:cubicBezTo>
                <a:lnTo>
                  <a:pt x="26717" y="44529"/>
                </a:lnTo>
                <a:cubicBezTo>
                  <a:pt x="21791" y="44529"/>
                  <a:pt x="17812" y="40549"/>
                  <a:pt x="17812" y="35623"/>
                </a:cubicBezTo>
                <a:lnTo>
                  <a:pt x="17812" y="26717"/>
                </a:lnTo>
                <a:cubicBezTo>
                  <a:pt x="17812" y="21791"/>
                  <a:pt x="21791" y="17812"/>
                  <a:pt x="26717" y="17812"/>
                </a:cubicBezTo>
                <a:close/>
                <a:moveTo>
                  <a:pt x="31170" y="64567"/>
                </a:moveTo>
                <a:cubicBezTo>
                  <a:pt x="31170" y="68253"/>
                  <a:pt x="28177" y="71246"/>
                  <a:pt x="24491" y="71246"/>
                </a:cubicBezTo>
                <a:cubicBezTo>
                  <a:pt x="20804" y="71246"/>
                  <a:pt x="17812" y="68253"/>
                  <a:pt x="17812" y="64567"/>
                </a:cubicBezTo>
                <a:cubicBezTo>
                  <a:pt x="17812" y="60880"/>
                  <a:pt x="20804" y="57888"/>
                  <a:pt x="24491" y="57888"/>
                </a:cubicBezTo>
                <a:cubicBezTo>
                  <a:pt x="28177" y="57888"/>
                  <a:pt x="31170" y="60880"/>
                  <a:pt x="31170" y="64567"/>
                </a:cubicBezTo>
                <a:close/>
                <a:moveTo>
                  <a:pt x="53435" y="71246"/>
                </a:moveTo>
                <a:cubicBezTo>
                  <a:pt x="49748" y="71246"/>
                  <a:pt x="46755" y="68253"/>
                  <a:pt x="46755" y="64567"/>
                </a:cubicBezTo>
                <a:cubicBezTo>
                  <a:pt x="46755" y="60880"/>
                  <a:pt x="49748" y="57888"/>
                  <a:pt x="53435" y="57888"/>
                </a:cubicBezTo>
                <a:cubicBezTo>
                  <a:pt x="57121" y="57888"/>
                  <a:pt x="60114" y="60880"/>
                  <a:pt x="60114" y="64567"/>
                </a:cubicBezTo>
                <a:cubicBezTo>
                  <a:pt x="60114" y="68253"/>
                  <a:pt x="57121" y="71246"/>
                  <a:pt x="53435" y="71246"/>
                </a:cubicBezTo>
                <a:close/>
                <a:moveTo>
                  <a:pt x="89058" y="64567"/>
                </a:moveTo>
                <a:cubicBezTo>
                  <a:pt x="89058" y="68253"/>
                  <a:pt x="86065" y="71246"/>
                  <a:pt x="82378" y="71246"/>
                </a:cubicBezTo>
                <a:cubicBezTo>
                  <a:pt x="78692" y="71246"/>
                  <a:pt x="75699" y="68253"/>
                  <a:pt x="75699" y="64567"/>
                </a:cubicBezTo>
                <a:cubicBezTo>
                  <a:pt x="75699" y="60880"/>
                  <a:pt x="78692" y="57888"/>
                  <a:pt x="82378" y="57888"/>
                </a:cubicBezTo>
                <a:cubicBezTo>
                  <a:pt x="86065" y="57888"/>
                  <a:pt x="89058" y="60880"/>
                  <a:pt x="89058" y="64567"/>
                </a:cubicBezTo>
                <a:close/>
                <a:moveTo>
                  <a:pt x="24491" y="97963"/>
                </a:moveTo>
                <a:cubicBezTo>
                  <a:pt x="20804" y="97963"/>
                  <a:pt x="17812" y="94971"/>
                  <a:pt x="17812" y="91284"/>
                </a:cubicBezTo>
                <a:cubicBezTo>
                  <a:pt x="17812" y="87598"/>
                  <a:pt x="20804" y="84605"/>
                  <a:pt x="24491" y="84605"/>
                </a:cubicBezTo>
                <a:cubicBezTo>
                  <a:pt x="28177" y="84605"/>
                  <a:pt x="31170" y="87598"/>
                  <a:pt x="31170" y="91284"/>
                </a:cubicBezTo>
                <a:cubicBezTo>
                  <a:pt x="31170" y="94971"/>
                  <a:pt x="28177" y="97963"/>
                  <a:pt x="24491" y="97963"/>
                </a:cubicBezTo>
                <a:close/>
                <a:moveTo>
                  <a:pt x="60114" y="91284"/>
                </a:moveTo>
                <a:cubicBezTo>
                  <a:pt x="60114" y="94971"/>
                  <a:pt x="57121" y="97963"/>
                  <a:pt x="53435" y="97963"/>
                </a:cubicBezTo>
                <a:cubicBezTo>
                  <a:pt x="49748" y="97963"/>
                  <a:pt x="46755" y="94971"/>
                  <a:pt x="46755" y="91284"/>
                </a:cubicBezTo>
                <a:cubicBezTo>
                  <a:pt x="46755" y="87598"/>
                  <a:pt x="49748" y="84605"/>
                  <a:pt x="53435" y="84605"/>
                </a:cubicBezTo>
                <a:cubicBezTo>
                  <a:pt x="57121" y="84605"/>
                  <a:pt x="60114" y="87598"/>
                  <a:pt x="60114" y="91284"/>
                </a:cubicBezTo>
                <a:close/>
                <a:moveTo>
                  <a:pt x="82378" y="97963"/>
                </a:moveTo>
                <a:cubicBezTo>
                  <a:pt x="78692" y="97963"/>
                  <a:pt x="75699" y="94971"/>
                  <a:pt x="75699" y="91284"/>
                </a:cubicBezTo>
                <a:cubicBezTo>
                  <a:pt x="75699" y="87598"/>
                  <a:pt x="78692" y="84605"/>
                  <a:pt x="82378" y="84605"/>
                </a:cubicBezTo>
                <a:cubicBezTo>
                  <a:pt x="86065" y="84605"/>
                  <a:pt x="89058" y="87598"/>
                  <a:pt x="89058" y="91284"/>
                </a:cubicBezTo>
                <a:cubicBezTo>
                  <a:pt x="89058" y="94971"/>
                  <a:pt x="86065" y="97963"/>
                  <a:pt x="82378" y="97963"/>
                </a:cubicBezTo>
                <a:close/>
                <a:moveTo>
                  <a:pt x="17812" y="118001"/>
                </a:moveTo>
                <a:cubicBezTo>
                  <a:pt x="17812" y="114300"/>
                  <a:pt x="20789" y="111322"/>
                  <a:pt x="24491" y="111322"/>
                </a:cubicBezTo>
                <a:lnTo>
                  <a:pt x="55661" y="111322"/>
                </a:lnTo>
                <a:cubicBezTo>
                  <a:pt x="59363" y="111322"/>
                  <a:pt x="62340" y="114300"/>
                  <a:pt x="62340" y="118001"/>
                </a:cubicBezTo>
                <a:cubicBezTo>
                  <a:pt x="62340" y="121703"/>
                  <a:pt x="59363" y="124681"/>
                  <a:pt x="55661" y="124681"/>
                </a:cubicBezTo>
                <a:lnTo>
                  <a:pt x="24491" y="124681"/>
                </a:lnTo>
                <a:cubicBezTo>
                  <a:pt x="20789" y="124681"/>
                  <a:pt x="17812" y="121703"/>
                  <a:pt x="17812" y="118001"/>
                </a:cubicBezTo>
                <a:close/>
                <a:moveTo>
                  <a:pt x="82378" y="111322"/>
                </a:moveTo>
                <a:cubicBezTo>
                  <a:pt x="86080" y="111322"/>
                  <a:pt x="89058" y="114300"/>
                  <a:pt x="89058" y="118001"/>
                </a:cubicBezTo>
                <a:cubicBezTo>
                  <a:pt x="89058" y="121703"/>
                  <a:pt x="86080" y="124681"/>
                  <a:pt x="82378" y="124681"/>
                </a:cubicBezTo>
                <a:cubicBezTo>
                  <a:pt x="78677" y="124681"/>
                  <a:pt x="75699" y="121703"/>
                  <a:pt x="75699" y="118001"/>
                </a:cubicBezTo>
                <a:cubicBezTo>
                  <a:pt x="75699" y="114300"/>
                  <a:pt x="78677" y="111322"/>
                  <a:pt x="82378" y="111322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68" name="Text 66"/>
          <p:cNvSpPr/>
          <p:nvPr/>
        </p:nvSpPr>
        <p:spPr>
          <a:xfrm>
            <a:off x="7916678" y="3045774"/>
            <a:ext cx="3654840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数额建议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688602" y="3330758"/>
            <a:ext cx="3874010" cy="178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人均50-100元，由双方商议决定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528298" y="3758235"/>
            <a:ext cx="4114466" cy="748085"/>
          </a:xfrm>
          <a:custGeom>
            <a:avLst/>
            <a:gdLst/>
            <a:ahLst/>
            <a:cxnLst/>
            <a:rect l="l" t="t" r="r" b="b"/>
            <a:pathLst>
              <a:path w="4114466" h="748085">
                <a:moveTo>
                  <a:pt x="35623" y="0"/>
                </a:moveTo>
                <a:lnTo>
                  <a:pt x="4043218" y="0"/>
                </a:lnTo>
                <a:cubicBezTo>
                  <a:pt x="4082567" y="0"/>
                  <a:pt x="4114466" y="31899"/>
                  <a:pt x="4114466" y="71248"/>
                </a:cubicBezTo>
                <a:lnTo>
                  <a:pt x="4114466" y="676837"/>
                </a:lnTo>
                <a:cubicBezTo>
                  <a:pt x="4114466" y="716186"/>
                  <a:pt x="4082567" y="748085"/>
                  <a:pt x="4043218" y="748085"/>
                </a:cubicBezTo>
                <a:lnTo>
                  <a:pt x="35623" y="748085"/>
                </a:lnTo>
                <a:cubicBezTo>
                  <a:pt x="15949" y="748085"/>
                  <a:pt x="0" y="732136"/>
                  <a:pt x="0" y="712462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71" name="Shape 69"/>
          <p:cNvSpPr/>
          <p:nvPr/>
        </p:nvSpPr>
        <p:spPr>
          <a:xfrm>
            <a:off x="7528298" y="3758235"/>
            <a:ext cx="35623" cy="748085"/>
          </a:xfrm>
          <a:custGeom>
            <a:avLst/>
            <a:gdLst/>
            <a:ahLst/>
            <a:cxnLst/>
            <a:rect l="l" t="t" r="r" b="b"/>
            <a:pathLst>
              <a:path w="35623" h="748085">
                <a:moveTo>
                  <a:pt x="35623" y="0"/>
                </a:moveTo>
                <a:lnTo>
                  <a:pt x="35623" y="0"/>
                </a:lnTo>
                <a:lnTo>
                  <a:pt x="35623" y="748085"/>
                </a:lnTo>
                <a:lnTo>
                  <a:pt x="35623" y="748085"/>
                </a:lnTo>
                <a:cubicBezTo>
                  <a:pt x="15949" y="748085"/>
                  <a:pt x="0" y="732136"/>
                  <a:pt x="0" y="712462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72" name="Shape 70"/>
          <p:cNvSpPr/>
          <p:nvPr/>
        </p:nvSpPr>
        <p:spPr>
          <a:xfrm>
            <a:off x="7688602" y="3927445"/>
            <a:ext cx="178115" cy="142492"/>
          </a:xfrm>
          <a:custGeom>
            <a:avLst/>
            <a:gdLst/>
            <a:ahLst/>
            <a:cxnLst/>
            <a:rect l="l" t="t" r="r" b="b"/>
            <a:pathLst>
              <a:path w="178115" h="142492">
                <a:moveTo>
                  <a:pt x="89058" y="4453"/>
                </a:moveTo>
                <a:cubicBezTo>
                  <a:pt x="105032" y="4453"/>
                  <a:pt x="118001" y="17422"/>
                  <a:pt x="118001" y="33397"/>
                </a:cubicBezTo>
                <a:cubicBezTo>
                  <a:pt x="118001" y="49371"/>
                  <a:pt x="105032" y="62340"/>
                  <a:pt x="89058" y="62340"/>
                </a:cubicBezTo>
                <a:cubicBezTo>
                  <a:pt x="73083" y="62340"/>
                  <a:pt x="60114" y="49371"/>
                  <a:pt x="60114" y="33397"/>
                </a:cubicBezTo>
                <a:cubicBezTo>
                  <a:pt x="60114" y="17422"/>
                  <a:pt x="73083" y="4453"/>
                  <a:pt x="89058" y="4453"/>
                </a:cubicBezTo>
                <a:close/>
                <a:moveTo>
                  <a:pt x="26717" y="24491"/>
                </a:moveTo>
                <a:cubicBezTo>
                  <a:pt x="37777" y="24491"/>
                  <a:pt x="46755" y="33470"/>
                  <a:pt x="46755" y="44529"/>
                </a:cubicBezTo>
                <a:cubicBezTo>
                  <a:pt x="46755" y="55588"/>
                  <a:pt x="37777" y="64567"/>
                  <a:pt x="26717" y="64567"/>
                </a:cubicBezTo>
                <a:cubicBezTo>
                  <a:pt x="15658" y="64567"/>
                  <a:pt x="6679" y="55588"/>
                  <a:pt x="6679" y="44529"/>
                </a:cubicBezTo>
                <a:cubicBezTo>
                  <a:pt x="6679" y="33470"/>
                  <a:pt x="15658" y="24491"/>
                  <a:pt x="26717" y="24491"/>
                </a:cubicBezTo>
                <a:close/>
                <a:moveTo>
                  <a:pt x="0" y="115775"/>
                </a:moveTo>
                <a:cubicBezTo>
                  <a:pt x="0" y="96099"/>
                  <a:pt x="15947" y="80152"/>
                  <a:pt x="35623" y="80152"/>
                </a:cubicBezTo>
                <a:cubicBezTo>
                  <a:pt x="39185" y="80152"/>
                  <a:pt x="42636" y="80681"/>
                  <a:pt x="45893" y="81655"/>
                </a:cubicBezTo>
                <a:cubicBezTo>
                  <a:pt x="36736" y="91896"/>
                  <a:pt x="31170" y="105422"/>
                  <a:pt x="31170" y="120228"/>
                </a:cubicBezTo>
                <a:lnTo>
                  <a:pt x="31170" y="124681"/>
                </a:lnTo>
                <a:cubicBezTo>
                  <a:pt x="31170" y="127853"/>
                  <a:pt x="31838" y="130859"/>
                  <a:pt x="33035" y="133587"/>
                </a:cubicBezTo>
                <a:lnTo>
                  <a:pt x="8906" y="133587"/>
                </a:lnTo>
                <a:cubicBezTo>
                  <a:pt x="3980" y="133587"/>
                  <a:pt x="0" y="129607"/>
                  <a:pt x="0" y="124681"/>
                </a:cubicBezTo>
                <a:lnTo>
                  <a:pt x="0" y="115775"/>
                </a:lnTo>
                <a:close/>
                <a:moveTo>
                  <a:pt x="145081" y="133587"/>
                </a:moveTo>
                <a:cubicBezTo>
                  <a:pt x="146277" y="130859"/>
                  <a:pt x="146945" y="127853"/>
                  <a:pt x="146945" y="124681"/>
                </a:cubicBezTo>
                <a:lnTo>
                  <a:pt x="146945" y="120228"/>
                </a:lnTo>
                <a:cubicBezTo>
                  <a:pt x="146945" y="105422"/>
                  <a:pt x="141379" y="91896"/>
                  <a:pt x="132223" y="81655"/>
                </a:cubicBezTo>
                <a:cubicBezTo>
                  <a:pt x="135479" y="80681"/>
                  <a:pt x="138930" y="80152"/>
                  <a:pt x="142492" y="80152"/>
                </a:cubicBezTo>
                <a:cubicBezTo>
                  <a:pt x="162169" y="80152"/>
                  <a:pt x="178115" y="96099"/>
                  <a:pt x="178115" y="115775"/>
                </a:cubicBezTo>
                <a:lnTo>
                  <a:pt x="178115" y="124681"/>
                </a:lnTo>
                <a:cubicBezTo>
                  <a:pt x="178115" y="129607"/>
                  <a:pt x="174136" y="133587"/>
                  <a:pt x="169210" y="133587"/>
                </a:cubicBezTo>
                <a:lnTo>
                  <a:pt x="145081" y="133587"/>
                </a:lnTo>
                <a:close/>
                <a:moveTo>
                  <a:pt x="131360" y="44529"/>
                </a:moveTo>
                <a:cubicBezTo>
                  <a:pt x="131360" y="33470"/>
                  <a:pt x="140339" y="24491"/>
                  <a:pt x="151398" y="24491"/>
                </a:cubicBezTo>
                <a:cubicBezTo>
                  <a:pt x="162457" y="24491"/>
                  <a:pt x="171436" y="33470"/>
                  <a:pt x="171436" y="44529"/>
                </a:cubicBezTo>
                <a:cubicBezTo>
                  <a:pt x="171436" y="55588"/>
                  <a:pt x="162457" y="64567"/>
                  <a:pt x="151398" y="64567"/>
                </a:cubicBezTo>
                <a:cubicBezTo>
                  <a:pt x="140339" y="64567"/>
                  <a:pt x="131360" y="55588"/>
                  <a:pt x="131360" y="44529"/>
                </a:cubicBezTo>
                <a:close/>
                <a:moveTo>
                  <a:pt x="44529" y="120228"/>
                </a:moveTo>
                <a:cubicBezTo>
                  <a:pt x="44529" y="95626"/>
                  <a:pt x="64456" y="75699"/>
                  <a:pt x="89058" y="75699"/>
                </a:cubicBezTo>
                <a:cubicBezTo>
                  <a:pt x="113660" y="75699"/>
                  <a:pt x="133587" y="95626"/>
                  <a:pt x="133587" y="120228"/>
                </a:cubicBezTo>
                <a:lnTo>
                  <a:pt x="133587" y="124681"/>
                </a:lnTo>
                <a:cubicBezTo>
                  <a:pt x="133587" y="129607"/>
                  <a:pt x="129607" y="133587"/>
                  <a:pt x="124681" y="133587"/>
                </a:cubicBezTo>
                <a:lnTo>
                  <a:pt x="53435" y="133587"/>
                </a:lnTo>
                <a:cubicBezTo>
                  <a:pt x="48509" y="133587"/>
                  <a:pt x="44529" y="129607"/>
                  <a:pt x="44529" y="124681"/>
                </a:cubicBezTo>
                <a:lnTo>
                  <a:pt x="44529" y="120228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73" name="Text 71"/>
          <p:cNvSpPr/>
          <p:nvPr/>
        </p:nvSpPr>
        <p:spPr>
          <a:xfrm>
            <a:off x="7916678" y="3900728"/>
            <a:ext cx="3654840" cy="2137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F9FAF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计算方式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7688602" y="4185712"/>
            <a:ext cx="3874010" cy="178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按双方团队人数较少的一方计算额度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ce318b174f4f20a1c807565e19b47d8fbffdb81f.jpg"/>
          <p:cNvPicPr>
            <a:picLocks noChangeAspect="1"/>
          </p:cNvPicPr>
          <p:nvPr/>
        </p:nvPicPr>
        <p:blipFill>
          <a:blip r:embed="rId1">
            <a:alphaModFix amt="40000"/>
          </a:blip>
          <a:srcRect l="13472" r="13472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  <p:txBody>
          <a:bodyPr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4781252" y="898922"/>
            <a:ext cx="76200" cy="762000"/>
          </a:xfrm>
          <a:custGeom>
            <a:avLst/>
            <a:gdLst/>
            <a:ahLst/>
            <a:cxnLst/>
            <a:rect l="l" t="t" r="r" b="b"/>
            <a:pathLst>
              <a:path w="76200" h="762000">
                <a:moveTo>
                  <a:pt x="0" y="0"/>
                </a:moveTo>
                <a:lnTo>
                  <a:pt x="76200" y="0"/>
                </a:lnTo>
                <a:lnTo>
                  <a:pt x="76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</p:spPr>
      </p:sp>
      <p:sp>
        <p:nvSpPr>
          <p:cNvPr id="5" name="Text 2"/>
          <p:cNvSpPr/>
          <p:nvPr/>
        </p:nvSpPr>
        <p:spPr>
          <a:xfrm>
            <a:off x="5009852" y="375047"/>
            <a:ext cx="2514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kern="0" spc="180" dirty="0">
                <a:solidFill>
                  <a:srgbClr val="3B82F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TAKE ACTION NOW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09852" y="756047"/>
            <a:ext cx="2686050" cy="142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立即行动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引领变革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15034" y="2718197"/>
            <a:ext cx="7362825" cy="466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E5E7E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AI-Native转型</a:t>
            </a:r>
            <a:r>
              <a:rPr lang="en-US" sz="2250" b="1" dirty="0">
                <a:solidFill>
                  <a:srgbClr val="F59E0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不是选择题，而是必答题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438846" y="3334941"/>
            <a:ext cx="7315200" cy="31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让我们携手共进，用AI重塑研发效能，为公司战略目标的实现提供强有力的技术支撑！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57488" y="4030266"/>
            <a:ext cx="2066925" cy="1762125"/>
          </a:xfrm>
          <a:custGeom>
            <a:avLst/>
            <a:gdLst/>
            <a:ahLst/>
            <a:cxnLst/>
            <a:rect l="l" t="t" r="r" b="b"/>
            <a:pathLst>
              <a:path w="2066925" h="1762125">
                <a:moveTo>
                  <a:pt x="114291" y="0"/>
                </a:moveTo>
                <a:lnTo>
                  <a:pt x="1952634" y="0"/>
                </a:lnTo>
                <a:cubicBezTo>
                  <a:pt x="2015755" y="0"/>
                  <a:pt x="2066925" y="51170"/>
                  <a:pt x="2066925" y="114291"/>
                </a:cubicBezTo>
                <a:lnTo>
                  <a:pt x="2066925" y="1647834"/>
                </a:lnTo>
                <a:cubicBezTo>
                  <a:pt x="2066925" y="1710955"/>
                  <a:pt x="2015755" y="1762125"/>
                  <a:pt x="1952634" y="1762125"/>
                </a:cubicBezTo>
                <a:lnTo>
                  <a:pt x="114291" y="1762125"/>
                </a:lnTo>
                <a:cubicBezTo>
                  <a:pt x="51170" y="1762125"/>
                  <a:pt x="0" y="1710955"/>
                  <a:pt x="0" y="1647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86150" y="426362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11" name="Shape 8"/>
          <p:cNvSpPr/>
          <p:nvPr/>
        </p:nvSpPr>
        <p:spPr>
          <a:xfrm>
            <a:off x="3650456" y="442555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9"/>
          <p:cNvSpPr/>
          <p:nvPr/>
        </p:nvSpPr>
        <p:spPr>
          <a:xfrm>
            <a:off x="2943225" y="5025628"/>
            <a:ext cx="1695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战略驱动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957513" y="5368528"/>
            <a:ext cx="166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全面AI转型，研发效能质变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62538" y="4030266"/>
            <a:ext cx="2066925" cy="1762125"/>
          </a:xfrm>
          <a:custGeom>
            <a:avLst/>
            <a:gdLst/>
            <a:ahLst/>
            <a:cxnLst/>
            <a:rect l="l" t="t" r="r" b="b"/>
            <a:pathLst>
              <a:path w="2066925" h="1762125">
                <a:moveTo>
                  <a:pt x="114291" y="0"/>
                </a:moveTo>
                <a:lnTo>
                  <a:pt x="1952634" y="0"/>
                </a:lnTo>
                <a:cubicBezTo>
                  <a:pt x="2015755" y="0"/>
                  <a:pt x="2066925" y="51170"/>
                  <a:pt x="2066925" y="114291"/>
                </a:cubicBezTo>
                <a:lnTo>
                  <a:pt x="2066925" y="1647834"/>
                </a:lnTo>
                <a:cubicBezTo>
                  <a:pt x="2066925" y="1710955"/>
                  <a:pt x="2015755" y="1762125"/>
                  <a:pt x="1952634" y="1762125"/>
                </a:cubicBezTo>
                <a:lnTo>
                  <a:pt x="114291" y="1762125"/>
                </a:lnTo>
                <a:cubicBezTo>
                  <a:pt x="51170" y="1762125"/>
                  <a:pt x="0" y="1710955"/>
                  <a:pt x="0" y="1647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91200" y="426362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16" name="Shape 13"/>
          <p:cNvSpPr/>
          <p:nvPr/>
        </p:nvSpPr>
        <p:spPr>
          <a:xfrm>
            <a:off x="5955506" y="442555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Text 14"/>
          <p:cNvSpPr/>
          <p:nvPr/>
        </p:nvSpPr>
        <p:spPr>
          <a:xfrm>
            <a:off x="5248275" y="5025628"/>
            <a:ext cx="1695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目标明确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262563" y="5368528"/>
            <a:ext cx="166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分层分类，端到端效率提升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67587" y="4030266"/>
            <a:ext cx="2066925" cy="1762125"/>
          </a:xfrm>
          <a:custGeom>
            <a:avLst/>
            <a:gdLst/>
            <a:ahLst/>
            <a:cxnLst/>
            <a:rect l="l" t="t" r="r" b="b"/>
            <a:pathLst>
              <a:path w="2066925" h="1762125">
                <a:moveTo>
                  <a:pt x="114291" y="0"/>
                </a:moveTo>
                <a:lnTo>
                  <a:pt x="1952634" y="0"/>
                </a:lnTo>
                <a:cubicBezTo>
                  <a:pt x="2015755" y="0"/>
                  <a:pt x="2066925" y="51170"/>
                  <a:pt x="2066925" y="114291"/>
                </a:cubicBezTo>
                <a:lnTo>
                  <a:pt x="2066925" y="1647834"/>
                </a:lnTo>
                <a:cubicBezTo>
                  <a:pt x="2066925" y="1710955"/>
                  <a:pt x="2015755" y="1762125"/>
                  <a:pt x="1952634" y="1762125"/>
                </a:cubicBezTo>
                <a:lnTo>
                  <a:pt x="114291" y="1762125"/>
                </a:lnTo>
                <a:cubicBezTo>
                  <a:pt x="51170" y="1762125"/>
                  <a:pt x="0" y="1710955"/>
                  <a:pt x="0" y="1647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2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96250" y="426362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21" name="Shape 18"/>
          <p:cNvSpPr/>
          <p:nvPr/>
        </p:nvSpPr>
        <p:spPr>
          <a:xfrm>
            <a:off x="8224837" y="4425553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19"/>
          <p:cNvSpPr/>
          <p:nvPr/>
        </p:nvSpPr>
        <p:spPr>
          <a:xfrm>
            <a:off x="7553325" y="5025628"/>
            <a:ext cx="1695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协同推进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567612" y="5368528"/>
            <a:ext cx="1666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五大主体，考核激励保障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594943" y="621625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3B82F6"/>
          </a:solidFill>
        </p:spPr>
      </p:sp>
      <p:sp>
        <p:nvSpPr>
          <p:cNvPr id="25" name="Text 22"/>
          <p:cNvSpPr/>
          <p:nvPr/>
        </p:nvSpPr>
        <p:spPr>
          <a:xfrm>
            <a:off x="3894981" y="6197203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信锐技术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928443" y="6178153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</p:spPr>
      </p:sp>
      <p:sp>
        <p:nvSpPr>
          <p:cNvPr id="27" name="Shape 24"/>
          <p:cNvSpPr/>
          <p:nvPr/>
        </p:nvSpPr>
        <p:spPr>
          <a:xfrm>
            <a:off x="5285631" y="621625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10B981"/>
          </a:solidFill>
        </p:spPr>
      </p:sp>
      <p:sp>
        <p:nvSpPr>
          <p:cNvPr id="28" name="Text 25"/>
          <p:cNvSpPr/>
          <p:nvPr/>
        </p:nvSpPr>
        <p:spPr>
          <a:xfrm>
            <a:off x="5599956" y="6197203"/>
            <a:ext cx="933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2026年3月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794599" y="6178153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</p:spPr>
      </p:sp>
      <p:sp>
        <p:nvSpPr>
          <p:cNvPr id="30" name="Shape 27"/>
          <p:cNvSpPr/>
          <p:nvPr/>
        </p:nvSpPr>
        <p:spPr>
          <a:xfrm>
            <a:off x="7151787" y="621625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0"/>
                </a:moveTo>
                <a:cubicBezTo>
                  <a:pt x="22190" y="0"/>
                  <a:pt x="28575" y="6385"/>
                  <a:pt x="28575" y="14288"/>
                </a:cubicBezTo>
                <a:lnTo>
                  <a:pt x="28575" y="21431"/>
                </a:lnTo>
                <a:lnTo>
                  <a:pt x="59382" y="13752"/>
                </a:lnTo>
                <a:cubicBezTo>
                  <a:pt x="76393" y="9510"/>
                  <a:pt x="94342" y="11475"/>
                  <a:pt x="110058" y="19333"/>
                </a:cubicBezTo>
                <a:cubicBezTo>
                  <a:pt x="130731" y="29691"/>
                  <a:pt x="155064" y="29691"/>
                  <a:pt x="175736" y="19333"/>
                </a:cubicBezTo>
                <a:lnTo>
                  <a:pt x="180023" y="17190"/>
                </a:lnTo>
                <a:cubicBezTo>
                  <a:pt x="189220" y="12546"/>
                  <a:pt x="200025" y="19243"/>
                  <a:pt x="200025" y="29513"/>
                </a:cubicBezTo>
                <a:lnTo>
                  <a:pt x="200025" y="154394"/>
                </a:lnTo>
                <a:cubicBezTo>
                  <a:pt x="200025" y="160333"/>
                  <a:pt x="196319" y="165690"/>
                  <a:pt x="190738" y="167789"/>
                </a:cubicBezTo>
                <a:lnTo>
                  <a:pt x="175245" y="173593"/>
                </a:lnTo>
                <a:cubicBezTo>
                  <a:pt x="154618" y="181317"/>
                  <a:pt x="131668" y="180112"/>
                  <a:pt x="111978" y="170289"/>
                </a:cubicBezTo>
                <a:cubicBezTo>
                  <a:pt x="95057" y="161806"/>
                  <a:pt x="75634" y="159707"/>
                  <a:pt x="57284" y="164306"/>
                </a:cubicBezTo>
                <a:lnTo>
                  <a:pt x="28575" y="171450"/>
                </a:ln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lnTo>
                  <a:pt x="0" y="14288"/>
                </a:lnTo>
                <a:cubicBezTo>
                  <a:pt x="0" y="6385"/>
                  <a:pt x="6385" y="0"/>
                  <a:pt x="14288" y="0"/>
                </a:cubicBezTo>
                <a:close/>
                <a:moveTo>
                  <a:pt x="28575" y="83537"/>
                </a:moveTo>
                <a:lnTo>
                  <a:pt x="57150" y="77331"/>
                </a:lnTo>
                <a:lnTo>
                  <a:pt x="57150" y="106576"/>
                </a:lnTo>
                <a:lnTo>
                  <a:pt x="28575" y="112782"/>
                </a:lnTo>
                <a:lnTo>
                  <a:pt x="28575" y="142027"/>
                </a:lnTo>
                <a:lnTo>
                  <a:pt x="50363" y="136580"/>
                </a:lnTo>
                <a:cubicBezTo>
                  <a:pt x="52641" y="135999"/>
                  <a:pt x="54873" y="135508"/>
                  <a:pt x="57150" y="135106"/>
                </a:cubicBezTo>
                <a:lnTo>
                  <a:pt x="57150" y="106576"/>
                </a:lnTo>
                <a:lnTo>
                  <a:pt x="74518" y="102825"/>
                </a:lnTo>
                <a:cubicBezTo>
                  <a:pt x="78224" y="102022"/>
                  <a:pt x="81975" y="101709"/>
                  <a:pt x="85725" y="101888"/>
                </a:cubicBezTo>
                <a:lnTo>
                  <a:pt x="85725" y="73313"/>
                </a:lnTo>
                <a:cubicBezTo>
                  <a:pt x="91797" y="73491"/>
                  <a:pt x="97869" y="74474"/>
                  <a:pt x="103763" y="76170"/>
                </a:cubicBezTo>
                <a:lnTo>
                  <a:pt x="114300" y="79251"/>
                </a:lnTo>
                <a:lnTo>
                  <a:pt x="114300" y="109031"/>
                </a:lnTo>
                <a:lnTo>
                  <a:pt x="95682" y="103540"/>
                </a:lnTo>
                <a:cubicBezTo>
                  <a:pt x="92422" y="102602"/>
                  <a:pt x="89074" y="102022"/>
                  <a:pt x="85725" y="101843"/>
                </a:cubicBezTo>
                <a:lnTo>
                  <a:pt x="85725" y="133722"/>
                </a:lnTo>
                <a:cubicBezTo>
                  <a:pt x="95458" y="134570"/>
                  <a:pt x="105058" y="136714"/>
                  <a:pt x="114300" y="140151"/>
                </a:cubicBezTo>
                <a:lnTo>
                  <a:pt x="114300" y="108987"/>
                </a:lnTo>
                <a:lnTo>
                  <a:pt x="124435" y="111978"/>
                </a:lnTo>
                <a:cubicBezTo>
                  <a:pt x="130463" y="113764"/>
                  <a:pt x="136624" y="114836"/>
                  <a:pt x="142875" y="115282"/>
                </a:cubicBezTo>
                <a:lnTo>
                  <a:pt x="142875" y="86618"/>
                </a:lnTo>
                <a:cubicBezTo>
                  <a:pt x="139392" y="86261"/>
                  <a:pt x="135910" y="85591"/>
                  <a:pt x="132517" y="84609"/>
                </a:cubicBezTo>
                <a:lnTo>
                  <a:pt x="114300" y="79251"/>
                </a:lnTo>
                <a:lnTo>
                  <a:pt x="114300" y="51569"/>
                </a:lnTo>
                <a:cubicBezTo>
                  <a:pt x="108496" y="49872"/>
                  <a:pt x="102781" y="47640"/>
                  <a:pt x="97244" y="44872"/>
                </a:cubicBezTo>
                <a:cubicBezTo>
                  <a:pt x="93583" y="43041"/>
                  <a:pt x="89699" y="41746"/>
                  <a:pt x="85725" y="40943"/>
                </a:cubicBezTo>
                <a:lnTo>
                  <a:pt x="85725" y="73268"/>
                </a:lnTo>
                <a:cubicBezTo>
                  <a:pt x="79921" y="73089"/>
                  <a:pt x="74116" y="73625"/>
                  <a:pt x="68446" y="74875"/>
                </a:cubicBezTo>
                <a:lnTo>
                  <a:pt x="57150" y="77331"/>
                </a:lnTo>
                <a:lnTo>
                  <a:pt x="57150" y="43755"/>
                </a:lnTo>
                <a:lnTo>
                  <a:pt x="28575" y="50899"/>
                </a:lnTo>
                <a:lnTo>
                  <a:pt x="28575" y="83537"/>
                </a:lnTo>
                <a:close/>
                <a:moveTo>
                  <a:pt x="142875" y="149885"/>
                </a:moveTo>
                <a:cubicBezTo>
                  <a:pt x="150376" y="150555"/>
                  <a:pt x="158011" y="149572"/>
                  <a:pt x="165199" y="146849"/>
                </a:cubicBezTo>
                <a:lnTo>
                  <a:pt x="171450" y="144527"/>
                </a:lnTo>
                <a:lnTo>
                  <a:pt x="171450" y="112514"/>
                </a:lnTo>
                <a:lnTo>
                  <a:pt x="167923" y="113318"/>
                </a:lnTo>
                <a:cubicBezTo>
                  <a:pt x="159707" y="115238"/>
                  <a:pt x="151269" y="115863"/>
                  <a:pt x="142875" y="115327"/>
                </a:cubicBezTo>
                <a:lnTo>
                  <a:pt x="142875" y="149885"/>
                </a:lnTo>
                <a:close/>
                <a:moveTo>
                  <a:pt x="171450" y="83180"/>
                </a:moveTo>
                <a:lnTo>
                  <a:pt x="171450" y="51569"/>
                </a:lnTo>
                <a:cubicBezTo>
                  <a:pt x="162118" y="54292"/>
                  <a:pt x="152519" y="55632"/>
                  <a:pt x="142875" y="55632"/>
                </a:cubicBezTo>
                <a:lnTo>
                  <a:pt x="142875" y="86618"/>
                </a:lnTo>
                <a:cubicBezTo>
                  <a:pt x="149081" y="87243"/>
                  <a:pt x="155377" y="86841"/>
                  <a:pt x="161493" y="85457"/>
                </a:cubicBezTo>
                <a:lnTo>
                  <a:pt x="171450" y="83135"/>
                </a:lnTo>
                <a:close/>
              </a:path>
            </a:pathLst>
          </a:custGeom>
          <a:solidFill>
            <a:srgbClr val="F59E0B"/>
          </a:solidFill>
        </p:spPr>
      </p:sp>
      <p:sp>
        <p:nvSpPr>
          <p:cNvPr id="31" name="Text 28"/>
          <p:cNvSpPr/>
          <p:nvPr/>
        </p:nvSpPr>
        <p:spPr>
          <a:xfrm>
            <a:off x="7466112" y="6197203"/>
            <a:ext cx="122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9CA3A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研发变革 TOP1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3808</Words>
  <Application>WPS 演示</Application>
  <PresentationFormat>On-screen Show (16:9)</PresentationFormat>
  <Paragraphs>653</Paragraphs>
  <Slides>17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Liter</vt:lpstr>
      <vt:lpstr>Liter</vt:lpstr>
      <vt:lpstr>Liter</vt:lpstr>
      <vt:lpstr>MiSans</vt:lpstr>
      <vt:lpstr>MiSans</vt:lpstr>
      <vt:lpstr>Alimama ShuHeiTi</vt:lpstr>
      <vt:lpstr>Alimama ShuHeiTi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信锐AI-Native专项变革机制</dc:title>
  <dc:creator>Kimi</dc:creator>
  <dc:subject>信锐AI-Native专项变革机制</dc:subject>
  <cp:lastModifiedBy>Captain</cp:lastModifiedBy>
  <cp:revision>22</cp:revision>
  <dcterms:created xsi:type="dcterms:W3CDTF">2026-03-12T03:32:00Z</dcterms:created>
  <dcterms:modified xsi:type="dcterms:W3CDTF">2026-03-12T09:30:40Z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信锐AI-Native专项变革机制","ContentProducer":"001191110108MACG2KBH8F10000","ProduceID":"19ce0118-1802-8f31-8000-0000478fe6d6","ReservedCode1":"","ContentPropagator":"001191110108MACG2KBH8F20000","PropagateID":"19ce0118-1802-8f31-8000-0000478fe6d6","ReservedCode2":""}</vt:lpwstr>
  </property>
  <property fmtid="{D5CDD505-2E9C-101B-9397-08002B2CF9AE}" pid="3" name="ICV">
    <vt:lpwstr>27536139E03549A5BB5706FD738344DF_13</vt:lpwstr>
  </property>
  <property fmtid="{D5CDD505-2E9C-101B-9397-08002B2CF9AE}" pid="4" name="KSOProductBuildVer">
    <vt:lpwstr>2052-12.1.0.25225</vt:lpwstr>
  </property>
</Properties>
</file>