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【19:00 开场 1分钟】</a:t>
            </a:r>
          </a:p>
          <a:p/>
          <a:p>
            <a:r>
              <a:t>欢迎各位参加AI-Native落地推进研讨会。</a:t>
            </a:r>
          </a:p>
          <a:p/>
          <a:p>
            <a:r>
              <a:t>参会产线：无线、交换机、NMC、会议主机、IPSIP。</a:t>
            </a:r>
          </a:p>
          <a:p/>
          <a:p>
            <a:r>
              <a:t>今天不是汇报会，是解题会。接下来2.5小时，集中解决三件事：障碍对齐、目标拆解、建立检视机制。</a:t>
            </a:r>
          </a:p>
          <a:p/>
          <a:p>
            <a:r>
              <a:t>先花15分钟统一方法论和共识，然后进入各环节。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【19:01-19:02 议程总览 1分钟】</a:t>
            </a:r>
          </a:p>
          <a:p/>
          <a:p>
            <a:r>
              <a:t>快速过一下今天的议程和时间安排，让大家心里有数。</a:t>
            </a:r>
          </a:p>
          <a:p/>
          <a:p>
            <a:r>
              <a:t>四个板块：</a:t>
            </a:r>
          </a:p>
          <a:p>
            <a:r>
              <a:t>1. 开场共识 15分钟 — 统一方法论</a:t>
            </a:r>
          </a:p>
          <a:p>
            <a:r>
              <a:t>2. 障碍对齐 40分钟 — 各产线TOP3障碍</a:t>
            </a:r>
          </a:p>
          <a:p>
            <a:r>
              <a:t>3. 休息10分钟</a:t>
            </a:r>
          </a:p>
          <a:p>
            <a:r>
              <a:t>4. 目标拆解 50分钟 — SMART验证+行动项</a:t>
            </a:r>
          </a:p>
          <a:p>
            <a:r>
              <a:t>5. 衡量与共识 35分钟 — 衡量标准+检视机制+收尾</a:t>
            </a:r>
          </a:p>
          <a:p/>
          <a:p>
            <a:r>
              <a:t>19:00准时开始，21:30结束。每个环节我会严格控时。</a:t>
            </a:r>
          </a:p>
          <a:p/>
          <a:p>
            <a:r>
              <a:t>底部强调：解题会，不是汇报会。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【19:02-19:05 引导要点】</a:t>
            </a:r>
          </a:p>
          <a:p/>
          <a:p>
            <a:r>
              <a:t>先说下为什么今天要开这个会。</a:t>
            </a:r>
          </a:p>
          <a:p/>
          <a:p>
            <a:r>
              <a:t>左边已完成的工作——各产线有OKR、有里程碑、有对齐报告，基础打得不错。</a:t>
            </a:r>
          </a:p>
          <a:p/>
          <a:p>
            <a:r>
              <a:t>但右边三个问题普遍存在：</a:t>
            </a:r>
          </a:p>
          <a:p>
            <a:r>
              <a:t>1. 障碍卡住了，没有系统性解决</a:t>
            </a:r>
          </a:p>
          <a:p>
            <a:r>
              <a:t>2. 目标太大太远，不知道下一步干什么</a:t>
            </a:r>
          </a:p>
          <a:p>
            <a:r>
              <a:t>3. 做了一堆事，不知道做得怎样</a:t>
            </a:r>
          </a:p>
          <a:p/>
          <a:p>
            <a:r>
              <a:t>今天的核心就是解决这三个问题。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【19:05-19:07 引导要点】</a:t>
            </a:r>
          </a:p>
          <a:p/>
          <a:p>
            <a:r>
              <a:t>已有战略层方法论RPP+PPT，不重复讨论。</a:t>
            </a:r>
          </a:p>
          <a:p/>
          <a:p>
            <a:r>
              <a:t>今天引入执行层方法论——PGSAR闭环和SMART原则。</a:t>
            </a:r>
          </a:p>
          <a:p>
            <a:r>
              <a:t>- PGSAR解决"具体做什么、怎么衡量、怎么纠偏"</a:t>
            </a:r>
          </a:p>
          <a:p>
            <a:r>
              <a:t>- SMART是目标质量检查工具</a:t>
            </a:r>
          </a:p>
          <a:p/>
          <a:p>
            <a:r>
              <a:t>大家不需要记住术语，理解核心思路：大目标拆成小目标，能衡量，定期检视。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【19:07-19:10 引导要点】</a:t>
            </a:r>
          </a:p>
          <a:p/>
          <a:p>
            <a:r>
              <a:t>PGSAR五步循环：</a:t>
            </a:r>
          </a:p>
          <a:p>
            <a:r>
              <a:t>P-Plan：检视计划</a:t>
            </a:r>
          </a:p>
          <a:p>
            <a:r>
              <a:t>G-Goal：SMART拆解</a:t>
            </a:r>
          </a:p>
          <a:p>
            <a:r>
              <a:t>S-Standard：定义衡量标准</a:t>
            </a:r>
          </a:p>
          <a:p>
            <a:r>
              <a:t>A-Action：明确行动、责任人、时间</a:t>
            </a:r>
          </a:p>
          <a:p>
            <a:r>
              <a:t>R-Review：定期检视，红黄绿灯纠偏</a:t>
            </a:r>
          </a:p>
          <a:p/>
          <a:p>
            <a:r>
              <a:t>底部三个色块是今天研讨会的对应位置。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【19:10-19:12 引导要点】</a:t>
            </a:r>
          </a:p>
          <a:p/>
          <a:p>
            <a:r>
              <a:t>SMART五维验证，重点讲信心指数：</a:t>
            </a:r>
          </a:p>
          <a:p>
            <a:r>
              <a:t>- ≥8分：直接拆行动</a:t>
            </a:r>
          </a:p>
          <a:p>
            <a:r>
              <a:t>- 5-7分：有风险，讨论卡在哪</a:t>
            </a:r>
          </a:p>
          <a:p>
            <a:r>
              <a:t>- &lt;5分：必须重新定义</a:t>
            </a:r>
          </a:p>
          <a:p/>
          <a:p>
            <a:r>
              <a:t>等下各产线都要打信心指数。低分不可怕，说明你知道卡在哪。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【19:12-19:13 引导要点】</a:t>
            </a:r>
          </a:p>
          <a:p/>
          <a:p>
            <a:r>
              <a:t>今天三个产出：</a:t>
            </a:r>
          </a:p>
          <a:p>
            <a:r>
              <a:t>1. 障碍清单</a:t>
            </a:r>
          </a:p>
          <a:p>
            <a:r>
              <a:t>2. 目标拆解</a:t>
            </a:r>
          </a:p>
          <a:p>
            <a:r>
              <a:t>3. 检视机制</a:t>
            </a:r>
          </a:p>
          <a:p/>
          <a:p>
            <a:r>
              <a:t>确保不是"开了等于没开"。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【19:13-19:15 引导要点】</a:t>
            </a:r>
          </a:p>
          <a:p/>
          <a:p>
            <a:r>
              <a:t>确认5条共识，逐条问是否有异议。全部确认后进入环节一。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【19:15 环节切换】</a:t>
            </a:r>
          </a:p>
          <a:p/>
          <a:p>
            <a:r>
              <a:t>进入环节一：障碍对齐。19:15-19:55，40分钟。</a:t>
            </a:r>
          </a:p>
          <a:p/>
          <a:p>
            <a:r>
              <a:t>5个产线轮流讲TOP3障碍，每产线5-6分钟，最后10分钟做共性障碍聚类。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【19:15-19:16 规则说明 1分钟】</a:t>
            </a:r>
          </a:p>
          <a:p/>
          <a:p>
            <a:r>
              <a:t>规则：每产线5-6分钟，讲TOP3障碍。我现场分类。其他产线不展开讨论。</a:t>
            </a:r>
          </a:p>
          <a:p/>
          <a:p>
            <a:r>
              <a:t>时间分配：5产线×6分钟 + 聚类10分钟 = 40分钟。</a:t>
            </a:r>
          </a:p>
          <a:p/>
          <a:p>
            <a:r>
              <a:t>注意控制时间，超时要打断。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【分类参考 投屏展示】</a:t>
            </a:r>
          </a:p>
          <a:p/>
          <a:p>
            <a:r>
              <a:t>ABCDE五类分类框架。注意标注跨产线共性障碍，E类留到环节二解决。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【20:05 环节切换】</a:t>
            </a:r>
          </a:p>
          <a:p/>
          <a:p>
            <a:r>
              <a:t>进入环节二：目标拆解。20:05-20:55，50分钟。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【20:05-20:07 时间说明 2分钟】</a:t>
            </a:r>
          </a:p>
          <a:p/>
          <a:p>
            <a:r>
              <a:t>5个产线严格按时间表来，每产线8分钟。</a:t>
            </a:r>
          </a:p>
          <a:p/>
          <a:p>
            <a:r>
              <a:t>节奏：</a:t>
            </a:r>
          </a:p>
          <a:p>
            <a:r>
              <a:t>- 20:05-20:13 无线</a:t>
            </a:r>
          </a:p>
          <a:p>
            <a:r>
              <a:t>- 20:13-20:21 交换机</a:t>
            </a:r>
          </a:p>
          <a:p>
            <a:r>
              <a:t>- 20:21-20:29 NMC</a:t>
            </a:r>
          </a:p>
          <a:p>
            <a:r>
              <a:t>- 20:29-20:37 会议主机</a:t>
            </a:r>
          </a:p>
          <a:p>
            <a:r>
              <a:t>- 20:37-20:45 IPSIP</a:t>
            </a:r>
          </a:p>
          <a:p>
            <a:r>
              <a:t>- 20:45-20:55 缓冲</a:t>
            </a:r>
          </a:p>
          <a:p/>
          <a:p>
            <a:r>
              <a:t>8分钟分配建议：5分钟呈现 + 3分钟讨论。</a:t>
            </a:r>
          </a:p>
          <a:p>
            <a:r>
              <a:t>如果某产线提前完成，时间给缓冲区。</a:t>
            </a:r>
          </a:p>
          <a:p>
            <a:r>
              <a:t>缓冲区用于：补充讨论未完成的拆解、回答共性问题。</a:t>
            </a:r>
          </a:p>
          <a:p/>
          <a:p>
            <a:r>
              <a:t>注意：信心&lt;7的里程碑多讨论，信心高的快速过。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【环节二核心引导】</a:t>
            </a:r>
          </a:p>
          <a:p/>
          <a:p>
            <a:r>
              <a:t>引导技巧（不投屏说）：</a:t>
            </a:r>
          </a:p>
          <a:p>
            <a:r>
              <a:t>- 模糊目标 → "具体推进什么？给谁用？"</a:t>
            </a:r>
          </a:p>
          <a:p>
            <a:r>
              <a:t>- 信心5-6分 → "为什么不是8分？"</a:t>
            </a:r>
          </a:p>
          <a:p>
            <a:r>
              <a:t>- 列不出行动 → "只做一件事的话做什么？"</a:t>
            </a:r>
          </a:p>
          <a:p>
            <a:r>
              <a:t>- 没责任人 → "谁来做？"</a:t>
            </a:r>
          </a:p>
          <a:p>
            <a:r>
              <a:t>- 目标太大 → "切成两半"</a:t>
            </a:r>
          </a:p>
          <a:p/>
          <a:p>
            <a:r>
              <a:t>拆解不到位的标记"会后补充"。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【行动项规范 1-2分钟】</a:t>
            </a:r>
          </a:p>
          <a:p/>
          <a:p>
            <a:r>
              <a:t>三个规则：唯一责任人、具体交付物、可验证时间。</a:t>
            </a:r>
          </a:p>
          <a:p>
            <a:r>
              <a:t>写不出的标记会后补充。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【20:55 环节切换】</a:t>
            </a:r>
          </a:p>
          <a:p/>
          <a:p>
            <a:r>
              <a:t>进入环节三：衡量标准与共识确认。20:55-21:30，35分钟。</a:t>
            </a:r>
          </a:p>
          <a:p/>
          <a:p>
            <a:r>
              <a:t>三件事：</a:t>
            </a:r>
          </a:p>
          <a:p>
            <a:r>
              <a:t>1. 衡量标准设计 ~10分钟</a:t>
            </a:r>
          </a:p>
          <a:p>
            <a:r>
              <a:t>2. 检视节奏 + 红黄绿灯 ~10分钟</a:t>
            </a:r>
          </a:p>
          <a:p>
            <a:r>
              <a:t>3. 行动项确认 + 收尾 ~15分钟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【20:55-21:05 衡量标准 10分钟】</a:t>
            </a:r>
          </a:p>
          <a:p/>
          <a:p>
            <a:r>
              <a:t>这是环节三的核心内容，分两部分讲。</a:t>
            </a:r>
          </a:p>
          <a:p/>
          <a:p>
            <a:r>
              <a:t>前置指标（Leading）——过程中持续关注，提前预警：</a:t>
            </a:r>
          </a:p>
          <a:p>
            <a:r>
              <a:t>- 左边列了4个示例指标，不需要全部用</a:t>
            </a:r>
          </a:p>
          <a:p>
            <a:r>
              <a:t>- 每个产线选2-3个最相关的核心前置指标</a:t>
            </a:r>
          </a:p>
          <a:p>
            <a:r>
              <a:t>- 关键：能采集、能追踪、能对比</a:t>
            </a:r>
          </a:p>
          <a:p/>
          <a:p>
            <a:r>
              <a:t>滞后指标（Lagging）——阶段末衡量结果：</a:t>
            </a:r>
          </a:p>
          <a:p>
            <a:r>
              <a:t>- 3个示例，对应各产线年度OKR的KR</a:t>
            </a:r>
          </a:p>
          <a:p>
            <a:r>
              <a:t>- 季末评估用</a:t>
            </a:r>
          </a:p>
          <a:p/>
          <a:p>
            <a:r>
              <a:t>右侧是各产线核心指标确认区。</a:t>
            </a:r>
          </a:p>
          <a:p>
            <a:r>
              <a:t>引导每个产线现场确定2-3个核心前置指标，填到卡片里。</a:t>
            </a:r>
          </a:p>
          <a:p>
            <a:r>
              <a:t>可以参考示例，也可以自己定义，只要满足：能量化、能采集。</a:t>
            </a:r>
          </a:p>
          <a:p/>
          <a:p>
            <a:r>
              <a:t>如果现场来不及全部确认，先确认大方向，会后各产线补充。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【21:05-21:10 检视节奏 5分钟】</a:t>
            </a:r>
          </a:p>
          <a:p/>
          <a:p>
            <a:r>
              <a:t>建议检视节奏，请确认：</a:t>
            </a:r>
          </a:p>
          <a:p>
            <a:r>
              <a:t>- 每周：产线内部</a:t>
            </a:r>
          </a:p>
          <a:p>
            <a:r>
              <a:t>- 双周：产线间，红黄绿灯——核心机制</a:t>
            </a:r>
          </a:p>
          <a:p>
            <a:r>
              <a:t>- 每月：全体里程碑检视</a:t>
            </a:r>
          </a:p>
          <a:p>
            <a:r>
              <a:t>- 每季度：OKR评估</a:t>
            </a:r>
          </a:p>
          <a:p/>
          <a:p>
            <a:r>
              <a:t>问：有没问题？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【21:10-21:15 红黄绿灯 5分钟】</a:t>
            </a:r>
          </a:p>
          <a:p/>
          <a:p>
            <a:r>
              <a:t>三色机制说明。不能全标绿；🔴必须在下次检视前有行动。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【21:15-21:25 收尾确认 10分钟】</a:t>
            </a:r>
          </a:p>
          <a:p/>
          <a:p>
            <a:r>
              <a:t>回顾三个产出，确认行动项和会后跟进时间线。</a:t>
            </a:r>
          </a:p>
          <a:p>
            <a:r>
              <a:t>确认下次双周检视时间。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【21:25-21:30 结束语】</a:t>
            </a:r>
          </a:p>
          <a:p/>
          <a:p>
            <a:r>
              <a:t>感谢参与。关键提醒：</a:t>
            </a:r>
          </a:p>
          <a:p>
            <a:r>
              <a:t>1. 会后1周补充SMART拆解</a:t>
            </a:r>
          </a:p>
          <a:p>
            <a:r>
              <a:t>2. 两周后双周检视</a:t>
            </a:r>
          </a:p>
          <a:p>
            <a:r>
              <a:t>3. 有问题随时找我</a:t>
            </a:r>
          </a:p>
          <a:p/>
          <a:p>
            <a:r>
              <a:t>散会！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AI-Native 落地推进研讨会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Microsoft YaHei"/>
              </a:defRPr>
            </a:pPr>
            <a:r>
              <a:t>对齐障碍 · 拆解目标 · 建立检视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2026年4月27日  19:00 - 21:30 ｜ 参会：无线 · 交换机 · NMC · 会议主机 · IPSIP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今日议程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3716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1615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188720"/>
            <a:ext cx="27432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21615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环节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188720"/>
            <a:ext cx="41148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216152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1188720"/>
            <a:ext cx="9144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121615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时长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6916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19:00</a:t>
            </a:r>
            <a:br/>
            <a:r>
              <a:t>19:15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69164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68880" y="1828800"/>
            <a:ext cx="2377440" cy="4114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8562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开场：方法论共识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69164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7830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统一方法论认知，确认研讨规则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1691640"/>
            <a:ext cx="914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8D4"/>
                </a:solidFill>
                <a:latin typeface="Microsoft YaHei"/>
              </a:defRPr>
            </a:pPr>
            <a:r>
              <a:t>15min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514600"/>
            <a:ext cx="13716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6060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13438"/>
                </a:solidFill>
                <a:latin typeface="Microsoft YaHei"/>
              </a:defRPr>
            </a:pPr>
            <a:r>
              <a:t>19:15</a:t>
            </a:r>
            <a:br/>
            <a:r>
              <a:t>19:55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514600"/>
            <a:ext cx="27432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68880" y="2651760"/>
            <a:ext cx="2377440" cy="41148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26791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环节一：障碍对齐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2514600"/>
            <a:ext cx="41148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2606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各产线TOP3障碍呈现 + 集体诊断分类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2514600"/>
            <a:ext cx="9144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13438"/>
                </a:solidFill>
                <a:latin typeface="Microsoft YaHei"/>
              </a:defRPr>
            </a:pPr>
            <a:r>
              <a:t>40min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33756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4290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  <a:latin typeface="Microsoft YaHei"/>
              </a:defRPr>
            </a:pPr>
            <a:r>
              <a:t>19:55</a:t>
            </a:r>
            <a:br/>
            <a:r>
              <a:t>20:05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333756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" y="3474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☕ 休息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333756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3429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</a:p>
        </p:txBody>
      </p:sp>
      <p:sp>
        <p:nvSpPr>
          <p:cNvPr id="37" name="Rectangle 36"/>
          <p:cNvSpPr/>
          <p:nvPr/>
        </p:nvSpPr>
        <p:spPr>
          <a:xfrm>
            <a:off x="9509760" y="3337560"/>
            <a:ext cx="914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66666"/>
                </a:solidFill>
                <a:latin typeface="Microsoft YaHei"/>
              </a:defRPr>
            </a:pPr>
            <a:r>
              <a:t>10min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160520"/>
            <a:ext cx="13716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2519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20:05</a:t>
            </a:r>
            <a:br/>
            <a:r>
              <a:t>20:55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4160520"/>
            <a:ext cx="27432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68880" y="4297680"/>
            <a:ext cx="2377440" cy="41148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68880" y="43251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环节二：目标拆解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160520"/>
            <a:ext cx="41148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4960" y="42519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近期里程碑SMART验证 + 具体行动项拆解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4160520"/>
            <a:ext cx="9144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83B01"/>
                </a:solidFill>
                <a:latin typeface="Microsoft YaHei"/>
              </a:defRPr>
            </a:pPr>
            <a:r>
              <a:t>50min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98348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074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/>
              </a:defRPr>
            </a:pPr>
            <a:r>
              <a:t>20:55</a:t>
            </a:r>
            <a:br/>
            <a:r>
              <a:t>21:30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498348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468880" y="5120640"/>
            <a:ext cx="237744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68880" y="5148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环节三：衡量与共识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498348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60" y="50749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衡量标准 + 检视节奏 + 行动项确认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4983480"/>
            <a:ext cx="914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0" y="5120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7C10"/>
                </a:solidFill>
                <a:latin typeface="Microsoft YaHei"/>
              </a:defRPr>
            </a:pPr>
            <a:r>
              <a:t>35min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5943600"/>
            <a:ext cx="1051560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Microsoft YaHei"/>
              </a:defRPr>
            </a:pPr>
            <a:r>
              <a:t>参会产线：无线 · 交换机 · NMC · 会议主机 · IPSIP ｜ 核心原则：解题会，不是汇报会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一、我们在哪：当前状态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Microsoft YaHei"/>
              </a:defRPr>
            </a:pPr>
            <a:r>
              <a:t>✅ 已完成的工作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各产线有年度OKR和里程碑计划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93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综合管理部对齐报告（V1.2）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408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共性需求已识别（统一平台、知识库、度量、流程规范）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83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里程碑汇总表（V2.0）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83B01"/>
                </a:solidFill>
                <a:latin typeface="Microsoft YaHei"/>
              </a:defRPr>
            </a:pPr>
            <a:r>
              <a:t>⚠️ 当前存在的问题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438"/>
                </a:solidFill>
                <a:latin typeface="Microsoft YaHei"/>
              </a:defRPr>
            </a:pPr>
            <a:r>
              <a:t>🔴 障碍卡住没解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缺乏系统性解决路径，进度停滞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438"/>
                </a:solidFill>
                <a:latin typeface="Microsoft YaHei"/>
              </a:defRPr>
            </a:pPr>
            <a:r>
              <a:t>🔴 目标太大太远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060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缺乏具体可执行的任务拆解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71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438"/>
                </a:solidFill>
                <a:latin typeface="Microsoft YaHei"/>
              </a:defRPr>
            </a:pPr>
            <a:r>
              <a:t>🔴 没有过程衡量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46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年底才发现偏差，来不及调整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303520"/>
            <a:ext cx="9418320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349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今天的定位：不是汇报会，是解题会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806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把「我们要去哪里」变成「下一步具体干什么、怎么知道干对了」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二、方法论框架：从战略到执行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4114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C10"/>
                </a:solidFill>
                <a:latin typeface="Microsoft YaHei"/>
              </a:defRPr>
            </a:pPr>
            <a:r>
              <a:t>战略层（已完成）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RPP — 优先事项 / 流程 / 资源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PPT — 人 / 流程 / 技术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解决「为什么做、怎么组织」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已有基础，不需要重复讨论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Microsoft YaHei"/>
              </a:defRPr>
            </a:pPr>
            <a:r>
              <a:t>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788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8D4"/>
                </a:solidFill>
                <a:latin typeface="Microsoft YaHei"/>
              </a:defRPr>
            </a:pPr>
            <a:r>
              <a:t>──→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292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Microsoft YaHei"/>
              </a:defRPr>
            </a:pPr>
            <a:r>
              <a:t>执行层（今天引入）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PGSAR闭环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P(Plan) → G(Goal) → S(Standard)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→ A(Action) → R(Review) → 循环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解决「具体做什么、怎么衡量、怎么纠偏」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754880"/>
            <a:ext cx="667512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4846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  <a:latin typeface="Microsoft YaHei"/>
              </a:defRPr>
            </a:pPr>
            <a:r>
              <a:t>SMART原则 — 目标质量检查工具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212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Specific · Measurable · Achievable · Relevant · Time-bound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三、PGSAR 执行闭环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920240" cy="1188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P -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检视整体计划</a:t>
            </a:r>
            <a:br/>
            <a:r>
              <a:t>确认方向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371600"/>
            <a:ext cx="1920240" cy="118872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G -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87451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SMART拆解</a:t>
            </a:r>
            <a:br/>
            <a:r>
              <a:t>大目标→小目标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5B9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371600"/>
            <a:ext cx="1920240" cy="1188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S -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87451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定义「做好了」</a:t>
            </a:r>
            <a:br/>
            <a:r>
              <a:t>的标准，可衡量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8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71600"/>
            <a:ext cx="1920240" cy="118872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 -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87451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明确行动</a:t>
            </a:r>
            <a:br/>
            <a:r>
              <a:t>责任人、时间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83B0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371600"/>
            <a:ext cx="1920240" cy="118872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R -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187451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定期检视</a:t>
            </a:r>
            <a:br/>
            <a:r>
              <a:t>红黄绿灯纠偏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↑ 回到Plan，持续循环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3291840"/>
            <a:ext cx="850392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33375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Microsoft YaHei"/>
              </a:defRPr>
            </a:pPr>
            <a:r>
              <a:t>计划 → 拆解 → 定标准 → 行动 → 检视 → 调整，循环往复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本次研讨会在PGSAR中的位置：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846320"/>
            <a:ext cx="32004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13438"/>
                </a:solidFill>
                <a:latin typeface="Microsoft YaHei"/>
              </a:defRPr>
            </a:pPr>
            <a:r>
              <a:t>障碍对齐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检视Plan，识别阻塞项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4846320"/>
            <a:ext cx="32004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  <a:latin typeface="Microsoft YaHei"/>
              </a:defRPr>
            </a:pPr>
            <a:r>
              <a:t>目标拆解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Goal拆解 + SMART验证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846320"/>
            <a:ext cx="32004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7C10"/>
                </a:solidFill>
                <a:latin typeface="Microsoft YaHei"/>
              </a:defRPr>
            </a:pPr>
            <a:r>
              <a:t>建立检视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Standard + Review机制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四、SMART原则 — 目标质量检查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3716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280160"/>
            <a:ext cx="256032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2984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280160"/>
            <a:ext cx="301752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298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✅ 合格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32004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98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❌ 不合格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373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173736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737360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8013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Microsoft YaHei"/>
              </a:defRPr>
            </a:pPr>
            <a:r>
              <a:t>S Specific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01368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具体做什么？交付什么？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0136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7C10"/>
                </a:solidFill>
                <a:latin typeface="Microsoft YaHei"/>
              </a:defRPr>
            </a:pPr>
            <a:r>
              <a:t>有明确交付物和范围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8013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"推进AI应用"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286000"/>
            <a:ext cx="137160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0" y="2286000"/>
            <a:ext cx="25603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0" y="2286000"/>
            <a:ext cx="30175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2286000"/>
            <a:ext cx="320040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3500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5B95"/>
                </a:solidFill>
                <a:latin typeface="Microsoft YaHei"/>
              </a:defRPr>
            </a:pPr>
            <a:r>
              <a:t>M Measurable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2350008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怎么衡量完成？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35000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7C10"/>
                </a:solidFill>
                <a:latin typeface="Microsoft YaHei"/>
              </a:defRPr>
            </a:pPr>
            <a:r>
              <a:t>有量化指标和基线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500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"提升效率"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834639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0" y="2834639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0" y="2834639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2834639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89864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83B01"/>
                </a:solidFill>
                <a:latin typeface="Microsoft YaHei"/>
              </a:defRPr>
            </a:pPr>
            <a:r>
              <a:t>A Achievable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2898647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现在能做吗？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2898647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7C10"/>
                </a:solidFill>
                <a:latin typeface="Microsoft YaHei"/>
              </a:defRPr>
            </a:pPr>
            <a:r>
              <a:t>信心指数≥7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898647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目标远大无路径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383279"/>
            <a:ext cx="137160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0" y="3383279"/>
            <a:ext cx="25603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3383279"/>
            <a:ext cx="30175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3383279"/>
            <a:ext cx="320040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344728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Microsoft YaHei"/>
              </a:defRPr>
            </a:pPr>
            <a:r>
              <a:t>R Relevant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3447287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和OKR什么关系？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3447287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7C10"/>
                </a:solidFill>
                <a:latin typeface="Microsoft YaHei"/>
              </a:defRPr>
            </a:pPr>
            <a:r>
              <a:t>能追溯到具体KR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447287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孤立任务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93192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0" y="393192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0" y="3931920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393192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39959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13438"/>
                </a:solidFill>
                <a:latin typeface="Microsoft YaHei"/>
              </a:defRPr>
            </a:pPr>
            <a:r>
              <a:t>T Time-bound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3995928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什么时候完成？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399592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7C10"/>
                </a:solidFill>
                <a:latin typeface="Microsoft YaHei"/>
              </a:defRPr>
            </a:pPr>
            <a:r>
              <a:t>有明确截止日和节点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39959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"尽快""年底前"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核心工具：信心指数  __ / 10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257800"/>
            <a:ext cx="347472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5303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C10"/>
                </a:solidFill>
                <a:latin typeface="Microsoft YaHei"/>
              </a:defRPr>
            </a:pPr>
            <a:r>
              <a:t>≥8 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目标合理，直接拆解行动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0" y="5257800"/>
            <a:ext cx="347472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09160" y="5303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83B01"/>
                </a:solidFill>
                <a:latin typeface="Microsoft YaHei"/>
              </a:defRPr>
            </a:pPr>
            <a:r>
              <a:t>5-7 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有风险，讨论卡在哪，可能要拆分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12480" y="5257800"/>
            <a:ext cx="347472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49640" y="5303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13438"/>
                </a:solidFill>
                <a:latin typeface="Microsoft YaHei"/>
              </a:defRPr>
            </a:pPr>
            <a:r>
              <a:t>&lt;5 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4964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重新定义或大幅拆分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五、今天的三个产出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32004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0" y="1737360"/>
            <a:ext cx="731520" cy="73152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13438"/>
                </a:solidFill>
                <a:latin typeface="Microsoft YaHei"/>
              </a:defRPr>
            </a:pPr>
            <a:r>
              <a:t>障碍清单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各产线TOP3障碍</a:t>
            </a:r>
            <a:br/>
            <a:r>
              <a:t>分类 · 优先级 · 解法方向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  <a:latin typeface="Microsoft YaHei"/>
              </a:defRPr>
            </a:pPr>
            <a:r>
              <a:t>知道卡在哪、谁来解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463040"/>
            <a:ext cx="32004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0" y="173736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8D4"/>
                </a:solidFill>
                <a:latin typeface="Microsoft YaHei"/>
              </a:defRPr>
            </a:pPr>
            <a:r>
              <a:t>目标拆解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004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近期里程碑</a:t>
            </a:r>
            <a:br/>
            <a:r>
              <a:t>SMART验证 · 行动项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480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  <a:latin typeface="Microsoft YaHei"/>
              </a:defRPr>
            </a:pPr>
            <a:r>
              <a:t>知道下一步干什么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63040"/>
            <a:ext cx="32004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0" y="1737360"/>
            <a:ext cx="731520" cy="73152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7C10"/>
                </a:solidFill>
                <a:latin typeface="Microsoft YaHei"/>
              </a:defRPr>
            </a:pPr>
            <a:r>
              <a:t>检视机制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004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过程指标</a:t>
            </a:r>
            <a:br/>
            <a:r>
              <a:t>红黄绿灯 · 检视节奏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480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  <a:latin typeface="Microsoft YaHei"/>
              </a:defRPr>
            </a:pPr>
            <a:r>
              <a:t>知道做得怎样、及时纠偏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六、共识确认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请逐条确认，有异议现场提出：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37160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共识一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737360"/>
            <a:ext cx="8229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801368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今天是解题会，不是汇报会 — 重点在「怎么解决」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14600"/>
            <a:ext cx="1371600" cy="50292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共识二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514600"/>
            <a:ext cx="8229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578608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用SMART验证目标 — 信心&lt;7的目标必须讨论拆分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91839"/>
            <a:ext cx="1371600" cy="50292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5584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共识三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291839"/>
            <a:ext cx="8229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335584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每个行动有唯一责任人 — 不能写「团队负责」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069079"/>
            <a:ext cx="137160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3308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共识四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4069079"/>
            <a:ext cx="8229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413308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建立双周红黄绿灯检视 — 不等到年底才发现偏差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46320"/>
            <a:ext cx="1371600" cy="50292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10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共识五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4846320"/>
            <a:ext cx="8229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4910328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诚实暴露问题 — 卡住了就说卡住了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Microsoft YaHei"/>
              </a:defRPr>
            </a:pPr>
            <a:r>
              <a:t>✅ 确认完毕 → 进入环节一：障碍对齐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17520"/>
            <a:ext cx="16459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环节一：障碍对齐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Microsoft YaHei"/>
              </a:defRPr>
            </a:pPr>
            <a:r>
              <a:t>各产线TOP3障碍 + 集体诊断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19:15 - 19:55（40分钟）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环节一：障碍对齐 — 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Microsoft YaHei"/>
              </a:defRPr>
            </a:pPr>
            <a:r>
              <a:t>各产线轮流呈现，每产线 5-6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4767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❶  每个产线讲 TOP3 障碍：是什么、影响多大、已尝试什么、需要什么支持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10058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0487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❷  其他产线可补充类似经验，但不展开讨论（避免超时）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10058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6207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❸  主持人现场分类，标记优先级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91840"/>
            <a:ext cx="10058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1927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❹  目标是收集和分类，不是现场解决所有问题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时间分配：5个产线 × 6分钟 + 聚类 10分钟 = 40分钟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434840"/>
            <a:ext cx="17373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Microsoft YaHei"/>
              </a:defRPr>
            </a:pPr>
            <a:r>
              <a:t>无线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4434840"/>
            <a:ext cx="17373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4480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  <a:latin typeface="Microsoft YaHei"/>
              </a:defRPr>
            </a:pPr>
            <a:r>
              <a:t>交换机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4434840"/>
            <a:ext cx="17373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4480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Microsoft YaHei"/>
              </a:defRPr>
            </a:pPr>
            <a:r>
              <a:t>NMC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434840"/>
            <a:ext cx="17373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4480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83B01"/>
                </a:solidFill>
                <a:latin typeface="Microsoft YaHei"/>
              </a:defRPr>
            </a:pPr>
            <a:r>
              <a:t>会议主机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4434840"/>
            <a:ext cx="17373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B8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4480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B83EB"/>
                </a:solidFill>
                <a:latin typeface="Microsoft YaHei"/>
              </a:defRPr>
            </a:pPr>
            <a:r>
              <a:t>IPSIP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83B01"/>
                </a:solidFill>
                <a:latin typeface="Microsoft YaHei"/>
              </a:defRPr>
            </a:pPr>
            <a:r>
              <a:t>之后 10分钟 → 跨产线共性障碍聚类 + 优先级排序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环节一：障碍分类框架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主持人现场分类到以下5个类别：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73152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Microsoft YaHei"/>
              </a:defRPr>
            </a:pPr>
            <a:r>
              <a:t>工具/平台缺失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64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基础设施不到位，想用但没工具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47472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78D4"/>
                </a:solidFill>
                <a:latin typeface="Microsoft YaHei"/>
              </a:defRPr>
            </a:pPr>
            <a:r>
              <a:t>加速建设、找临时替代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731520" cy="64008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78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5B95"/>
                </a:solidFill>
                <a:latin typeface="Microsoft YaHei"/>
              </a:defRPr>
            </a:pPr>
            <a:r>
              <a:t>能力/技能不足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578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工具在但不会用、用不好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606039"/>
            <a:ext cx="347472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5B95"/>
                </a:solidFill>
                <a:latin typeface="Microsoft YaHei"/>
              </a:defRPr>
            </a:pPr>
            <a:r>
              <a:t>培训、布道师辅导、结对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731520" cy="64008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83B01"/>
                </a:solidFill>
                <a:latin typeface="Microsoft YaHei"/>
              </a:defRPr>
            </a:pPr>
            <a:r>
              <a:t>流程/规范阻力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493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现有流程与AI-Native冲突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520439"/>
            <a:ext cx="347472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3B01"/>
                </a:solidFill>
                <a:latin typeface="Microsoft YaHei"/>
              </a:defRPr>
            </a:pPr>
            <a:r>
              <a:t>流程适配、试点验证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731520" cy="64008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805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4074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13438"/>
                </a:solidFill>
                <a:latin typeface="Microsoft YaHei"/>
              </a:defRPr>
            </a:pPr>
            <a:r>
              <a:t>资源/优先级冲突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4074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人不够、和其他工作排不开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434840"/>
            <a:ext cx="347472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4805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资源协调、管理层决策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73152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949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3218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Microsoft YaHei"/>
              </a:defRPr>
            </a:pPr>
            <a:r>
              <a:t>目标不清晰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3218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不知道具体该做什么、怎么做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5349240"/>
            <a:ext cx="347472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5394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9688"/>
                </a:solidFill>
                <a:latin typeface="Microsoft YaHei"/>
              </a:defRPr>
            </a:pPr>
            <a:r>
              <a:t>目标拆解（环节二解决）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438"/>
                </a:solidFill>
                <a:latin typeface="Microsoft YaHei"/>
              </a:defRPr>
            </a:pPr>
            <a:r>
              <a:t>标注「2+产线共同面临」的障碍 → 提升为平台级问题，综合管理部优先处理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17520"/>
            <a:ext cx="16459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环节二：目标拆解工作坊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Microsoft YaHei"/>
              </a:defRPr>
            </a:pPr>
            <a:r>
              <a:t>近期里程碑 SMART验证 + 任务拆解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20:05 - 20:55（50分钟）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环节二：时间分配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Microsoft YaHei"/>
              </a:defRPr>
            </a:pPr>
            <a:r>
              <a:t>5个产线 × 8分钟/产线 + 缓冲 10分钟 = 50分钟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64592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产线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828800"/>
            <a:ext cx="13716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85623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828800"/>
            <a:ext cx="32004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8562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828800"/>
            <a:ext cx="109728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85623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86000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395728"/>
            <a:ext cx="1371600" cy="4114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无线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28600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20:05</a:t>
            </a:r>
            <a:br/>
            <a:r>
              <a:t>20:13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28600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331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1-2个近期里程碑</a:t>
            </a:r>
            <a:br/>
            <a:r>
              <a:t>SMART验证 + 行动项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2286000"/>
            <a:ext cx="1097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017520"/>
            <a:ext cx="164592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3127248"/>
            <a:ext cx="1371600" cy="41148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1546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交换机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017520"/>
            <a:ext cx="137160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3108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20:13</a:t>
            </a:r>
            <a:br/>
            <a:r>
              <a:t>20:21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017520"/>
            <a:ext cx="320040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0632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1-2个近期里程碑</a:t>
            </a:r>
            <a:br/>
            <a:r>
              <a:t>SMART验证 + 行动项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3017520"/>
            <a:ext cx="109728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31546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749039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" y="3858768"/>
            <a:ext cx="13716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NMC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3749039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6040" y="384047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20:21</a:t>
            </a:r>
            <a:br/>
            <a:r>
              <a:t>20:29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3749039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79475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1-2个近期里程碑</a:t>
            </a:r>
            <a:br/>
            <a:r>
              <a:t>SMART验证 + 行动项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3749039"/>
            <a:ext cx="1097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3886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480560"/>
            <a:ext cx="164592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68680" y="4590288"/>
            <a:ext cx="1371600" cy="41148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会议主机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4480560"/>
            <a:ext cx="137160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4572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20:29</a:t>
            </a:r>
            <a:br/>
            <a:r>
              <a:t>20:37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4480560"/>
            <a:ext cx="320040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0" y="4526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1-2个近期里程碑</a:t>
            </a:r>
            <a:br/>
            <a:r>
              <a:t>SMART验证 + 行动项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79" y="4480560"/>
            <a:ext cx="109728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79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212080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68680" y="5321808"/>
            <a:ext cx="1371600" cy="411480"/>
          </a:xfrm>
          <a:prstGeom prst="roundRect">
            <a:avLst/>
          </a:prstGeom>
          <a:solidFill>
            <a:srgbClr val="7B8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IPSIP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0" y="521208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40" y="53035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20:37</a:t>
            </a:r>
            <a:br/>
            <a:r>
              <a:t>20:45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521208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0" y="5257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1-2个近期目标</a:t>
            </a:r>
            <a:br/>
            <a:r>
              <a:t>SMART验证 + 行动项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79" y="5212080"/>
            <a:ext cx="1097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79" y="5349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⏳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6035040"/>
            <a:ext cx="1051560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83B01"/>
                </a:solidFill>
                <a:latin typeface="Microsoft YaHei"/>
              </a:defRPr>
            </a:pPr>
            <a:r>
              <a:t>20:45 - 20:55  缓冲时间：补充讨论未完成的拆解 / 回答共性问题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环节二：SMART拆解模板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Microsoft YaHei"/>
              </a:defRPr>
            </a:pPr>
            <a:r>
              <a:t>里程碑拆解模板（每产线1-2个近期里程碑）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里程碑名称：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信心指数：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___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164592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8775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56032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587751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具体做什么？交付什么？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1645920" cy="384048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4495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301752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3044951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怎么衡量完成？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74720"/>
            <a:ext cx="1645920" cy="38404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0215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47472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502151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现在能做吗？卡在哪？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1645920" cy="38404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593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393192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39593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和年度OKR什么关系？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89120"/>
            <a:ext cx="1645920" cy="384048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165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438912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44165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什么时候完成？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83B01"/>
                </a:solidFill>
                <a:latin typeface="Microsoft YaHei"/>
              </a:defRPr>
            </a:pPr>
            <a:r>
              <a:t>主持人引导问题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169164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17190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目标模糊时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19933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做完怎么知道做成了？</a:t>
            </a:r>
            <a:br/>
            <a:r>
              <a:t>看到什么就算完成？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246888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24963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信心指数低时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77063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为什么不是8或9？</a:t>
            </a:r>
            <a:br/>
            <a:r>
              <a:t>最不确定的是什么？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324612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327355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行动不具体时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54787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如果只做一件事推进这个目标，</a:t>
            </a:r>
            <a:br/>
            <a:r>
              <a:t>你做什么？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402336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40507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责任人不清晰时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3251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谁来做？什么时候能看到</a:t>
            </a:r>
            <a:br/>
            <a:r>
              <a:t>初步结果？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480060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48280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目标太大时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10235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切成两半，前半段是什么？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557784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56052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和OKR关联不清时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8795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这个目标达成后，</a:t>
            </a:r>
            <a:br/>
            <a:r>
              <a:t>哪个KR会怎么变化？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拆解深度要求：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486400"/>
            <a:ext cx="502920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7C10"/>
                </a:solidFill>
                <a:latin typeface="Microsoft YaHei"/>
              </a:defRPr>
            </a:pPr>
            <a:r>
              <a:t>✅ 有具体行动 + 唯一责任人 + 时间 + 交付物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5486400"/>
            <a:ext cx="5029200" cy="45720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❌ 「推进XX」「加强XX」「持续优化XX」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环节二：行动项格式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每个里程碑拆出的行动项必须满足以下格式：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737360"/>
            <a:ext cx="32004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76479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具体行动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737360"/>
            <a:ext cx="109728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76479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责任人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737360"/>
            <a:ext cx="109728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76479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开始时间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737360"/>
            <a:ext cx="109728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76479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完成时间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737360"/>
            <a:ext cx="18288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6479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交付物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194560"/>
            <a:ext cx="457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2219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19456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222199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日志分析skill标准化开发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945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2219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张三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1945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22219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4/28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1945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22219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945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2219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skill代码+文档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651760"/>
            <a:ext cx="4572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2679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651760"/>
            <a:ext cx="32004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267919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团队skill使用培训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651760"/>
            <a:ext cx="109728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26791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李四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2651760"/>
            <a:ext cx="109728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26791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5/5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2651760"/>
            <a:ext cx="109728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26791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5/12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2651760"/>
            <a:ext cx="18288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2679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培训完成率≥90%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108960"/>
            <a:ext cx="457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1363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310896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17320" y="313639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知识库框架搭建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1089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92040" y="31363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王五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1089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31363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5/8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80" y="31089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6600" y="31363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5/20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31089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80" y="31363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知识库框架+数据结构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关键规则：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4297680"/>
            <a:ext cx="1645920" cy="4572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唯一责任人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0" y="429768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26080" y="4343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必须落实到具体个人，不能写「团队」「待定」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4400" y="4892040"/>
            <a:ext cx="164592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具体交付物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0" y="489204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26080" y="49377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每个行动必须有明确的产出物，不能只写「完成」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" y="5486400"/>
            <a:ext cx="1645920" cy="45720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5532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可验证时间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0" y="548640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26080" y="55321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有明确的完成日期，不能写「尽快」「Q2」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17520"/>
            <a:ext cx="16459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环节三：衡量标准与共识确认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Microsoft YaHei"/>
              </a:defRPr>
            </a:pPr>
            <a:r>
              <a:t>衡量标准 + 检视节奏 + 行动项确认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20:55 - 21:30（35分钟）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环节三：衡量标准设计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Microsoft YaHei"/>
              </a:defRPr>
            </a:pPr>
            <a:r>
              <a:t>前置指标（Leading）— 过程中持续关注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提前预警，发现问题于未然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7432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2860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47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含义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28800"/>
            <a:ext cx="13716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8470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目标值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828800"/>
            <a:ext cx="10972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8470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采集频率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12848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40279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AI工具日活率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21284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39" y="2240279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团队成员日常使用AI工具的比例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21284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2240279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≥80%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221284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240279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每周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624328"/>
            <a:ext cx="27432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65176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SPEC文档覆盖率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2624328"/>
            <a:ext cx="22860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39" y="26517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需求/设计阶段SPEC文档使用比例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624328"/>
            <a:ext cx="13716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26517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≥60%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624328"/>
            <a:ext cx="109728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2651760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双周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035808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063239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CI通过率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303580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39" y="3063239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代码提交后CI自动通过的比例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03580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3063239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≥90%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303580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3063239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每日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447288"/>
            <a:ext cx="27432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347472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技能使用频次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3447288"/>
            <a:ext cx="22860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0439" y="34747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各Skill被调用的频次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447288"/>
            <a:ext cx="13716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06440" y="34747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持续增长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3447288"/>
            <a:ext cx="109728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78040" y="3474720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每周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83B01"/>
                </a:solidFill>
                <a:latin typeface="Microsoft YaHei"/>
              </a:defRPr>
            </a:pPr>
            <a:r>
              <a:t>滞后指标（Lagging）— 阶段末衡量结果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验证结果，评估目标达成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709160"/>
            <a:ext cx="2743200" cy="38404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47274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4709160"/>
            <a:ext cx="2286000" cy="38404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0" y="47274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含义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0" y="4709160"/>
            <a:ext cx="1371600" cy="38404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47274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目标值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0" y="4709160"/>
            <a:ext cx="1097280" cy="38404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0" y="47274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衡量时间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5093208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511149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需求交付周期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5093208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20439" y="511149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需求确认到交付的端到端时间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720" y="5093208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06440" y="511149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缩短40-50%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5093208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78040" y="5111496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季末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5477256"/>
            <a:ext cx="274320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549554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技术债务消除率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0" y="5477256"/>
            <a:ext cx="228600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20439" y="549554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已清理TD占总TD的比例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720" y="5477256"/>
            <a:ext cx="137160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06440" y="549554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≥80%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32320" y="5477256"/>
            <a:ext cx="109728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78040" y="5495544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季末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" y="5861304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7240" y="58795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项目周期缩短率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74720" y="5861304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20439" y="58795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对比基线的项目周期变化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760720" y="5861304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06440" y="58795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缩短25-40%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32320" y="586130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78040" y="5879592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季末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Microsoft YaHei"/>
              </a:defRPr>
            </a:pPr>
            <a:r>
              <a:t>各产线核心指标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每产线确认2-3个核心前置指标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686800" y="192024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86968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无线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66960" y="19659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指标①：</a:t>
            </a:r>
            <a:br/>
            <a:r>
              <a:t>指标②：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686800" y="278892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69680" y="28346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5B95"/>
                </a:solidFill>
                <a:latin typeface="Microsoft YaHei"/>
              </a:defRPr>
            </a:pPr>
            <a:r>
              <a:t>交换机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66960" y="2834639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指标①：</a:t>
            </a:r>
            <a:br/>
            <a:r>
              <a:t>指标②：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686800" y="365760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6968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NMC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66960" y="3703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指标①：</a:t>
            </a:r>
            <a:br/>
            <a:r>
              <a:t>指标②：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686800" y="4526279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869680" y="45719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会议主机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966960" y="4571999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指标①：</a:t>
            </a:r>
            <a:br/>
            <a:r>
              <a:t>指标②：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686800" y="539496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8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869680" y="5440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83EB"/>
                </a:solidFill>
                <a:latin typeface="Microsoft YaHei"/>
              </a:defRPr>
            </a:pPr>
            <a:r>
              <a:t>IPSIP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66960" y="5440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指标①：</a:t>
            </a:r>
            <a:br/>
            <a:r>
              <a:t>指标②：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31520" y="6309360"/>
            <a:ext cx="10515600" cy="3657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14400" y="6336792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💡 核心原则：前置指标不必多，2-3个能跟踪就好，后续迭代优化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环节三：检视节奏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建议的检视节奏，请确认或调整：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371600" cy="10058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每周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73736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288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任务执行状态更新</a:t>
            </a:r>
            <a:br/>
            <a:r>
              <a:t>障碍状态更新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产线内部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20040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Microsoft YaHei"/>
              </a:defRPr>
            </a:pPr>
            <a:r>
              <a:t>进度同步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371600" cy="10058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双周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92608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0175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前置指标追踪</a:t>
            </a:r>
            <a:br/>
            <a:r>
              <a:t>障碍闭环情况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0175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产线 + 综合管理部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017520"/>
            <a:ext cx="320040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108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Microsoft YaHei"/>
              </a:defRPr>
            </a:pPr>
            <a:r>
              <a:t>红黄绿灯报告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1371600" cy="100584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每月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411480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42062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里程碑达成评估</a:t>
            </a:r>
            <a:br/>
            <a:r>
              <a:t>目标偏差分析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全体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206240"/>
            <a:ext cx="320040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83B01"/>
                </a:solidFill>
                <a:latin typeface="Microsoft YaHei"/>
              </a:defRPr>
            </a:pPr>
            <a:r>
              <a:t>月度检视报告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03520"/>
            <a:ext cx="1371600" cy="100584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每季度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530352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5394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OKR达成评估</a:t>
            </a:r>
            <a:br/>
            <a:r>
              <a:t>里程碑复盘</a:t>
            </a:r>
            <a:br/>
            <a:r>
              <a:t>下季度目标调整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394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全体 + 管理层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5394960"/>
            <a:ext cx="320040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5486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  <a:latin typeface="Microsoft YaHei"/>
              </a:defRPr>
            </a:pPr>
            <a:r>
              <a:t>季度复盘报告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环节三：红黄绿灯报告机制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双周检视使用红黄绿灯报告，快速暴露偏差：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  <a:latin typeface="Microsoft YaHei"/>
              </a:defRPr>
            </a:pPr>
            <a:r>
              <a:t>🟢 正常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743200"/>
            <a:ext cx="2651760" cy="5486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按计划推进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不需要额外关注</a:t>
            </a:r>
            <a:br/>
            <a:r>
              <a:t>下次检视继续跟踪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83B01"/>
                </a:solidFill>
                <a:latin typeface="Microsoft YaHei"/>
              </a:defRPr>
            </a:pPr>
            <a:r>
              <a:t>🟡 有风险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743200"/>
            <a:ext cx="2651760" cy="54864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有偏差但可控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双周检视中讨论</a:t>
            </a:r>
            <a:br/>
            <a:r>
              <a:t>寻找解决方案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13438"/>
                </a:solidFill>
                <a:latin typeface="Microsoft YaHei"/>
              </a:defRPr>
            </a:pPr>
            <a:r>
              <a:t>🔴 卡住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743200"/>
            <a:ext cx="2651760" cy="54864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无法推进，需帮助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立即升级</a:t>
            </a:r>
            <a:br/>
            <a:r>
              <a:t>下次检视前必须有行动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报告模板：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806440"/>
            <a:ext cx="27432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33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里程碑/目标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5806440"/>
            <a:ext cx="109728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58338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5806440"/>
            <a:ext cx="27432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5833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偏差说明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5806440"/>
            <a:ext cx="292608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5833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需要的支持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217920"/>
            <a:ext cx="274320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投屏模块CI门禁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6217920"/>
            <a:ext cx="109728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39" y="6236208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6217920"/>
            <a:ext cx="274320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623620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代码审查skill未完成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6217920"/>
            <a:ext cx="292608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62362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AI效能组支持skill开发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环节三：行动项确认与收尾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确认本次研讨会的产出和行动项：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00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13438"/>
                </a:solidFill>
                <a:latin typeface="Microsoft YaHei"/>
              </a:defRPr>
            </a:pPr>
            <a:r>
              <a:t>产出① 障碍清单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分类 · 优先级</a:t>
            </a:r>
            <a:br/>
            <a:r>
              <a:t>解法方向 · 责任方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200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Microsoft YaHei"/>
              </a:defRPr>
            </a:pPr>
            <a:r>
              <a:t>产出② 目标拆解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SMART验证 · 行动项</a:t>
            </a:r>
            <a:br/>
            <a:r>
              <a:t>责任人 · 时间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200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7C10"/>
                </a:solidFill>
                <a:latin typeface="Microsoft YaHei"/>
              </a:defRPr>
            </a:pPr>
            <a:r>
              <a:t>产出③ 检视机制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前置指标 · 红黄绿灯</a:t>
            </a:r>
            <a:br/>
            <a:r>
              <a:t>检视节奏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会后跟进时间线：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164592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会后1天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402336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发布会议纪要 + 行动项清单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主持人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17720"/>
            <a:ext cx="1645920" cy="45720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会后1周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461772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各产线补充完成全部SMART拆解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各产线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12080"/>
            <a:ext cx="1645920" cy="45720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会后2周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521208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5257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第一次双周检视（红黄绿灯报告）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各产线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806440"/>
            <a:ext cx="164592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852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会后1月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580644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5852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第一次月度检视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全体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17520"/>
            <a:ext cx="18288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研讨会到此结束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Microsoft YaHei"/>
              </a:defRPr>
            </a:pPr>
            <a:r>
              <a:t>会后1周内完成补充拆解，2周后第一次双周检视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Microsoft YaHei"/>
              </a:defRPr>
            </a:pPr>
            <a:r>
              <a:t>感谢各位参与，行动起来 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