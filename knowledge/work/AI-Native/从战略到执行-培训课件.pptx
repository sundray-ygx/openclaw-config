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7" r:id="rId7"/>
    <p:sldId id="27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6"/>
    <p:sldId id="275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33990" y="1352550"/>
            <a:ext cx="347587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1300" kern="0" spc="4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深信服经营管理理念项目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784300"/>
            <a:ext cx="8595211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从战略到执行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833990" y="2622500"/>
            <a:ext cx="347587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400"/>
              </a:spcAft>
              <a:buNone/>
            </a:pPr>
            <a:r>
              <a:rPr lang="en-US" sz="2000" dirty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 × 执行力 = 战略落地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063901" y="3270200"/>
            <a:ext cx="1015901" cy="3810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33990" y="3562201"/>
            <a:ext cx="347587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基于RPP框架与PPT框架的管理认知升级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/ 开场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612725"/>
            <a:ext cx="10566529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2800" dirty="0">
                <a:solidFill>
                  <a:schemeClr val="bg1"/>
                </a:solidFill>
              </a:rPr>
              <a:t>战略从哪里来？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" y="1956435"/>
            <a:ext cx="7809230" cy="2152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/ 开场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612725"/>
            <a:ext cx="10566529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2800" dirty="0">
                <a:solidFill>
                  <a:schemeClr val="bg1"/>
                </a:solidFill>
              </a:rPr>
              <a:t>文化从哪里来？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1539875"/>
            <a:ext cx="7848600" cy="3169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/ 开场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612725"/>
            <a:ext cx="10566529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为什么战略执行这么难？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42876"/>
            <a:ext cx="3937099" cy="1025426"/>
          </a:xfrm>
          <a:prstGeom prst="roundRect">
            <a:avLst>
              <a:gd name="adj" fmla="val 990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342876"/>
            <a:ext cx="0" cy="1025426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726" y="1546027"/>
            <a:ext cx="355283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症状一：方向对了，组织走偏了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726" y="1822252"/>
            <a:ext cx="3552837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管理层看懂了方向，但团队行动与战略意图不一致，实际做的与应该做的脱节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520702"/>
            <a:ext cx="3937099" cy="853976"/>
          </a:xfrm>
          <a:prstGeom prst="roundRect">
            <a:avLst>
              <a:gd name="adj" fmla="val 118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520702"/>
            <a:ext cx="0" cy="853976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726" y="2723852"/>
            <a:ext cx="355283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症状二：有投入，没产出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726" y="3000077"/>
            <a:ext cx="3552837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资源投够了，人才招了，技术买了，但结果始终不达预期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527078"/>
            <a:ext cx="3937099" cy="853976"/>
          </a:xfrm>
          <a:prstGeom prst="roundRect">
            <a:avLst>
              <a:gd name="adj" fmla="val 118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527078"/>
            <a:ext cx="0" cy="853976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726" y="3730228"/>
            <a:ext cx="355283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症状三：能打赢小仗，打不赢大仗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726" y="4006453"/>
            <a:ext cx="3552837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小规模验证成功，规模化后组织能力崩塌，无法复制成功经验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1342876"/>
            <a:ext cx="3937099" cy="3419624"/>
          </a:xfrm>
          <a:prstGeom prst="roundRect">
            <a:avLst>
              <a:gd name="adj" fmla="val 2971"/>
            </a:avLst>
          </a:prstGeom>
          <a:solidFill>
            <a:srgbClr val="7DE545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52851" y="2462064"/>
            <a:ext cx="349788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2851" y="2843064"/>
            <a:ext cx="349788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组织能力决定战略成败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52851" y="3300264"/>
            <a:ext cx="349788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战略执行失败的根因，往往不在战略本身，而在于组织能力无法匹配战略要求。理解这一点，是提升执行力的起点。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认知升级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612725"/>
            <a:ext cx="10566529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两个经典框架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2126"/>
            <a:ext cx="3971925" cy="1476077"/>
          </a:xfrm>
          <a:prstGeom prst="roundRect">
            <a:avLst>
              <a:gd name="adj" fmla="val 688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9201" y="1479352"/>
            <a:ext cx="366942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kern="0" spc="1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框架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9201" y="1727002"/>
            <a:ext cx="366942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组织能力三层透视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9201" y="2057102"/>
            <a:ext cx="366942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克里斯坦森 | 哈佛商学院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9201" y="2257127"/>
            <a:ext cx="366942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回答"为什么执行会失败"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9201" y="2419052"/>
            <a:ext cx="366942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诊断视角，由内而外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3026" y="1292126"/>
            <a:ext cx="3953024" cy="1476077"/>
          </a:xfrm>
          <a:prstGeom prst="roundRect">
            <a:avLst>
              <a:gd name="adj" fmla="val 688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4750" y="1469827"/>
            <a:ext cx="366957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kern="0" spc="1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PPT 框架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4750" y="1717477"/>
            <a:ext cx="366957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执行落地三支柱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4750" y="2047577"/>
            <a:ext cx="366957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Leavitt / Schneier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4750" y="2219027"/>
            <a:ext cx="366957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回答"如何系统化推进执行"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4750" y="2380952"/>
            <a:ext cx="366957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落地视角，自外向内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669" y="2920603"/>
            <a:ext cx="829066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950" y="4276725"/>
            <a:ext cx="8128099" cy="485775"/>
          </a:xfrm>
          <a:prstGeom prst="roundRect">
            <a:avLst>
              <a:gd name="adj" fmla="val 15686"/>
            </a:avLst>
          </a:prstGeom>
          <a:solidFill>
            <a:srgbClr val="7DE545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550" y="4429125"/>
            <a:ext cx="782431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RPP诊断能力瓶颈 + PPT指导落地执行 = 战略到执行的完整方法论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RPP框架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87276"/>
            <a:ext cx="10566529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组织能力的三个层次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6176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改变难度：资源（易）→ 流程（中）→ 优先事项（最难）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1450777"/>
            <a:ext cx="1346002" cy="1044625"/>
          </a:xfrm>
          <a:prstGeom prst="roundRect">
            <a:avLst>
              <a:gd name="adj" fmla="val 7294"/>
            </a:avLst>
          </a:prstGeom>
          <a:solidFill>
            <a:srgbClr val="7DE545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001" y="1779389"/>
            <a:ext cx="73837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优先事项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3456" y="2052340"/>
            <a:ext cx="40273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06352" y="1450777"/>
            <a:ext cx="6629698" cy="1044625"/>
          </a:xfrm>
          <a:prstGeom prst="roundRect">
            <a:avLst>
              <a:gd name="adj" fmla="val 7294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84053" y="1695301"/>
            <a:ext cx="63997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我们"为什么做"和"做什么"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84053" y="1927027"/>
            <a:ext cx="639978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组织的决策过滤器——决定什么被认为是重要的。包括战略优先级、客户选择、利润模型偏好、风险偏好。是最深层的能力要素，也是最难改变的。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622352"/>
            <a:ext cx="1346002" cy="1044773"/>
          </a:xfrm>
          <a:prstGeom prst="roundRect">
            <a:avLst>
              <a:gd name="adj" fmla="val 7293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9976" y="2951113"/>
            <a:ext cx="36918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4017" y="3224064"/>
            <a:ext cx="48334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06352" y="2622352"/>
            <a:ext cx="6629698" cy="1044773"/>
          </a:xfrm>
          <a:prstGeom prst="roundRect">
            <a:avLst>
              <a:gd name="adj" fmla="val 729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84053" y="2947839"/>
            <a:ext cx="63997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我们"怎么做"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84053" y="3179564"/>
            <a:ext cx="639978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将资源转化为价值的方法和模式。一个流程在某类问题上越有效，就越排斥不同性质的新任务。流程越成功，越难改变。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794075"/>
            <a:ext cx="1346002" cy="1044625"/>
          </a:xfrm>
          <a:prstGeom prst="roundRect">
            <a:avLst>
              <a:gd name="adj" fmla="val 7294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9976" y="4122688"/>
            <a:ext cx="36918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8361" y="4395639"/>
            <a:ext cx="49488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Resources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06352" y="3794075"/>
            <a:ext cx="6629698" cy="1044625"/>
          </a:xfrm>
          <a:prstGeom prst="roundRect">
            <a:avLst>
              <a:gd name="adj" fmla="val 7294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84053" y="4119562"/>
            <a:ext cx="63997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我们"有什么"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84053" y="4351288"/>
            <a:ext cx="639978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人力、技术、资金、品牌、数据等。最可见、最容易改变的能力要素。但仅有资源远远不够——克里斯坦森的核心洞见。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PPT框架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87276"/>
            <a:ext cx="10566529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执行落地的三支柱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76176"/>
            <a:ext cx="82906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 → 流程 → 技术，三者必须协同，缺一则整体失效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1425327"/>
            <a:ext cx="2590800" cy="1603028"/>
          </a:xfrm>
          <a:prstGeom prst="roundRect">
            <a:avLst>
              <a:gd name="adj" fmla="val 633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444377"/>
            <a:ext cx="2590800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51" y="1641128"/>
            <a:ext cx="228010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 People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651" y="1990279"/>
            <a:ext cx="228010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推动变革的个体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2202954"/>
            <a:ext cx="2235398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识别技能与能力需求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提供充分培训与支持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建设拥抱变革的文化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管理团队时间与精力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76451" y="1425327"/>
            <a:ext cx="2590949" cy="1603028"/>
          </a:xfrm>
          <a:prstGeom prst="roundRect">
            <a:avLst>
              <a:gd name="adj" fmla="val 633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6451" y="1444377"/>
            <a:ext cx="2590949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152" y="1641128"/>
            <a:ext cx="228025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 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4152" y="1990279"/>
            <a:ext cx="22802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连接人与目标的路径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4152" y="2202954"/>
            <a:ext cx="2235547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清晰定义期望与路径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消除可避免的瓶颈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跨部门协作与对齐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持续反馈与迭代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45101" y="1425327"/>
            <a:ext cx="2590949" cy="1603028"/>
          </a:xfrm>
          <a:prstGeom prst="roundRect">
            <a:avLst>
              <a:gd name="adj" fmla="val 633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45101" y="1444377"/>
            <a:ext cx="2590949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2802" y="1641128"/>
            <a:ext cx="228025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 Technology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22802" y="1990279"/>
            <a:ext cx="22802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赋能效率的工具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22802" y="2202954"/>
            <a:ext cx="2235547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基于需求评估选型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系统化实施部署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驱动数字采纳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持续优化技术投资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180755"/>
            <a:ext cx="8128099" cy="425351"/>
          </a:xfrm>
          <a:prstGeom prst="roundRect">
            <a:avLst>
              <a:gd name="adj" fmla="val 17915"/>
            </a:avLst>
          </a:prstGeom>
          <a:solidFill>
            <a:srgbClr val="7DE545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101" y="3307705"/>
            <a:ext cx="787623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关键原则：</a:t>
            </a: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先确保人对齐，再设计流程，最后引入技术支撑。技术是最后一步，而非第一步。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2062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1100" kern="0" spc="3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条指导原则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381000" y="2116187"/>
            <a:ext cx="9906000" cy="552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全景鸟瞰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71788"/>
            <a:ext cx="77724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选对方向 → 走对路径 → 快速验证 → 交付价值 → 保持定力 → 组织承载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91000" y="3373338"/>
            <a:ext cx="762000" cy="3810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全景鸟瞰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36525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7条原则的内在逻辑链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9188"/>
            <a:ext cx="914400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28713"/>
            <a:ext cx="9144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1345" y="1239738"/>
            <a:ext cx="67370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1345" y="1436489"/>
            <a:ext cx="67370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战略决策层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25501" y="1119188"/>
            <a:ext cx="914549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625501" y="1128713"/>
            <a:ext cx="914549" cy="0"/>
          </a:xfrm>
          <a:prstGeom prst="line">
            <a:avLst/>
          </a:prstGeom>
          <a:noFill/>
          <a:ln w="19050">
            <a:solidFill>
              <a:srgbClr val="FFA9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5845" y="1239738"/>
            <a:ext cx="6738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A9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45845" y="1436489"/>
            <a:ext cx="67386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战略解码层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16250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70150" y="1119188"/>
            <a:ext cx="914400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70150" y="1128713"/>
            <a:ext cx="91440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496" y="1239738"/>
            <a:ext cx="67370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4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闭环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0496" y="1436489"/>
            <a:ext cx="67370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执行验证层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60750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651" y="1119188"/>
            <a:ext cx="914549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14651" y="1128713"/>
            <a:ext cx="914549" cy="0"/>
          </a:xfrm>
          <a:prstGeom prst="line">
            <a:avLst/>
          </a:prstGeom>
          <a:noFill/>
          <a:ln w="19050">
            <a:solidFill>
              <a:srgbClr val="69DB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4995" y="1239738"/>
            <a:ext cx="6738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DB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赢取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34995" y="1436489"/>
            <a:ext cx="67386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价值兑现层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05400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59301" y="1119188"/>
            <a:ext cx="914400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59301" y="1128713"/>
            <a:ext cx="914400" cy="0"/>
          </a:xfrm>
          <a:prstGeom prst="line">
            <a:avLst/>
          </a:prstGeom>
          <a:noFill/>
          <a:ln w="19050">
            <a:solidFill>
              <a:srgbClr val="4DAB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9646" y="1239738"/>
            <a:ext cx="673709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79646" y="1436489"/>
            <a:ext cx="67370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市场突破层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49901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03802" y="1119188"/>
            <a:ext cx="914549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603802" y="1128713"/>
            <a:ext cx="914549" cy="0"/>
          </a:xfrm>
          <a:prstGeom prst="line">
            <a:avLst/>
          </a:prstGeom>
          <a:noFill/>
          <a:ln w="19050">
            <a:solidFill>
              <a:srgbClr val="977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4145" y="1239738"/>
            <a:ext cx="6738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7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定力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4145" y="1436489"/>
            <a:ext cx="67386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战略韧性层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594550" y="1285726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2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48451" y="1119188"/>
            <a:ext cx="914549" cy="542627"/>
          </a:xfrm>
          <a:prstGeom prst="roundRect">
            <a:avLst>
              <a:gd name="adj" fmla="val 1404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848451" y="1128713"/>
            <a:ext cx="914549" cy="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8795" y="1239738"/>
            <a:ext cx="67386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承载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68795" y="1436489"/>
            <a:ext cx="67386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组织底盘层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7950" y="1850678"/>
            <a:ext cx="1549301" cy="314325"/>
          </a:xfrm>
          <a:prstGeom prst="roundRect">
            <a:avLst>
              <a:gd name="adj" fmla="val 16162"/>
            </a:avLst>
          </a:prstGeom>
          <a:solidFill>
            <a:srgbClr val="7DE545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21544" y="1926878"/>
            <a:ext cx="73640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优先事项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84202" y="1850678"/>
            <a:ext cx="3187750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285702" y="1926878"/>
            <a:ext cx="304444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定义"做什么"与"不做什么"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8151" y="1850678"/>
            <a:ext cx="3187898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49652" y="1926878"/>
            <a:ext cx="304459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 建立决策过滤器与信号识别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950" y="2266504"/>
            <a:ext cx="1549301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59631" y="2342704"/>
            <a:ext cx="8628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流程 + PPT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84202" y="2266504"/>
            <a:ext cx="1555700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285702" y="2342704"/>
            <a:ext cx="137975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阶段解码+四要素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16102" y="2266504"/>
            <a:ext cx="1555849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917603" y="2342704"/>
            <a:ext cx="13799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 端到端验证闭环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48151" y="2266504"/>
            <a:ext cx="1555849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49652" y="2342704"/>
            <a:ext cx="13799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⑤ 压强+高杠杆策略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80200" y="2266504"/>
            <a:ext cx="1555849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81701" y="2342704"/>
            <a:ext cx="13799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⑥ 客户体验迭代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7950" y="2682329"/>
            <a:ext cx="1549301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3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50714" y="2758529"/>
            <a:ext cx="67704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PPT 人+技术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184202" y="2682329"/>
            <a:ext cx="3187750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285702" y="2758529"/>
            <a:ext cx="304444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⑦ 选对人+技术赋能流程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48151" y="2682329"/>
            <a:ext cx="3187898" cy="314325"/>
          </a:xfrm>
          <a:prstGeom prst="roundRect">
            <a:avLst>
              <a:gd name="adj" fmla="val 16162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549652" y="2758529"/>
            <a:ext cx="304459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架构连接三支柱+文化是操作系统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8727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选择：聚焦关键而独特的客户价值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84077"/>
            <a:ext cx="2114550" cy="828526"/>
          </a:xfrm>
          <a:prstGeom prst="roundRect">
            <a:avLst>
              <a:gd name="adj" fmla="val 91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184077"/>
            <a:ext cx="0" cy="82852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311027"/>
            <a:ext cx="18590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聚焦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3001" y="1561802"/>
            <a:ext cx="185900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不能同时追求过多目标。有限资源快速形成突破，产生复利效应。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24001" y="1184077"/>
            <a:ext cx="2114699" cy="828526"/>
          </a:xfrm>
          <a:prstGeom prst="roundRect">
            <a:avLst>
              <a:gd name="adj" fmla="val 91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743051" y="1184077"/>
            <a:ext cx="0" cy="82852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052" y="1311027"/>
            <a:ext cx="185915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9052" y="1561802"/>
            <a:ext cx="185915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目标客户的代表性深层需求，一扫客户成交的抗拒点。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139553"/>
            <a:ext cx="2114550" cy="828526"/>
          </a:xfrm>
          <a:prstGeom prst="roundRect">
            <a:avLst>
              <a:gd name="adj" fmla="val 91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139553"/>
            <a:ext cx="0" cy="82852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2266504"/>
            <a:ext cx="18590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独特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2517279"/>
            <a:ext cx="1859000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基于市场尚未满足的需求，最大化公司禀赋优势。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4001" y="2139553"/>
            <a:ext cx="2114699" cy="828526"/>
          </a:xfrm>
          <a:prstGeom prst="roundRect">
            <a:avLst>
              <a:gd name="adj" fmla="val 919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743051" y="2139553"/>
            <a:ext cx="0" cy="82852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052" y="2266504"/>
            <a:ext cx="185915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充满想象力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9052" y="2517279"/>
            <a:ext cx="1859152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融入产业大周期，百亿乃至千亿级市场空间。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92601" y="2305050"/>
            <a:ext cx="3543449" cy="1412677"/>
          </a:xfrm>
          <a:prstGeom prst="roundRect">
            <a:avLst>
              <a:gd name="adj" fmla="val 7192"/>
            </a:avLst>
          </a:prstGeom>
          <a:solidFill>
            <a:srgbClr val="7DE545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95751" y="2508200"/>
            <a:ext cx="319989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视角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95751" y="2781151"/>
            <a:ext cx="319989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"聚焦" = 优先事项作为决策过滤器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95751" y="3028801"/>
            <a:ext cx="3199891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组织面对无数机会时，优先事项自动排序。原则①要真正落地，必须把选择标准转化为</a:t>
            </a:r>
            <a:r>
              <a:rPr lang="en-US" sz="900" b="1" dirty="0">
                <a:solidFill>
                  <a:srgbClr val="7DE545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显性的、可操作的优先事项</a:t>
            </a: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，而非停留在口头共识。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成长：积小胜为大胜的分阶段路径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67608" y="1133326"/>
            <a:ext cx="879277" cy="533102"/>
          </a:xfrm>
          <a:prstGeom prst="roundRect">
            <a:avLst>
              <a:gd name="adj" fmla="val 14294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40070" y="1234827"/>
            <a:ext cx="53435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终局目标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40070" y="1431578"/>
            <a:ext cx="53435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格局型目标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748385" y="1295102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3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7587" y="1133326"/>
            <a:ext cx="984052" cy="533102"/>
          </a:xfrm>
          <a:prstGeom prst="roundRect">
            <a:avLst>
              <a:gd name="adj" fmla="val 14294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9001" y="1234827"/>
            <a:ext cx="64122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阶段里程碑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99001" y="1431578"/>
            <a:ext cx="6412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阶段性杠杆解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13139" y="1295102"/>
            <a:ext cx="18125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3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2341" y="1133326"/>
            <a:ext cx="984052" cy="533102"/>
          </a:xfrm>
          <a:prstGeom prst="roundRect">
            <a:avLst>
              <a:gd name="adj" fmla="val 14294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63755" y="1234827"/>
            <a:ext cx="64122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战略四要素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63755" y="1431578"/>
            <a:ext cx="6412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确保走对路径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1844129"/>
            <a:ext cx="1936700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7950" y="1853654"/>
            <a:ext cx="1936700" cy="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01" y="1990130"/>
            <a:ext cx="171645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目标客户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901" y="2221855"/>
            <a:ext cx="171645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基于长期价值和当期价值，清晰画像，差异化策略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71601" y="1844129"/>
            <a:ext cx="1936849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571601" y="1853654"/>
            <a:ext cx="1936849" cy="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8552" y="1990130"/>
            <a:ext cx="171660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价值主张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8552" y="2221855"/>
            <a:ext cx="171660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从"卖点"到"买点"，给足客户选择我们的核心理由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35401" y="1844129"/>
            <a:ext cx="1936849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35401" y="1853654"/>
            <a:ext cx="1936849" cy="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2351" y="1990130"/>
            <a:ext cx="171660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竞争优势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62351" y="2221855"/>
            <a:ext cx="171660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差异化卖点+战略控制点+客户感知差异化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9200" y="1844129"/>
            <a:ext cx="1936849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699200" y="1853654"/>
            <a:ext cx="1936849" cy="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6151" y="1990130"/>
            <a:ext cx="171660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盈利模式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26151" y="2221855"/>
            <a:ext cx="171660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确保可持续高毛利，毛利率一定要高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2767905"/>
            <a:ext cx="3987850" cy="733276"/>
          </a:xfrm>
          <a:prstGeom prst="roundRect">
            <a:avLst>
              <a:gd name="adj" fmla="val 10392"/>
            </a:avLst>
          </a:prstGeom>
          <a:solidFill>
            <a:srgbClr val="FF6B6B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27000" y="2767905"/>
            <a:ext cx="0" cy="7332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001" y="2894856"/>
            <a:ext cx="376976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警惕：成长阶段"流程陷阱"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3001" y="3107531"/>
            <a:ext cx="376976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前一阶段的成功流程会成为下一阶段的阻碍。早期灵活→成长期需要标准化→成熟期需要精细化。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8200" y="2767905"/>
            <a:ext cx="3987850" cy="733276"/>
          </a:xfrm>
          <a:prstGeom prst="roundRect">
            <a:avLst>
              <a:gd name="adj" fmla="val 10392"/>
            </a:avLst>
          </a:prstGeom>
          <a:solidFill>
            <a:srgbClr val="7DE545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67250" y="2767905"/>
            <a:ext cx="0" cy="73327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3250" y="2894856"/>
            <a:ext cx="376976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PPT 动态校准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13250" y="3107531"/>
            <a:ext cx="376976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每个阶段PPT三支柱需重新校准：拓荒型人才→规模化人才；灵活流程→标准化流程；MVP→系统化平台。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06625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1100" kern="0" spc="3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执行难点突破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381000" y="2165300"/>
            <a:ext cx="990600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快速验证 · 战略定力 · 组织承载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866876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最容易理解，却最难做到的三件事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91000" y="3298627"/>
            <a:ext cx="762000" cy="38100"/>
          </a:xfrm>
          <a:prstGeom prst="rect">
            <a:avLst/>
          </a:prstGeom>
          <a:solidFill>
            <a:srgbClr val="FF6B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原则③  难点一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闭环：快速迭代验证商业闭环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1911400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8326" y="1260277"/>
            <a:ext cx="1690649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样本量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8326" y="1615827"/>
            <a:ext cx="169064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不少于10个有代表性的目标客户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46300" y="1133326"/>
            <a:ext cx="1911400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56676" y="1260277"/>
            <a:ext cx="1690649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命中率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6676" y="1615827"/>
            <a:ext cx="169064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联合创新100%，其他客户70%+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031653"/>
            <a:ext cx="3949750" cy="771376"/>
          </a:xfrm>
          <a:prstGeom prst="roundRect">
            <a:avLst>
              <a:gd name="adj" fmla="val 9878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7942" y="2158603"/>
            <a:ext cx="3769766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销售效率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7942" y="2514154"/>
            <a:ext cx="376976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销售周期验证商业价值吸引力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929979"/>
            <a:ext cx="3949750" cy="717500"/>
          </a:xfrm>
          <a:prstGeom prst="roundRect">
            <a:avLst>
              <a:gd name="adj" fmla="val 14160"/>
            </a:avLst>
          </a:prstGeom>
          <a:solidFill>
            <a:srgbClr val="7DE545">
              <a:alpha val="10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875" y="3091904"/>
            <a:ext cx="369841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快速成功或快速失败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9875" y="3323630"/>
            <a:ext cx="369841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不追求完美，形成结论性意见，及时止损，坚决执行。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6300" y="1133326"/>
            <a:ext cx="3949750" cy="1167408"/>
          </a:xfrm>
          <a:prstGeom prst="roundRect">
            <a:avLst>
              <a:gd name="adj" fmla="val 652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1133326"/>
            <a:ext cx="0" cy="1167408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1350" y="1260277"/>
            <a:ext cx="37309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端到端视角审视所有站点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1350" y="1482477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销售 → 产品 → 交付 → 服务，从客户场景中来，到客户场景中去。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2427684"/>
            <a:ext cx="3949750" cy="1167557"/>
          </a:xfrm>
          <a:prstGeom prst="roundRect">
            <a:avLst>
              <a:gd name="adj" fmla="val 652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2427684"/>
            <a:ext cx="0" cy="1167557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1350" y="2554635"/>
            <a:ext cx="37309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价值兑现 &gt; 卖给客户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1350" y="2776835"/>
            <a:ext cx="373090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关注产品在客户场景中是否真正解决了痛点，而非仅仅看能不能卖出去。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6300" y="3722191"/>
            <a:ext cx="3949750" cy="1167408"/>
          </a:xfrm>
          <a:prstGeom prst="roundRect">
            <a:avLst>
              <a:gd name="adj" fmla="val 6527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3722191"/>
            <a:ext cx="0" cy="1167408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1350" y="3849142"/>
            <a:ext cx="373090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 深度洞察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4071342"/>
            <a:ext cx="3730904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三个指标对应RPP三层的量化验证：样本量→优先事项层，命中率→流程层，销售效率→资源层。"快速失败"的真正阻力是组织优先事项的隐性排斥。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977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原则④  难点二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定力：战略方向坚定，阶段目标柔性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3949750" cy="1247775"/>
          </a:xfrm>
          <a:prstGeom prst="roundRect">
            <a:avLst>
              <a:gd name="adj" fmla="val 6107"/>
            </a:avLst>
          </a:prstGeom>
          <a:solidFill>
            <a:srgbClr val="7DE545">
              <a:alpha val="8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875" y="1295251"/>
            <a:ext cx="369841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定力：在更高层面遵从战略大方向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9875" y="1571476"/>
            <a:ext cx="3625900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战略大方向 = 终局目标，共识后执行要坚决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聚焦"信号"，过滤"噪声"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偶发机会要分析是否在主航道上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孤立事件或非战略选择，敢于放弃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508052"/>
            <a:ext cx="3949750" cy="1247775"/>
          </a:xfrm>
          <a:prstGeom prst="roundRect">
            <a:avLst>
              <a:gd name="adj" fmla="val 6107"/>
            </a:avLst>
          </a:prstGeom>
          <a:solidFill>
            <a:srgbClr val="4DABF7">
              <a:alpha val="8000"/>
            </a:srgbClr>
          </a:solidFill>
          <a:ln w="9525">
            <a:solidFill>
              <a:srgbClr val="4DAB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2669977"/>
            <a:ext cx="369841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柔性：战术层面的灵活调适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2946202"/>
            <a:ext cx="3625900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开放对待战术性机会，纳入战略大方向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短期目标服从长期目标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审时度势、顺势而为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不偏离方向的前提下敏捷/稳健切换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6300" y="1133326"/>
            <a:ext cx="3949750" cy="1276350"/>
          </a:xfrm>
          <a:prstGeom prst="roundRect">
            <a:avLst>
              <a:gd name="adj" fmla="val 5970"/>
            </a:avLst>
          </a:prstGeom>
          <a:solidFill>
            <a:srgbClr val="FF6B6B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05350" y="1133326"/>
            <a:ext cx="0" cy="127635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1285726"/>
            <a:ext cx="3678987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为什么保持定力这么难？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6800" y="1533376"/>
            <a:ext cx="3678987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克里斯坦森：组织的流程和优先事项一旦为当前业务优化到极致，就会</a:t>
            </a: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自动排斥</a:t>
            </a: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任何需要不同流程/优先事项的新方向。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6800" y="1933426"/>
            <a:ext cx="3678987" cy="323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这意味着"定力"不只是管理意志的问题，更是</a:t>
            </a: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组织系统层面的挑战</a:t>
            </a: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。有时需要组织架构的创新来守护战略方向。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2536627"/>
            <a:ext cx="3949750" cy="733276"/>
          </a:xfrm>
          <a:prstGeom prst="roundRect">
            <a:avLst>
              <a:gd name="adj" fmla="val 10392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3250" y="2663577"/>
            <a:ext cx="376976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经典案例：惠普喷墨打印机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3250" y="2876252"/>
            <a:ext cx="376976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惠普没有将喷墨打印机整合进激光打印机部门，而是创建独立单元。如果合并，激光打印机的高毛利优先事项会自动将喷墨打印机边缘化。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原则⑤⑥  市场突破与价值赢取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压强+杠杆+客户体验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3949750" cy="1158776"/>
          </a:xfrm>
          <a:prstGeom prst="roundRect">
            <a:avLst>
              <a:gd name="adj" fmla="val 657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1260277"/>
            <a:ext cx="37178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原则⑤ 路径：足够的压强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0350" y="1517452"/>
            <a:ext cx="3644950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资源集中投入，承担经过计算后的风险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端到端推广目标、策略和资源配置方案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聚焦重点行业、客群、市场，打穿打透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必要情况资源垂直拉通管理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393603"/>
            <a:ext cx="3949750" cy="1158776"/>
          </a:xfrm>
          <a:prstGeom prst="roundRect">
            <a:avLst>
              <a:gd name="adj" fmla="val 657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2393603"/>
            <a:ext cx="0" cy="1158776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450" y="2520553"/>
            <a:ext cx="367898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高杠杆策略四要素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450" y="2777728"/>
            <a:ext cx="3606850" cy="64770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找准"痛点"客户，针尖策略突破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突破标杆客户，形成带动效应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锁定高切换成本客户，规模+范围效应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围绕渠道价值驱动力设计销售策略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86300" y="1133326"/>
            <a:ext cx="3949750" cy="1320701"/>
          </a:xfrm>
          <a:prstGeom prst="roundRect">
            <a:avLst>
              <a:gd name="adj" fmla="val 577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05350" y="1133326"/>
            <a:ext cx="0" cy="1320701"/>
          </a:xfrm>
          <a:prstGeom prst="line">
            <a:avLst/>
          </a:prstGeom>
          <a:noFill/>
          <a:ln w="38100">
            <a:solidFill>
              <a:srgbClr val="FFA9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0" y="1260277"/>
            <a:ext cx="367898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A9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原则⑥ 赢取：极度关注客户体验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6800" y="1517452"/>
            <a:ext cx="3606850" cy="809625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客户体验好 = 真正兑现价值，保留客户 &gt; 获取客户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在客户最痛的价值点上创造惊喜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多渠道实时倾听客户声音，鼓励反馈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核心人员走到客户中去，增加客户界面投资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站在客户视角代入体验自己的产品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2580977"/>
            <a:ext cx="3949750" cy="733276"/>
          </a:xfrm>
          <a:prstGeom prst="roundRect">
            <a:avLst>
              <a:gd name="adj" fmla="val 10392"/>
            </a:avLst>
          </a:prstGeom>
          <a:solidFill>
            <a:srgbClr val="7DE545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3250" y="2707928"/>
            <a:ext cx="376976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框架视角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3250" y="2920603"/>
            <a:ext cx="376976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压强不只是资源数量，更是资源×流程×优先事项的</a:t>
            </a:r>
            <a:r>
              <a:rPr lang="en-US" sz="800" b="1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乘积效应</a:t>
            </a: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。高杠杆需要技术作支点，流程作杠杆臂。客户体验是PPT三支柱（人+流程+技术）的</a:t>
            </a:r>
            <a:r>
              <a:rPr lang="en-US" sz="800" b="1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共同结果</a:t>
            </a: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17762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1100" kern="0" spc="3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原则⑦  核心高潮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381000" y="1976438"/>
            <a:ext cx="990600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组织承载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678013"/>
            <a:ext cx="77724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组织能力（人、流程、架构、文化）和战略匹配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3103364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用组织的结构力，降低人才的门槛，摆脱对特定个体能力的依赖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91000" y="3487489"/>
            <a:ext cx="762000" cy="3810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原则⑦  四个维度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组织能力的构成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8128099" cy="787152"/>
          </a:xfrm>
          <a:prstGeom prst="roundRect">
            <a:avLst>
              <a:gd name="adj" fmla="val 12907"/>
            </a:avLst>
          </a:prstGeom>
          <a:solidFill>
            <a:srgbClr val="7DE545">
              <a:alpha val="10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6075" y="1320552"/>
            <a:ext cx="780488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核心理念：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在赋能业务的过程中赋能组织，承载战略。组织能力建设要在战略开始阶段就考虑。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6075" y="1571327"/>
            <a:ext cx="780488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098179"/>
            <a:ext cx="1917650" cy="1219200"/>
          </a:xfrm>
          <a:prstGeom prst="roundRect">
            <a:avLst>
              <a:gd name="adj" fmla="val 62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2117229"/>
            <a:ext cx="1917650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2288679"/>
            <a:ext cx="164510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0350" y="2593479"/>
            <a:ext cx="164510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对应PPT框架：People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0350" y="2764929"/>
            <a:ext cx="1645107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选对人才能做对事。选拔能带来结构性改变的商业领袖和领军人才，BG和产线主管要有企业家精神。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78001" y="2098179"/>
            <a:ext cx="1917799" cy="1219200"/>
          </a:xfrm>
          <a:prstGeom prst="roundRect">
            <a:avLst>
              <a:gd name="adj" fmla="val 62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78001" y="2117229"/>
            <a:ext cx="1917799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0401" y="2288679"/>
            <a:ext cx="164525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0401" y="2593479"/>
            <a:ext cx="164525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对应PPT框架：Process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30401" y="2764929"/>
            <a:ext cx="1645259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沉淀典型场景最佳实践，例外转为例行。简单高效、端到端。赋能员工不僵化执行。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8200" y="2098179"/>
            <a:ext cx="1917650" cy="1219200"/>
          </a:xfrm>
          <a:prstGeom prst="roundRect">
            <a:avLst>
              <a:gd name="adj" fmla="val 62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8200" y="2117229"/>
            <a:ext cx="1917650" cy="0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288679"/>
            <a:ext cx="164510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593479"/>
            <a:ext cx="164510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组织结构的适配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764929"/>
            <a:ext cx="1645107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基于战略判断是否设组织，基于业务流判断如何设组织。流程调用组织，组织适配流程。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18250" y="2098179"/>
            <a:ext cx="1917799" cy="1219200"/>
          </a:xfrm>
          <a:prstGeom prst="roundRect">
            <a:avLst>
              <a:gd name="adj" fmla="val 625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18250" y="2117229"/>
            <a:ext cx="1917799" cy="0"/>
          </a:xfrm>
          <a:prstGeom prst="line">
            <a:avLst/>
          </a:prstGeom>
          <a:noFill/>
          <a:ln w="38100">
            <a:solidFill>
              <a:srgbClr val="977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0650" y="2288679"/>
            <a:ext cx="164525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77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0650" y="2593479"/>
            <a:ext cx="164525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对应RPP：Priorities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0650" y="2764929"/>
            <a:ext cx="1645259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战略认同与共识，统一精神意志。填补流程和制度建设滞后的管理缺失。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950" y="3469779"/>
            <a:ext cx="8128099" cy="387251"/>
          </a:xfrm>
          <a:prstGeom prst="roundRect">
            <a:avLst>
              <a:gd name="adj" fmla="val 19677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4901" y="3596729"/>
            <a:ext cx="803168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PPT框架（人+流程+技术）是执行落地的基础框架，技术融入流程中赋能人。原则⑦在PPT基础上增加了</a:t>
            </a:r>
            <a:r>
              <a:rPr lang="en-US" sz="800" b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</a:t>
            </a: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（组织如何编排）和</a:t>
            </a:r>
            <a:r>
              <a:rPr lang="en-US" sz="800" b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文化</a:t>
            </a: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（深层价值观）两个维度。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原则⑦  详解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人与流程：执行力的基础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3962400" cy="3756273"/>
          </a:xfrm>
          <a:prstGeom prst="roundRect">
            <a:avLst>
              <a:gd name="adj" fmla="val 2029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133326"/>
            <a:ext cx="0" cy="3756273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285726"/>
            <a:ext cx="36918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 People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8450" y="1587252"/>
            <a:ext cx="3619500" cy="809625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选对人，才能做对事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承载战略的关键岗位用人不能"随意"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选拔能带来结构性改变的商业领袖和领军人才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BG和产线主管要有企业家精神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敢于突破自我、干难事的胆识和勇气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8450" y="2498378"/>
            <a:ext cx="369189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800" i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对应RPP：Resources（资源层）——最可见、最易改变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73501" y="1133326"/>
            <a:ext cx="3962549" cy="3756273"/>
          </a:xfrm>
          <a:prstGeom prst="roundRect">
            <a:avLst>
              <a:gd name="adj" fmla="val 2029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92551" y="1133326"/>
            <a:ext cx="0" cy="3756273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001" y="1285726"/>
            <a:ext cx="36920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 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001" y="1587252"/>
            <a:ext cx="3619649" cy="97155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沉淀典型场景下的最佳实践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不断将"例外"转化为"例行"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形成简单、高效、端到端的业务流程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赋能员工有秩序地开展工作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结果导向，发挥主观能动性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不僵化地执行流程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001" y="2660303"/>
            <a:ext cx="36920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800" i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对应RPP：Processes（流程层）——隐性嵌入、改变较难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原则⑦  详解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架构与文化：组织能力的深层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3962400" cy="3756273"/>
          </a:xfrm>
          <a:prstGeom prst="roundRect">
            <a:avLst>
              <a:gd name="adj" fmla="val 2029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133326"/>
            <a:ext cx="0" cy="3756273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285726"/>
            <a:ext cx="369189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8450" y="1587252"/>
            <a:ext cx="3619500" cy="809625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业务流顺畅是评价架构有效性的依据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基于战略判断是否设置组织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基于业务流判断如何设置组织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组织是执行业务流的能力中心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流程调用组织，组织适配流程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8450" y="2498378"/>
            <a:ext cx="369189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800" i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架构决定了人和流程能否有效协同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73501" y="1133326"/>
            <a:ext cx="3962549" cy="3756273"/>
          </a:xfrm>
          <a:prstGeom prst="roundRect">
            <a:avLst>
              <a:gd name="adj" fmla="val 2029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92551" y="1133326"/>
            <a:ext cx="0" cy="3756273"/>
          </a:xfrm>
          <a:prstGeom prst="line">
            <a:avLst/>
          </a:prstGeom>
          <a:noFill/>
          <a:ln w="38100">
            <a:solidFill>
              <a:srgbClr val="977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001" y="1285726"/>
            <a:ext cx="36920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77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文化 Culture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001" y="1587252"/>
            <a:ext cx="3619649" cy="971550"/>
          </a:xfrm>
          <a:prstGeom prst="rect">
            <a:avLst/>
          </a:prstGeom>
          <a:noFill/>
        </p:spPr>
        <p:txBody>
          <a:bodyPr wrap="square" lIns="88900" tIns="0" rIns="0" bIns="0" rtlCol="0" anchor="t"/>
          <a:lstStyle/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战略沟通和战略分解，让员工理解方向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将战略与个人工作有效关联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化解和消除战略执行中的疑虑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营造战略认同和共识的组织氛围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形成统一的精神意志和行动</a:t>
            </a:r>
            <a:endParaRPr lang="en-US" sz="900" dirty="0"/>
          </a:p>
          <a:p>
            <a:pPr marL="88900" indent="-88900" algn="l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填补流程和制度建设滞后的管理缺失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001" y="2660303"/>
            <a:ext cx="36920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800" i="1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对应RPP：Priorities（优先事项）——最难改变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原则⑦  匹配战略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61826"/>
            <a:ext cx="1056652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组织能力建设的节奏与原则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133326"/>
            <a:ext cx="8128099" cy="717352"/>
          </a:xfrm>
          <a:prstGeom prst="roundRect">
            <a:avLst>
              <a:gd name="adj" fmla="val 14163"/>
            </a:avLst>
          </a:prstGeom>
          <a:solidFill>
            <a:srgbClr val="7DE545">
              <a:alpha val="8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320552"/>
            <a:ext cx="790872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匹配战略：</a:t>
            </a: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组织能力建设是一个不断开放边界、动态调整的过程。客户和市场在哪里，组织能力就构建在哪里。新的战略一定会带来组织能力的变化和资源配置的问题。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977628"/>
            <a:ext cx="2624733" cy="2369195"/>
          </a:xfrm>
          <a:prstGeom prst="roundRect">
            <a:avLst>
              <a:gd name="adj" fmla="val 321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996678"/>
            <a:ext cx="2624733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1192" y="2919264"/>
            <a:ext cx="24182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前瞻布局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1192" y="3176439"/>
            <a:ext cx="241824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在战略开始阶段就考虑人、流程、架构、文化，而不是等业务跑起来再补组织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9634" y="1977628"/>
            <a:ext cx="2624733" cy="2369195"/>
          </a:xfrm>
          <a:prstGeom prst="roundRect">
            <a:avLst>
              <a:gd name="adj" fmla="val 321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9634" y="1996678"/>
            <a:ext cx="2624733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2876" y="2919264"/>
            <a:ext cx="24182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循序渐进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2876" y="3176439"/>
            <a:ext cx="241824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与战略节奏相适配，不能失速也不能过速，追求效用最大化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11317" y="1977628"/>
            <a:ext cx="2624733" cy="2369195"/>
          </a:xfrm>
          <a:prstGeom prst="roundRect">
            <a:avLst>
              <a:gd name="adj" fmla="val 321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1317" y="1996678"/>
            <a:ext cx="2624733" cy="0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4559" y="2919264"/>
            <a:ext cx="24182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动态调整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14559" y="3176439"/>
            <a:ext cx="2418249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不断开放边界，持续进行"破"和"立"，根据业务发展调整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4473773"/>
            <a:ext cx="8128099" cy="415826"/>
          </a:xfrm>
          <a:prstGeom prst="roundRect">
            <a:avLst>
              <a:gd name="adj" fmla="val 18325"/>
            </a:avLst>
          </a:prstGeom>
          <a:solidFill>
            <a:srgbClr val="FFFFFF">
              <a:alpha val="4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4600724"/>
            <a:ext cx="803168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改变难度对比（与RPP一致）：人（较易）→ 流程（较难）→ 架构（难）→ 文化（最难）。越底层的改变需要越长的周期和越强的决心。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200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50" y="587276"/>
            <a:ext cx="10566529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41227"/>
            <a:ext cx="8128099" cy="1028700"/>
          </a:xfrm>
          <a:prstGeom prst="roundRect">
            <a:avLst>
              <a:gd name="adj" fmla="val 12346"/>
            </a:avLst>
          </a:prstGeom>
          <a:solidFill>
            <a:srgbClr val="7DE545">
              <a:alpha val="8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005" y="1479352"/>
            <a:ext cx="749399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战略到执行 = 对齐优先事项(RPP) + 落地PPT三支柱 + 组织四维度匹配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5005" y="1860352"/>
            <a:ext cx="749399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选对方向(①)，走对路径(②⑤)，快速验证(③)，交付价值(⑥)，保持定力(④)，组织承载(⑦)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2473077"/>
            <a:ext cx="2607766" cy="2314873"/>
          </a:xfrm>
          <a:prstGeom prst="roundRect">
            <a:avLst>
              <a:gd name="adj" fmla="val 3292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2492127"/>
            <a:ext cx="2607766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21" y="3400276"/>
            <a:ext cx="234902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RPP：诊断能力瓶颈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7321" y="3632002"/>
            <a:ext cx="234902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 → 流程 → 优先事项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回答"为什么执行会失败"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68117" y="2473077"/>
            <a:ext cx="2607766" cy="2314873"/>
          </a:xfrm>
          <a:prstGeom prst="roundRect">
            <a:avLst>
              <a:gd name="adj" fmla="val 3292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68117" y="2492127"/>
            <a:ext cx="2607766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7487" y="3400276"/>
            <a:ext cx="234902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PPT：落地执行框架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97487" y="3632002"/>
            <a:ext cx="234902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 + 流程 + 技术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三支柱协同，缺一则失效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28283" y="2473077"/>
            <a:ext cx="2607766" cy="2314873"/>
          </a:xfrm>
          <a:prstGeom prst="roundRect">
            <a:avLst>
              <a:gd name="adj" fmla="val 3292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28283" y="2492127"/>
            <a:ext cx="2607766" cy="0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7654" y="3400276"/>
            <a:ext cx="234902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DABF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⑦组织：四维承载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7654" y="3632002"/>
            <a:ext cx="234902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 + 流程 + 架构 + 文化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用结构力降低人才门槛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7950" y="2057202"/>
            <a:ext cx="8128099" cy="1028700"/>
          </a:xfrm>
          <a:prstGeom prst="roundRect">
            <a:avLst>
              <a:gd name="adj" fmla="val 12346"/>
            </a:avLst>
          </a:prstGeom>
          <a:solidFill>
            <a:srgbClr val="7DE545">
              <a:alpha val="8000"/>
            </a:srgbClr>
          </a:solidFill>
          <a:ln w="9525">
            <a:solidFill>
              <a:srgbClr val="7DE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885" y="2181225"/>
            <a:ext cx="7616190" cy="781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永远不要停止成长</a:t>
            </a:r>
            <a:endParaRPr lang="zh-CN" altLang="en-US" sz="4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2968" y="1574899"/>
            <a:ext cx="279806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100" kern="0" spc="3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1981200"/>
            <a:ext cx="859536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从战略到执行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91000" y="2793950"/>
            <a:ext cx="762000" cy="3810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72968" y="3035201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选对方向，走对路径，快速验证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2968" y="3340001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交付价值，保持定力，组织承载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7DE54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4086</Words>
  <Application>WPS 演示</Application>
  <PresentationFormat>On-screen Show (16:9)</PresentationFormat>
  <Paragraphs>513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从战略到执行</dc:title>
  <dc:creator>CIO Training</dc:creator>
  <dc:subject>PptxGenJS Presentation</dc:subject>
  <cp:lastModifiedBy>Captain</cp:lastModifiedBy>
  <cp:revision>3</cp:revision>
  <dcterms:created xsi:type="dcterms:W3CDTF">2026-03-30T10:08:00Z</dcterms:created>
  <dcterms:modified xsi:type="dcterms:W3CDTF">2026-03-30T10:50:43Z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7CED9DB45A94437DA77EEBEAEDD6CACD_12</vt:lpwstr>
  </property>
</Properties>
</file>