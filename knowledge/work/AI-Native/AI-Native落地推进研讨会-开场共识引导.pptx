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【19:00 开场 1分钟】</a:t>
            </a:r>
          </a:p>
          <a:p/>
          <a:p>
            <a:r>
              <a:t>欢迎各位参加AI-Native落地推进研讨会。</a:t>
            </a:r>
          </a:p>
          <a:p/>
          <a:p>
            <a:r>
              <a:t>参会产线：无线、交换机、NMC、会议主机、IPSIP、硬件。</a:t>
            </a:r>
          </a:p>
          <a:p/>
          <a:p>
            <a:r>
              <a:t>今天不是汇报会，是解题会。接下来2.5小时，集中解决三件事：障碍对齐、目标拆解、建立检视机制。</a:t>
            </a:r>
          </a:p>
          <a:p/>
          <a:p>
            <a:r>
              <a:t>先花15分钟统一方法论和共识，然后进入各环节。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【19:01-19:02 议程总览 1分钟】</a:t>
            </a:r>
          </a:p>
          <a:p/>
          <a:p>
            <a:r>
              <a:t>快速过一下今天的议程和时间安排，让大家心里有数。</a:t>
            </a:r>
          </a:p>
          <a:p/>
          <a:p>
            <a:r>
              <a:t>四个板块：</a:t>
            </a:r>
          </a:p>
          <a:p>
            <a:r>
              <a:t>1. 开场共识 15分钟 — 统一方法论</a:t>
            </a:r>
          </a:p>
          <a:p>
            <a:r>
              <a:t>2. 障碍对齐 40分钟 — 各产线TOP3障碍</a:t>
            </a:r>
          </a:p>
          <a:p>
            <a:r>
              <a:t>3. 休息10分钟</a:t>
            </a:r>
          </a:p>
          <a:p>
            <a:r>
              <a:t>4. 目标拆解 50分钟 — SMART验证+行动项</a:t>
            </a:r>
          </a:p>
          <a:p>
            <a:r>
              <a:t>5. 衡量与共识 35分钟 — 衡量标准+检视机制+收尾</a:t>
            </a:r>
          </a:p>
          <a:p/>
          <a:p>
            <a:r>
              <a:t>19:00准时开始，21:30结束。每个环节我会严格控时。</a:t>
            </a:r>
          </a:p>
          <a:p/>
          <a:p>
            <a:r>
              <a:t>底部强调：解题会，不是汇报会。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【19:02-19:05 引导要点】</a:t>
            </a:r>
          </a:p>
          <a:p/>
          <a:p>
            <a:r>
              <a:t>先说下为什么今天要开这个会。</a:t>
            </a:r>
          </a:p>
          <a:p/>
          <a:p>
            <a:r>
              <a:t>左边已完成的工作——各产线有OKR、有里程碑、有对齐报告，基础打得不错。</a:t>
            </a:r>
          </a:p>
          <a:p/>
          <a:p>
            <a:r>
              <a:t>但右边三个问题普遍存在：</a:t>
            </a:r>
          </a:p>
          <a:p>
            <a:r>
              <a:t>1. 障碍卡住了，没有系统性解决</a:t>
            </a:r>
          </a:p>
          <a:p>
            <a:r>
              <a:t>2. 目标太大太远，不知道下一步干什么</a:t>
            </a:r>
          </a:p>
          <a:p>
            <a:r>
              <a:t>3. 做了一堆事，不知道做得怎样</a:t>
            </a:r>
          </a:p>
          <a:p/>
          <a:p>
            <a:r>
              <a:t>今天的核心就是解决这三个问题。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【19:05-19:07 引导要点】</a:t>
            </a:r>
          </a:p>
          <a:p/>
          <a:p>
            <a:r>
              <a:t>已有战略层方法论RPP+PPT，不重复讨论。</a:t>
            </a:r>
          </a:p>
          <a:p/>
          <a:p>
            <a:r>
              <a:t>今天引入执行层方法论——PGSAR闭环和SMART原则。</a:t>
            </a:r>
          </a:p>
          <a:p>
            <a:r>
              <a:t>- PGSAR解决"具体做什么、怎么衡量、怎么纠偏"</a:t>
            </a:r>
          </a:p>
          <a:p>
            <a:r>
              <a:t>- SMART是目标质量检查工具</a:t>
            </a:r>
          </a:p>
          <a:p/>
          <a:p>
            <a:r>
              <a:t>大家不需要记住术语，理解核心思路：大目标拆成小目标，能衡量，定期检视。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【19:07-19:10 引导要点】</a:t>
            </a:r>
          </a:p>
          <a:p/>
          <a:p>
            <a:r>
              <a:t>PGSAR五步循环：</a:t>
            </a:r>
          </a:p>
          <a:p>
            <a:r>
              <a:t>P-Plan：检视计划</a:t>
            </a:r>
          </a:p>
          <a:p>
            <a:r>
              <a:t>G-Goal：SMART拆解</a:t>
            </a:r>
          </a:p>
          <a:p>
            <a:r>
              <a:t>S-Standard：定义衡量标准</a:t>
            </a:r>
          </a:p>
          <a:p>
            <a:r>
              <a:t>A-Action：明确行动、责任人、时间</a:t>
            </a:r>
          </a:p>
          <a:p>
            <a:r>
              <a:t>R-Review：定期检视，红黄绿灯纠偏</a:t>
            </a:r>
          </a:p>
          <a:p/>
          <a:p>
            <a:r>
              <a:t>底部三个色块是今天研讨会的对应位置。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【19:10-19:12 引导要点】</a:t>
            </a:r>
          </a:p>
          <a:p/>
          <a:p>
            <a:r>
              <a:t>SMART五维验证，重点讲信心指数：</a:t>
            </a:r>
          </a:p>
          <a:p>
            <a:r>
              <a:t>- ≥8分：直接拆行动</a:t>
            </a:r>
          </a:p>
          <a:p>
            <a:r>
              <a:t>- 5-7分：有风险，讨论卡在哪</a:t>
            </a:r>
          </a:p>
          <a:p>
            <a:r>
              <a:t>- &lt;5分：必须重新定义</a:t>
            </a:r>
          </a:p>
          <a:p/>
          <a:p>
            <a:r>
              <a:t>等下各产线都要打信心指数。低分不可怕，说明你知道卡在哪。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【19:12-19:13 引导要点】</a:t>
            </a:r>
          </a:p>
          <a:p/>
          <a:p>
            <a:r>
              <a:t>今天三个产出：</a:t>
            </a:r>
          </a:p>
          <a:p>
            <a:r>
              <a:t>1. 障碍清单</a:t>
            </a:r>
          </a:p>
          <a:p>
            <a:r>
              <a:t>2. 目标拆解</a:t>
            </a:r>
          </a:p>
          <a:p>
            <a:r>
              <a:t>3. 检视机制</a:t>
            </a:r>
          </a:p>
          <a:p/>
          <a:p>
            <a:r>
              <a:t>确保不是"开了等于没开"。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【19:13-19:15 引导要点】</a:t>
            </a:r>
          </a:p>
          <a:p/>
          <a:p>
            <a:r>
              <a:t>确认5条共识，逐条问是否有异议。全部确认后进入环节一。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【19:15 环节切换】</a:t>
            </a:r>
          </a:p>
          <a:p/>
          <a:p>
            <a:r>
              <a:t>进入环节一：障碍对齐。19:15-19:55，40分钟。</a:t>
            </a:r>
          </a:p>
          <a:p/>
          <a:p>
            <a:r>
              <a:t>5个产线轮流讲TOP3障碍，每产线5分钟，最后10分钟做共性障碍聚类。</a:t>
            </a:r>
          </a:p>
          <a:p/>
          <a:p>
            <a:r>
              <a:t>6个产线：无线、交换机、NMC、会议主机、IPSIP、硬件。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【19:15-19:16 规则说明 1分钟】</a:t>
            </a:r>
          </a:p>
          <a:p/>
          <a:p>
            <a:r>
              <a:t>规则：每产线5-6分钟，讲TOP3障碍。我现场分类。其他产线不展开讨论。</a:t>
            </a:r>
          </a:p>
          <a:p/>
          <a:p>
            <a:r>
              <a:t>时间分配：6产线×5分钟 + 聚类10分钟 = 40分钟。</a:t>
            </a:r>
          </a:p>
          <a:p/>
          <a:p>
            <a:r>
              <a:t>注意控制时间，超时要打断。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【分类参考 投屏展示】</a:t>
            </a:r>
          </a:p>
          <a:p/>
          <a:p>
            <a:r>
              <a:t>ABCDE五类分类框架。注意标注跨产线共性障碍，E类留到环节二解决。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【20:05 环节切换】</a:t>
            </a:r>
          </a:p>
          <a:p/>
          <a:p>
            <a:r>
              <a:t>进入环节二：目标拆解。20:05-20:55，50分钟。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【20:05-20:07 时间说明 2分钟】</a:t>
            </a:r>
          </a:p>
          <a:p/>
          <a:p>
            <a:r>
              <a:t>6个产线严格按时间表来，每产线7分钟。</a:t>
            </a:r>
          </a:p>
          <a:p/>
          <a:p>
            <a:r>
              <a:t>节奏：</a:t>
            </a:r>
          </a:p>
          <a:p>
            <a:r>
              <a:t>- 20:05-20:12 无线</a:t>
            </a:r>
          </a:p>
          <a:p>
            <a:r>
              <a:t>- 20:12-20:19 交换机</a:t>
            </a:r>
          </a:p>
          <a:p>
            <a:r>
              <a:t>- 20:19-20:26 NMC</a:t>
            </a:r>
          </a:p>
          <a:p>
            <a:r>
              <a:t>- 20:26-20:33 会议主机</a:t>
            </a:r>
          </a:p>
          <a:p>
            <a:r>
              <a:t>- 20:33-20:40 IPSIP</a:t>
            </a:r>
          </a:p>
          <a:p>
            <a:r>
              <a:t>- 20:40-20:47 硬件</a:t>
            </a:r>
          </a:p>
          <a:p>
            <a:r>
              <a:t>- 20:47-20:55 缓冲</a:t>
            </a:r>
          </a:p>
          <a:p/>
          <a:p>
            <a:r>
              <a:t>7分钟分配建议：4分钟呈现 + 3分钟讨论。</a:t>
            </a:r>
          </a:p>
          <a:p>
            <a:r>
              <a:t>如果某产线提前完成，时间给缓冲区。</a:t>
            </a:r>
          </a:p>
          <a:p>
            <a:r>
              <a:t>缓冲区用于：补充讨论未完成的拆解、回答共性问题。</a:t>
            </a:r>
          </a:p>
          <a:p/>
          <a:p>
            <a:r>
              <a:t>注意：信心&lt;7的里程碑多讨论，信心高的快速过。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【环节二核心引导】</a:t>
            </a:r>
          </a:p>
          <a:p/>
          <a:p>
            <a:r>
              <a:t>引导技巧（不投屏说）：</a:t>
            </a:r>
          </a:p>
          <a:p>
            <a:r>
              <a:t>- 模糊目标 → "具体推进什么？给谁用？"</a:t>
            </a:r>
          </a:p>
          <a:p>
            <a:r>
              <a:t>- 信心5-6分 → "为什么不是8分？"</a:t>
            </a:r>
          </a:p>
          <a:p>
            <a:r>
              <a:t>- 列不出行动 → "只做一件事的话做什么？"</a:t>
            </a:r>
          </a:p>
          <a:p>
            <a:r>
              <a:t>- 没责任人 → "谁来做？"</a:t>
            </a:r>
          </a:p>
          <a:p>
            <a:r>
              <a:t>- 目标太大 → "切成两半"</a:t>
            </a:r>
          </a:p>
          <a:p/>
          <a:p>
            <a:r>
              <a:t>拆解不到位的标记"会后补充"。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【行动项规范 1-2分钟】</a:t>
            </a:r>
          </a:p>
          <a:p/>
          <a:p>
            <a:r>
              <a:t>三个规则：唯一责任人、具体交付物、可验证时间。</a:t>
            </a:r>
          </a:p>
          <a:p>
            <a:r>
              <a:t>写不出的标记会后补充。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【20:55 环节切换】</a:t>
            </a:r>
          </a:p>
          <a:p/>
          <a:p>
            <a:r>
              <a:t>进入环节三：衡量标准与共识确认。20:55-21:30，35分钟。</a:t>
            </a:r>
          </a:p>
          <a:p/>
          <a:p>
            <a:r>
              <a:t>三件事：</a:t>
            </a:r>
          </a:p>
          <a:p>
            <a:r>
              <a:t>1. 衡量标准设计 ~10分钟</a:t>
            </a:r>
          </a:p>
          <a:p>
            <a:r>
              <a:t>2. 检视节奏 + 红黄绿灯 ~10分钟</a:t>
            </a:r>
          </a:p>
          <a:p>
            <a:r>
              <a:t>3. 行动项确认 + 收尾 ~15分钟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【20:55-21:05 衡量标准 10分钟】</a:t>
            </a:r>
          </a:p>
          <a:p/>
          <a:p>
            <a:r>
              <a:t>这是环节三的核心内容，分两部分讲。</a:t>
            </a:r>
          </a:p>
          <a:p/>
          <a:p>
            <a:r>
              <a:t>前置指标（Leading）——过程中持续关注，提前预警：</a:t>
            </a:r>
          </a:p>
          <a:p>
            <a:r>
              <a:t>- 左边列了4个示例指标，不需要全部用</a:t>
            </a:r>
          </a:p>
          <a:p>
            <a:r>
              <a:t>- 每个产线选2-3个最相关的核心前置指标</a:t>
            </a:r>
          </a:p>
          <a:p>
            <a:r>
              <a:t>- 关键：能采集、能追踪、能对比</a:t>
            </a:r>
          </a:p>
          <a:p/>
          <a:p>
            <a:r>
              <a:t>滞后指标（Lagging）——阶段末衡量结果：</a:t>
            </a:r>
          </a:p>
          <a:p>
            <a:r>
              <a:t>- 3个示例，对应各产线年度OKR的KR</a:t>
            </a:r>
          </a:p>
          <a:p>
            <a:r>
              <a:t>- 季末评估用</a:t>
            </a:r>
          </a:p>
          <a:p/>
          <a:p>
            <a:r>
              <a:t>右侧是各产线核心指标确认区。</a:t>
            </a:r>
          </a:p>
          <a:p>
            <a:r>
              <a:t>引导每个产线现场确定2-3个核心前置指标，填到卡片里。</a:t>
            </a:r>
          </a:p>
          <a:p>
            <a:r>
              <a:t>可以参考示例，也可以自己定义，只要满足：能量化、能采集。</a:t>
            </a:r>
          </a:p>
          <a:p/>
          <a:p>
            <a:r>
              <a:t>如果现场来不及全部确认，先确认大方向，会后各产线补充。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【21:05-21:10 检视节奏 5分钟】</a:t>
            </a:r>
          </a:p>
          <a:p/>
          <a:p>
            <a:r>
              <a:t>建议检视节奏，请确认：</a:t>
            </a:r>
          </a:p>
          <a:p>
            <a:r>
              <a:t>- 每周：产线内部</a:t>
            </a:r>
          </a:p>
          <a:p>
            <a:r>
              <a:t>- 双周：产线间，红黄绿灯——核心机制</a:t>
            </a:r>
          </a:p>
          <a:p>
            <a:r>
              <a:t>- 每月：全体里程碑检视</a:t>
            </a:r>
          </a:p>
          <a:p>
            <a:r>
              <a:t>- 每季度：OKR评估</a:t>
            </a:r>
          </a:p>
          <a:p/>
          <a:p>
            <a:r>
              <a:t>问：有没问题？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【21:10-21:15 红黄绿灯 5分钟】</a:t>
            </a:r>
          </a:p>
          <a:p/>
          <a:p>
            <a:r>
              <a:t>三色机制说明。不能全标绿；🔴必须在下次检视前有行动。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【21:15-21:25 收尾确认 10分钟】</a:t>
            </a:r>
          </a:p>
          <a:p/>
          <a:p>
            <a:r>
              <a:t>回顾三个产出，确认行动项和会后跟进时间线。</a:t>
            </a:r>
          </a:p>
          <a:p>
            <a:r>
              <a:t>确认下次双周检视时间。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【21:25-21:30 结束语】</a:t>
            </a:r>
          </a:p>
          <a:p/>
          <a:p>
            <a:r>
              <a:t>感谢参与。关键提醒：</a:t>
            </a:r>
          </a:p>
          <a:p>
            <a:r>
              <a:t>1. 会后1周补充SMART拆解</a:t>
            </a:r>
          </a:p>
          <a:p>
            <a:r>
              <a:t>2. 两周后双周检视</a:t>
            </a:r>
          </a:p>
          <a:p>
            <a:r>
              <a:t>3. 有问题随时找我</a:t>
            </a:r>
          </a:p>
          <a:p/>
          <a:p>
            <a:r>
              <a:t>散会！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926080"/>
            <a:ext cx="1828800" cy="54864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AI-Native 落地推进研讨会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AAAAAA"/>
                </a:solidFill>
                <a:latin typeface="Microsoft YaHei"/>
              </a:defRPr>
            </a:pPr>
            <a:r>
              <a:t>对齐障碍 · 拆解目标 · 建立检视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669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88"/>
                </a:solidFill>
                <a:latin typeface="Microsoft YaHei"/>
              </a:defRPr>
            </a:pPr>
            <a:r>
              <a:t>2026年4月27日  19:00 - 21:30 ｜ 参会：无线 · 交换机 · NMC · 会议主机 · IPSIP · 硬件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33333"/>
                </a:solidFill>
                <a:latin typeface="Microsoft YaHei"/>
              </a:defRPr>
            </a:pPr>
            <a:r>
              <a:t>今日议程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0515600" cy="13716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1371600" cy="4572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16152"/>
            <a:ext cx="1371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时间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0" y="1188720"/>
            <a:ext cx="2743200" cy="4572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0" y="1216152"/>
            <a:ext cx="2743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环节</a:t>
            </a:r>
          </a:p>
        </p:txBody>
      </p:sp>
      <p:sp>
        <p:nvSpPr>
          <p:cNvPr id="9" name="Rectangle 8"/>
          <p:cNvSpPr/>
          <p:nvPr/>
        </p:nvSpPr>
        <p:spPr>
          <a:xfrm>
            <a:off x="5212080" y="1188720"/>
            <a:ext cx="4114800" cy="4572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80" y="1216152"/>
            <a:ext cx="41148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内容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509760" y="1188720"/>
            <a:ext cx="914400" cy="4572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60" y="1216152"/>
            <a:ext cx="914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时长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1691640"/>
            <a:ext cx="13716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1783080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78D4"/>
                </a:solidFill>
                <a:latin typeface="Microsoft YaHei"/>
              </a:defRPr>
            </a:pPr>
            <a:r>
              <a:t>19:00</a:t>
            </a:r>
            <a:br/>
            <a:r>
              <a:t>19:15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86000" y="1691640"/>
            <a:ext cx="27432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468880" y="1828800"/>
            <a:ext cx="2377440" cy="41148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68880" y="1856232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开场：方法论共识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212080" y="1691640"/>
            <a:ext cx="41148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94960" y="1783080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统一方法论认知，确认研讨规则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509760" y="1691640"/>
            <a:ext cx="9144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509760" y="1828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078D4"/>
                </a:solidFill>
                <a:latin typeface="Microsoft YaHei"/>
              </a:defRPr>
            </a:pPr>
            <a:r>
              <a:t>15min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2514600"/>
            <a:ext cx="1371600" cy="685800"/>
          </a:xfrm>
          <a:prstGeom prst="rect">
            <a:avLst/>
          </a:prstGeom>
          <a:solidFill>
            <a:srgbClr val="F8F8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2606040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D13438"/>
                </a:solidFill>
                <a:latin typeface="Microsoft YaHei"/>
              </a:defRPr>
            </a:pPr>
            <a:r>
              <a:t>19:15</a:t>
            </a:r>
            <a:br/>
            <a:r>
              <a:t>19:55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286000" y="2514600"/>
            <a:ext cx="2743200" cy="685800"/>
          </a:xfrm>
          <a:prstGeom prst="rect">
            <a:avLst/>
          </a:prstGeom>
          <a:solidFill>
            <a:srgbClr val="F8F8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2468880" y="2651760"/>
            <a:ext cx="2377440" cy="411480"/>
          </a:xfrm>
          <a:prstGeom prst="roundRect">
            <a:avLst/>
          </a:prstGeom>
          <a:solidFill>
            <a:srgbClr val="D13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468880" y="2679192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环节一：障碍对齐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212080" y="2514600"/>
            <a:ext cx="4114800" cy="685800"/>
          </a:xfrm>
          <a:prstGeom prst="rect">
            <a:avLst/>
          </a:prstGeom>
          <a:solidFill>
            <a:srgbClr val="F8F8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394960" y="2606040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各产线TOP3障碍呈现 + 集体诊断分类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509760" y="2514600"/>
            <a:ext cx="914400" cy="685800"/>
          </a:xfrm>
          <a:prstGeom prst="rect">
            <a:avLst/>
          </a:prstGeom>
          <a:solidFill>
            <a:srgbClr val="F8F8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509760" y="26517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D13438"/>
                </a:solidFill>
                <a:latin typeface="Microsoft YaHei"/>
              </a:defRPr>
            </a:pPr>
            <a:r>
              <a:t>40min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1520" y="3337560"/>
            <a:ext cx="13716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7240" y="3429000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666666"/>
                </a:solidFill>
                <a:latin typeface="Microsoft YaHei"/>
              </a:defRPr>
            </a:pPr>
            <a:r>
              <a:t>19:55</a:t>
            </a:r>
            <a:br/>
            <a:r>
              <a:t>20:05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286000" y="3337560"/>
            <a:ext cx="27432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468880" y="347472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  <a:latin typeface="Microsoft YaHei"/>
              </a:defRPr>
            </a:pPr>
            <a:r>
              <a:t>☕ 休息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212080" y="3337560"/>
            <a:ext cx="41148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394960" y="3429000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</a:p>
        </p:txBody>
      </p:sp>
      <p:sp>
        <p:nvSpPr>
          <p:cNvPr id="37" name="Rectangle 36"/>
          <p:cNvSpPr/>
          <p:nvPr/>
        </p:nvSpPr>
        <p:spPr>
          <a:xfrm>
            <a:off x="9509760" y="3337560"/>
            <a:ext cx="9144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509760" y="34747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666666"/>
                </a:solidFill>
                <a:latin typeface="Microsoft YaHei"/>
              </a:defRPr>
            </a:pPr>
            <a:r>
              <a:t>10min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31520" y="4160520"/>
            <a:ext cx="1371600" cy="685800"/>
          </a:xfrm>
          <a:prstGeom prst="rect">
            <a:avLst/>
          </a:prstGeom>
          <a:solidFill>
            <a:srgbClr val="F8F8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77240" y="4251960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D83B01"/>
                </a:solidFill>
                <a:latin typeface="Microsoft YaHei"/>
              </a:defRPr>
            </a:pPr>
            <a:r>
              <a:t>20:05</a:t>
            </a:r>
            <a:br/>
            <a:r>
              <a:t>20:55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286000" y="4160520"/>
            <a:ext cx="2743200" cy="685800"/>
          </a:xfrm>
          <a:prstGeom prst="rect">
            <a:avLst/>
          </a:prstGeom>
          <a:solidFill>
            <a:srgbClr val="F8F8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2468880" y="4297680"/>
            <a:ext cx="2377440" cy="411480"/>
          </a:xfrm>
          <a:prstGeom prst="roundRect">
            <a:avLst/>
          </a:prstGeom>
          <a:solidFill>
            <a:srgbClr val="D83B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468880" y="4325112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环节二：目标拆解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212080" y="4160520"/>
            <a:ext cx="4114800" cy="685800"/>
          </a:xfrm>
          <a:prstGeom prst="rect">
            <a:avLst/>
          </a:prstGeom>
          <a:solidFill>
            <a:srgbClr val="F8F8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394960" y="4251960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近期里程碑SMART验证 + 具体行动项拆解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509760" y="4160520"/>
            <a:ext cx="914400" cy="685800"/>
          </a:xfrm>
          <a:prstGeom prst="rect">
            <a:avLst/>
          </a:prstGeom>
          <a:solidFill>
            <a:srgbClr val="F8F8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509760" y="42976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D83B01"/>
                </a:solidFill>
                <a:latin typeface="Microsoft YaHei"/>
              </a:defRPr>
            </a:pPr>
            <a:r>
              <a:t>50min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31520" y="4983480"/>
            <a:ext cx="13716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77240" y="5074920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07C10"/>
                </a:solidFill>
                <a:latin typeface="Microsoft YaHei"/>
              </a:defRPr>
            </a:pPr>
            <a:r>
              <a:t>20:55</a:t>
            </a:r>
            <a:br/>
            <a:r>
              <a:t>21:30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286000" y="4983480"/>
            <a:ext cx="27432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2468880" y="5120640"/>
            <a:ext cx="2377440" cy="411480"/>
          </a:xfrm>
          <a:prstGeom prst="round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468880" y="5148072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环节三：衡量与共识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212080" y="4983480"/>
            <a:ext cx="41148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394960" y="5074920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衡量标准 + 检视节奏 + 行动项确认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509760" y="4983480"/>
            <a:ext cx="9144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509760" y="512064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07C10"/>
                </a:solidFill>
                <a:latin typeface="Microsoft YaHei"/>
              </a:defRPr>
            </a:pPr>
            <a:r>
              <a:t>35min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731520" y="5943600"/>
            <a:ext cx="10515600" cy="548640"/>
          </a:xfrm>
          <a:prstGeom prst="roundRect">
            <a:avLst/>
          </a:prstGeom>
          <a:solidFill>
            <a:srgbClr val="E8F0FE"/>
          </a:solidFill>
          <a:ln w="127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14400" y="5989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78D4"/>
                </a:solidFill>
                <a:latin typeface="Microsoft YaHei"/>
              </a:defRPr>
            </a:pPr>
            <a:r>
              <a:t>参会产线：无线 · 交换机 · NMC · 会议主机 · IPSIP · 硬件 ｜ 核心原则：解题会，不是汇报会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33333"/>
                </a:solidFill>
                <a:latin typeface="Microsoft YaHei"/>
              </a:defRPr>
            </a:pPr>
            <a:r>
              <a:t>一、我们在哪：当前状态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0515600" cy="13716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07C10"/>
                </a:solidFill>
                <a:latin typeface="Microsoft YaHei"/>
              </a:defRPr>
            </a:pPr>
            <a:r>
              <a:t>✅ 已完成的工作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6459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• 各产线有年度OKR和里程碑计划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99339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• 综合管理部对齐报告（V1.2）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340864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• 共性需求已识别（统一平台、知识库、度量、流程规范）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688336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• 里程碑汇总表（V2.0）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1188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83B01"/>
                </a:solidFill>
                <a:latin typeface="Microsoft YaHei"/>
              </a:defRPr>
            </a:pPr>
            <a:r>
              <a:t>⚠️ 当前存在的问题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16916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13438"/>
                </a:solidFill>
                <a:latin typeface="Microsoft YaHei"/>
              </a:defRPr>
            </a:pPr>
            <a:r>
              <a:t>🔴 障碍卡住没解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196596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缺乏系统性解决路径，进度停滞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23317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13438"/>
                </a:solidFill>
                <a:latin typeface="Microsoft YaHei"/>
              </a:defRPr>
            </a:pPr>
            <a:r>
              <a:t>🔴 目标太大太远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2606039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缺乏具体可执行的任务拆解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29718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13438"/>
                </a:solidFill>
                <a:latin typeface="Microsoft YaHei"/>
              </a:defRPr>
            </a:pPr>
            <a:r>
              <a:t>🔴 没有过程衡量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324612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年底才发现偏差，来不及调整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371600" y="5303520"/>
            <a:ext cx="9418320" cy="91440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71600" y="534924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今天的定位：不是汇报会，是解题会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5806440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  <a:latin typeface="Microsoft YaHei"/>
              </a:defRPr>
            </a:pPr>
            <a:r>
              <a:t>把「我们要去哪里」变成「下一步具体干什么、怎么知道干对了」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33333"/>
                </a:solidFill>
                <a:latin typeface="Microsoft YaHei"/>
              </a:defRPr>
            </a:pPr>
            <a:r>
              <a:t>二、方法论框架：从战略到执行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0515600" cy="13716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1371600"/>
            <a:ext cx="411480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4630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7C10"/>
                </a:solidFill>
                <a:latin typeface="Microsoft YaHei"/>
              </a:defRPr>
            </a:pPr>
            <a:r>
              <a:t>战略层（已完成）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920240"/>
            <a:ext cx="3657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RPP — 优先事项 / 流程 / 资源</a:t>
            </a:r>
          </a:p>
          <a:p>
            <a:pPr algn="l">
              <a:spcAft>
                <a:spcPts val="7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PPT — 人 / 流程 / 技术</a:t>
            </a:r>
          </a:p>
          <a:p>
            <a:pPr algn="l">
              <a:spcAft>
                <a:spcPts val="7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</a:p>
          <a:p>
            <a:pPr algn="l">
              <a:spcAft>
                <a:spcPts val="7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解决「为什么做、怎么组织」</a:t>
            </a:r>
          </a:p>
          <a:p>
            <a:pPr algn="l">
              <a:spcAft>
                <a:spcPts val="7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已有基础，不需要重复讨论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2080" y="246888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78D4"/>
                </a:solidFill>
                <a:latin typeface="Microsoft YaHei"/>
              </a:defRPr>
            </a:pPr>
            <a:r>
              <a:t>拆解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80" y="278892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78D4"/>
                </a:solidFill>
                <a:latin typeface="Microsoft YaHei"/>
              </a:defRPr>
            </a:pPr>
            <a:r>
              <a:t>──→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71600"/>
            <a:ext cx="502920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463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8D4"/>
                </a:solidFill>
                <a:latin typeface="Microsoft YaHei"/>
              </a:defRPr>
            </a:pPr>
            <a:r>
              <a:t>执行层（今天引入）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920240"/>
            <a:ext cx="4572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PGSAR闭环</a:t>
            </a:r>
          </a:p>
          <a:p>
            <a:pPr algn="l">
              <a:spcAft>
                <a:spcPts val="7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P(Plan) → G(Goal) → S(Standard)</a:t>
            </a:r>
          </a:p>
          <a:p>
            <a:pPr algn="l">
              <a:spcAft>
                <a:spcPts val="7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→ A(Action) → R(Review) → 循环</a:t>
            </a:r>
          </a:p>
          <a:p>
            <a:pPr algn="l">
              <a:spcAft>
                <a:spcPts val="7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</a:p>
          <a:p>
            <a:pPr algn="l">
              <a:spcAft>
                <a:spcPts val="7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解决「具体做什么、怎么衡量、怎么纠偏」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0" y="4754880"/>
            <a:ext cx="6675120" cy="822960"/>
          </a:xfrm>
          <a:prstGeom prst="roundRect">
            <a:avLst/>
          </a:prstGeom>
          <a:solidFill>
            <a:srgbClr val="E8F0FE"/>
          </a:solidFill>
          <a:ln w="127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26080" y="484632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78D4"/>
                </a:solidFill>
                <a:latin typeface="Microsoft YaHei"/>
              </a:defRPr>
            </a:pPr>
            <a:r>
              <a:t>SMART原则 — 目标质量检查工具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521208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Specific · Measurable · Achievable · Relevant · Time-bound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33333"/>
                </a:solidFill>
                <a:latin typeface="Microsoft YaHei"/>
              </a:defRPr>
            </a:pPr>
            <a:r>
              <a:t>三、PGSAR 执行闭环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0515600" cy="13716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1371600"/>
            <a:ext cx="1920240" cy="118872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P - Plan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检视整体计划</a:t>
            </a:r>
            <a:br/>
            <a:r>
              <a:t>确认方向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88920" y="1737360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78D4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54680" y="1371600"/>
            <a:ext cx="1920240" cy="1188720"/>
          </a:xfrm>
          <a:prstGeom prst="round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54680" y="14630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G - Goal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54680" y="1874519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SMART拆解</a:t>
            </a:r>
            <a:br/>
            <a:r>
              <a:t>大目标→小目标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1737360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6B5B95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94960" y="1371600"/>
            <a:ext cx="1920240" cy="118872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94960" y="14630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S - Standard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94960" y="1874519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定义「做好了」</a:t>
            </a:r>
            <a:br/>
            <a:r>
              <a:t>的标准，可衡量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69480" y="1737360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9688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35240" y="1371600"/>
            <a:ext cx="1920240" cy="1188720"/>
          </a:xfrm>
          <a:prstGeom prst="roundRect">
            <a:avLst/>
          </a:prstGeom>
          <a:solidFill>
            <a:srgbClr val="D83B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35240" y="14630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A - Action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35240" y="1874519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明确行动</a:t>
            </a:r>
            <a:br/>
            <a:r>
              <a:t>责任人、时间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09760" y="1737360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D83B01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875520" y="1371600"/>
            <a:ext cx="1920240" cy="1188720"/>
          </a:xfrm>
          <a:prstGeom prst="roundRect">
            <a:avLst/>
          </a:prstGeom>
          <a:solidFill>
            <a:srgbClr val="D13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75520" y="14630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R - Review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75520" y="1874519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定期检视</a:t>
            </a:r>
            <a:br/>
            <a:r>
              <a:t>红黄绿灯纠偏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2743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  <a:latin typeface="Microsoft YaHei"/>
              </a:defRPr>
            </a:pPr>
            <a:r>
              <a:t>↑ 回到Plan，持续循环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828800" y="3291840"/>
            <a:ext cx="8503920" cy="64008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828800" y="333756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78D4"/>
                </a:solidFill>
                <a:latin typeface="Microsoft YaHei"/>
              </a:defRPr>
            </a:pPr>
            <a:r>
              <a:t>计划 → 拆解 → 定标准 → 行动 → 检视 → 调整，循环往复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43891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33333"/>
                </a:solidFill>
                <a:latin typeface="Microsoft YaHei"/>
              </a:defRPr>
            </a:pPr>
            <a:r>
              <a:t>本次研讨会在PGSAR中的位置：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4400" y="4846320"/>
            <a:ext cx="3200400" cy="822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134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51560" y="489204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D13438"/>
                </a:solidFill>
                <a:latin typeface="Microsoft YaHei"/>
              </a:defRPr>
            </a:pPr>
            <a:r>
              <a:t>障碍对齐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" y="521208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66666"/>
                </a:solidFill>
                <a:latin typeface="Microsoft YaHei"/>
              </a:defRPr>
            </a:pPr>
            <a:r>
              <a:t>检视Plan，识别阻塞项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0" y="4846320"/>
            <a:ext cx="3200400" cy="822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09160" y="489204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78D4"/>
                </a:solidFill>
                <a:latin typeface="Microsoft YaHei"/>
              </a:defRPr>
            </a:pPr>
            <a:r>
              <a:t>目标拆解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09160" y="521208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66666"/>
                </a:solidFill>
                <a:latin typeface="Microsoft YaHei"/>
              </a:defRPr>
            </a:pPr>
            <a:r>
              <a:t>Goal拆解 + SMART验证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29600" y="4846320"/>
            <a:ext cx="3200400" cy="822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7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66760" y="489204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07C10"/>
                </a:solidFill>
                <a:latin typeface="Microsoft YaHei"/>
              </a:defRPr>
            </a:pPr>
            <a:r>
              <a:t>建立检视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66760" y="521208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66666"/>
                </a:solidFill>
                <a:latin typeface="Microsoft YaHei"/>
              </a:defRPr>
            </a:pPr>
            <a:r>
              <a:t>Standard + Review机制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33333"/>
                </a:solidFill>
                <a:latin typeface="Microsoft YaHei"/>
              </a:defRPr>
            </a:pPr>
            <a:r>
              <a:t>四、SMART原则 — 目标质量检查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0515600" cy="13716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1371600" cy="41148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9844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维度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0" y="1280160"/>
            <a:ext cx="2560320" cy="41148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0" y="1298448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问什么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0" y="1280160"/>
            <a:ext cx="3017520" cy="41148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0" y="1298448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✅ 合格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0" y="1280160"/>
            <a:ext cx="3200400" cy="41148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29844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❌ 不合格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1737360"/>
            <a:ext cx="13716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286000" y="1737360"/>
            <a:ext cx="25603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0" y="1737360"/>
            <a:ext cx="30175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0" y="1737360"/>
            <a:ext cx="32004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180136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78D4"/>
                </a:solidFill>
                <a:latin typeface="Microsoft YaHei"/>
              </a:defRPr>
            </a:pPr>
            <a:r>
              <a:t>S Specific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77440" y="1801368"/>
            <a:ext cx="23774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具体做什么？交付什么？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0" y="1801368"/>
            <a:ext cx="28346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07C10"/>
                </a:solidFill>
                <a:latin typeface="Microsoft YaHei"/>
              </a:defRPr>
            </a:pPr>
            <a:r>
              <a:t>有明确交付物和范围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1801368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13438"/>
                </a:solidFill>
                <a:latin typeface="Microsoft YaHei"/>
              </a:defRPr>
            </a:pPr>
            <a:r>
              <a:t>"推进AI应用"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2286000"/>
            <a:ext cx="1371600" cy="502920"/>
          </a:xfrm>
          <a:prstGeom prst="rect">
            <a:avLst/>
          </a:prstGeom>
          <a:solidFill>
            <a:srgbClr val="F8F8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286000" y="2286000"/>
            <a:ext cx="2560320" cy="502920"/>
          </a:xfrm>
          <a:prstGeom prst="rect">
            <a:avLst/>
          </a:prstGeom>
          <a:solidFill>
            <a:srgbClr val="F8F8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0" y="2286000"/>
            <a:ext cx="3017520" cy="502920"/>
          </a:xfrm>
          <a:prstGeom prst="rect">
            <a:avLst/>
          </a:prstGeom>
          <a:solidFill>
            <a:srgbClr val="F8F8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229600" y="2286000"/>
            <a:ext cx="3200400" cy="502920"/>
          </a:xfrm>
          <a:prstGeom prst="rect">
            <a:avLst/>
          </a:prstGeom>
          <a:solidFill>
            <a:srgbClr val="F8F8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235000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B5B95"/>
                </a:solidFill>
                <a:latin typeface="Microsoft YaHei"/>
              </a:defRPr>
            </a:pPr>
            <a:r>
              <a:t>M Measurable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77440" y="2350008"/>
            <a:ext cx="23774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怎么衡量完成？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20640" y="2350008"/>
            <a:ext cx="28346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07C10"/>
                </a:solidFill>
                <a:latin typeface="Microsoft YaHei"/>
              </a:defRPr>
            </a:pPr>
            <a:r>
              <a:t>有量化指标和基线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2350008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13438"/>
                </a:solidFill>
                <a:latin typeface="Microsoft YaHei"/>
              </a:defRPr>
            </a:pPr>
            <a:r>
              <a:t>"提升效率"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2834639"/>
            <a:ext cx="13716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286000" y="2834639"/>
            <a:ext cx="25603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029200" y="2834639"/>
            <a:ext cx="30175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229600" y="2834639"/>
            <a:ext cx="32004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60" y="2898647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83B01"/>
                </a:solidFill>
                <a:latin typeface="Microsoft YaHei"/>
              </a:defRPr>
            </a:pPr>
            <a:r>
              <a:t>A Achievable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377440" y="2898647"/>
            <a:ext cx="23774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现在能做吗？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20640" y="2898647"/>
            <a:ext cx="28346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07C10"/>
                </a:solidFill>
                <a:latin typeface="Microsoft YaHei"/>
              </a:defRPr>
            </a:pPr>
            <a:r>
              <a:t>信心指数≥7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21040" y="2898647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13438"/>
                </a:solidFill>
                <a:latin typeface="Microsoft YaHei"/>
              </a:defRPr>
            </a:pPr>
            <a:r>
              <a:t>目标远大无路径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31520" y="3383279"/>
            <a:ext cx="1371600" cy="502920"/>
          </a:xfrm>
          <a:prstGeom prst="rect">
            <a:avLst/>
          </a:prstGeom>
          <a:solidFill>
            <a:srgbClr val="F8F8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286000" y="3383279"/>
            <a:ext cx="2560320" cy="502920"/>
          </a:xfrm>
          <a:prstGeom prst="rect">
            <a:avLst/>
          </a:prstGeom>
          <a:solidFill>
            <a:srgbClr val="F8F8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029200" y="3383279"/>
            <a:ext cx="3017520" cy="502920"/>
          </a:xfrm>
          <a:prstGeom prst="rect">
            <a:avLst/>
          </a:prstGeom>
          <a:solidFill>
            <a:srgbClr val="F8F8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229600" y="3383279"/>
            <a:ext cx="3200400" cy="502920"/>
          </a:xfrm>
          <a:prstGeom prst="rect">
            <a:avLst/>
          </a:prstGeom>
          <a:solidFill>
            <a:srgbClr val="F8F8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2960" y="3447287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88"/>
                </a:solidFill>
                <a:latin typeface="Microsoft YaHei"/>
              </a:defRPr>
            </a:pPr>
            <a:r>
              <a:t>R Relevant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377440" y="3447287"/>
            <a:ext cx="23774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和OKR什么关系？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20640" y="3447287"/>
            <a:ext cx="28346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07C10"/>
                </a:solidFill>
                <a:latin typeface="Microsoft YaHei"/>
              </a:defRPr>
            </a:pPr>
            <a:r>
              <a:t>能追溯到具体KR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21040" y="3447287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13438"/>
                </a:solidFill>
                <a:latin typeface="Microsoft YaHei"/>
              </a:defRPr>
            </a:pPr>
            <a:r>
              <a:t>孤立任务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31520" y="3931920"/>
            <a:ext cx="13716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2286000" y="3931920"/>
            <a:ext cx="25603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029200" y="3931920"/>
            <a:ext cx="30175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229600" y="3931920"/>
            <a:ext cx="32004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22960" y="399592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13438"/>
                </a:solidFill>
                <a:latin typeface="Microsoft YaHei"/>
              </a:defRPr>
            </a:pPr>
            <a:r>
              <a:t>T Time-bound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40" y="3995928"/>
            <a:ext cx="23774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什么时候完成？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120640" y="3995928"/>
            <a:ext cx="28346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07C10"/>
                </a:solidFill>
                <a:latin typeface="Microsoft YaHei"/>
              </a:defRPr>
            </a:pPr>
            <a:r>
              <a:t>有明确截止日和节点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21040" y="3995928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13438"/>
                </a:solidFill>
                <a:latin typeface="Microsoft YaHei"/>
              </a:defRPr>
            </a:pPr>
            <a:r>
              <a:t>"尽快""年底前"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31520" y="47548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33333"/>
                </a:solidFill>
                <a:latin typeface="Microsoft YaHei"/>
              </a:defRPr>
            </a:pPr>
            <a:r>
              <a:t>核心工具：信心指数  __ / 10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31520" y="5257800"/>
            <a:ext cx="3474720" cy="685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7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68680" y="53035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7C10"/>
                </a:solidFill>
                <a:latin typeface="Microsoft YaHei"/>
              </a:defRPr>
            </a:pPr>
            <a:r>
              <a:t>≥8 分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68680" y="55778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目标合理，直接拆解行动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572000" y="5257800"/>
            <a:ext cx="3474720" cy="685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83B0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709160" y="53035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83B01"/>
                </a:solidFill>
                <a:latin typeface="Microsoft YaHei"/>
              </a:defRPr>
            </a:pPr>
            <a:r>
              <a:t>5-7 分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709160" y="55778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有风险，讨论卡在哪，可能要拆分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8412480" y="5257800"/>
            <a:ext cx="3474720" cy="685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134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549640" y="53035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13438"/>
                </a:solidFill>
                <a:latin typeface="Microsoft YaHei"/>
              </a:defRPr>
            </a:pPr>
            <a:r>
              <a:t>&lt;5 分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549640" y="55778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重新定义或大幅拆分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33333"/>
                </a:solidFill>
                <a:latin typeface="Microsoft YaHei"/>
              </a:defRPr>
            </a:pPr>
            <a:r>
              <a:t>五、今天的三个产出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0515600" cy="13716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1463040"/>
            <a:ext cx="3200400" cy="3657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134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103120" y="1737360"/>
            <a:ext cx="731520" cy="731520"/>
          </a:xfrm>
          <a:prstGeom prst="ellipse">
            <a:avLst/>
          </a:prstGeom>
          <a:solidFill>
            <a:srgbClr val="D13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03120" y="182880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65176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D13438"/>
                </a:solidFill>
                <a:latin typeface="Microsoft YaHei"/>
              </a:defRPr>
            </a:pPr>
            <a:r>
              <a:t>障碍清单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200400"/>
            <a:ext cx="2651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各产线TOP3障碍</a:t>
            </a:r>
            <a:br/>
            <a:r>
              <a:t>分类 · 优先级 · 解法方向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448056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666666"/>
                </a:solidFill>
                <a:latin typeface="Microsoft YaHei"/>
              </a:defRPr>
            </a:pPr>
            <a:r>
              <a:t>知道卡在哪、谁来解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1463040"/>
            <a:ext cx="3200400" cy="3657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760720" y="1737360"/>
            <a:ext cx="731520" cy="731520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60720" y="182880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265176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78D4"/>
                </a:solidFill>
                <a:latin typeface="Microsoft YaHei"/>
              </a:defRPr>
            </a:pPr>
            <a:r>
              <a:t>目标拆解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3200400"/>
            <a:ext cx="2651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近期里程碑</a:t>
            </a:r>
            <a:br/>
            <a:r>
              <a:t>SMART验证 · 行动项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448056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666666"/>
                </a:solidFill>
                <a:latin typeface="Microsoft YaHei"/>
              </a:defRPr>
            </a:pPr>
            <a:r>
              <a:t>知道下一步干什么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1463040"/>
            <a:ext cx="3200400" cy="3657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7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418320" y="1737360"/>
            <a:ext cx="731520" cy="731520"/>
          </a:xfrm>
          <a:prstGeom prst="ellipse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18320" y="182880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265176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07C10"/>
                </a:solidFill>
                <a:latin typeface="Microsoft YaHei"/>
              </a:defRPr>
            </a:pPr>
            <a:r>
              <a:t>检视机制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3200400"/>
            <a:ext cx="2651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过程指标</a:t>
            </a:r>
            <a:br/>
            <a:r>
              <a:t>红黄绿灯 · 检视节奏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448056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666666"/>
                </a:solidFill>
                <a:latin typeface="Microsoft YaHei"/>
              </a:defRPr>
            </a:pPr>
            <a:r>
              <a:t>知道做得怎样、及时纠偏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33333"/>
                </a:solidFill>
                <a:latin typeface="Microsoft YaHei"/>
              </a:defRPr>
            </a:pPr>
            <a:r>
              <a:t>六、共识确认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0515600" cy="13716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Microsoft YaHei"/>
              </a:defRPr>
            </a:pPr>
            <a:r>
              <a:t>请逐条确认，有异议现场提出：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737360"/>
            <a:ext cx="1371600" cy="50292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0136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共识一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68880" y="1737360"/>
            <a:ext cx="822960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51760" y="1801368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今天是解题会，不是汇报会 — 重点在「怎么解决」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2514600"/>
            <a:ext cx="1371600" cy="502920"/>
          </a:xfrm>
          <a:prstGeom prst="round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57860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共识二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468880" y="2514600"/>
            <a:ext cx="822960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51760" y="2578608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用SMART验证目标 — 信心&lt;7的目标必须讨论拆分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3291839"/>
            <a:ext cx="1371600" cy="502920"/>
          </a:xfrm>
          <a:prstGeom prst="roundRect">
            <a:avLst/>
          </a:prstGeom>
          <a:solidFill>
            <a:srgbClr val="D83B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355847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共识三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468880" y="3291839"/>
            <a:ext cx="822960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651760" y="3355847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每个行动有唯一责任人 — 不能写「团队负责」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4069079"/>
            <a:ext cx="1371600" cy="50292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133087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共识四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468880" y="4069079"/>
            <a:ext cx="822960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651760" y="4133087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建立双周红黄绿灯检视 — 不等到年底才发现偏差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" y="4846320"/>
            <a:ext cx="1371600" cy="502920"/>
          </a:xfrm>
          <a:prstGeom prst="roundRect">
            <a:avLst/>
          </a:prstGeom>
          <a:solidFill>
            <a:srgbClr val="D13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491032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共识五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468880" y="4846320"/>
            <a:ext cx="822960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651760" y="4910328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诚实暴露问题 — 卡住了就说卡住了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28800" y="5943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78D4"/>
                </a:solidFill>
                <a:latin typeface="Microsoft YaHei"/>
              </a:defRPr>
            </a:pPr>
            <a:r>
              <a:t>✅ 确认完毕 → 进入环节一：障碍对齐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3017520"/>
            <a:ext cx="1645920" cy="54864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9456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环节一：障碍对齐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918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BBBBB"/>
                </a:solidFill>
                <a:latin typeface="Microsoft YaHei"/>
              </a:defRPr>
            </a:pPr>
            <a:r>
              <a:t>各产线TOP3障碍 + 集体诊断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4864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88"/>
                </a:solidFill>
                <a:latin typeface="Microsoft YaHei"/>
              </a:defRPr>
            </a:pPr>
            <a:r>
              <a:t>19:15 - 19:55（40分钟）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33333"/>
                </a:solidFill>
                <a:latin typeface="Microsoft YaHei"/>
              </a:defRPr>
            </a:pPr>
            <a:r>
              <a:t>环节一：障碍对齐 — 规则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0515600" cy="13716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78D4"/>
                </a:solidFill>
                <a:latin typeface="Microsoft YaHei"/>
              </a:defRPr>
            </a:pPr>
            <a:r>
              <a:t>各产线轮流呈现，每产线 5-6 分钟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920240"/>
            <a:ext cx="1005840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947672"/>
            <a:ext cx="9601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❶  每个产线讲 TOP3 障碍：是什么、影响多大、已尝试什么、需要什么支持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377440"/>
            <a:ext cx="1005840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404872"/>
            <a:ext cx="9601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❷  其他产线可补充类似经验，但不展开讨论（避免超时）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2834640"/>
            <a:ext cx="1005840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862072"/>
            <a:ext cx="9601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❸  主持人现场分类，标记优先级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3291840"/>
            <a:ext cx="1005840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3319272"/>
            <a:ext cx="9601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❹  目标是收集和分类，不是现场解决所有问题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931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33333"/>
                </a:solidFill>
                <a:latin typeface="Microsoft YaHei"/>
              </a:defRPr>
            </a:pPr>
            <a:r>
              <a:t>时间分配：6个产线 × 5分钟 + 聚类 10分钟 = 40分钟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434840"/>
            <a:ext cx="1554480" cy="502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48056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78D4"/>
                </a:solidFill>
                <a:latin typeface="Microsoft YaHei"/>
              </a:defRPr>
            </a:pPr>
            <a:r>
              <a:t>无线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468880" y="4434840"/>
            <a:ext cx="1554480" cy="502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B5B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468880" y="448056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6B5B95"/>
                </a:solidFill>
                <a:latin typeface="Microsoft YaHei"/>
              </a:defRPr>
            </a:pPr>
            <a:r>
              <a:t>交换机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06240" y="4434840"/>
            <a:ext cx="1554480" cy="502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6240" y="448056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9688"/>
                </a:solidFill>
                <a:latin typeface="Microsoft YaHei"/>
              </a:defRPr>
            </a:pPr>
            <a:r>
              <a:t>NMC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599" y="4434840"/>
            <a:ext cx="1554480" cy="502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83B0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599" y="448056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D83B01"/>
                </a:solidFill>
                <a:latin typeface="Microsoft YaHei"/>
              </a:defRPr>
            </a:pPr>
            <a:r>
              <a:t>会议主机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680960" y="4434840"/>
            <a:ext cx="1554480" cy="502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B8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80960" y="448056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7B83EB"/>
                </a:solidFill>
                <a:latin typeface="Microsoft YaHei"/>
              </a:defRPr>
            </a:pPr>
            <a:r>
              <a:t>IPSIP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418320" y="4434840"/>
            <a:ext cx="1554480" cy="502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97C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18320" y="448056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E97C23"/>
                </a:solidFill>
                <a:latin typeface="Microsoft YaHei"/>
              </a:defRPr>
            </a:pPr>
            <a:r>
              <a:t>硬件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52120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D83B01"/>
                </a:solidFill>
                <a:latin typeface="Microsoft YaHei"/>
              </a:defRPr>
            </a:pPr>
            <a:r>
              <a:t>之后 10分钟 → 跨产线共性障碍聚类 + 优先级排序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33333"/>
                </a:solidFill>
                <a:latin typeface="Microsoft YaHei"/>
              </a:defRPr>
            </a:pPr>
            <a:r>
              <a:t>环节一：障碍分类框架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0515600" cy="13716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Microsoft YaHei"/>
              </a:defRPr>
            </a:pPr>
            <a:r>
              <a:t>主持人现场分类到以下5个类别：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731520" cy="64008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166420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78D4"/>
                </a:solidFill>
                <a:latin typeface="Microsoft YaHei"/>
              </a:defRPr>
            </a:pPr>
            <a:r>
              <a:t>工具/平台缺失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166420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基础设施不到位，想用但没工具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691640"/>
            <a:ext cx="3474720" cy="548640"/>
          </a:xfrm>
          <a:prstGeom prst="roundRect">
            <a:avLst/>
          </a:prstGeom>
          <a:solidFill>
            <a:srgbClr val="E8F0FE"/>
          </a:solidFill>
          <a:ln w="127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7373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78D4"/>
                </a:solidFill>
                <a:latin typeface="Microsoft YaHei"/>
              </a:defRPr>
            </a:pPr>
            <a:r>
              <a:t>加速建设、找临时替代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560320"/>
            <a:ext cx="731520" cy="640080"/>
          </a:xfrm>
          <a:prstGeom prst="round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65176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257860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6B5B95"/>
                </a:solidFill>
                <a:latin typeface="Microsoft YaHei"/>
              </a:defRPr>
            </a:pPr>
            <a:r>
              <a:t>能力/技能不足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257860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工具在但不会用、用不好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2606039"/>
            <a:ext cx="3474720" cy="548640"/>
          </a:xfrm>
          <a:prstGeom prst="roundRect">
            <a:avLst/>
          </a:prstGeom>
          <a:solidFill>
            <a:srgbClr val="E8F0FE"/>
          </a:solidFill>
          <a:ln w="12700">
            <a:solidFill>
              <a:srgbClr val="6B5B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26517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5B95"/>
                </a:solidFill>
                <a:latin typeface="Microsoft YaHei"/>
              </a:defRPr>
            </a:pPr>
            <a:r>
              <a:t>培训、布道师辅导、结对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474720"/>
            <a:ext cx="731520" cy="640080"/>
          </a:xfrm>
          <a:prstGeom prst="roundRect">
            <a:avLst/>
          </a:prstGeom>
          <a:solidFill>
            <a:srgbClr val="D83B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56616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349300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D83B01"/>
                </a:solidFill>
                <a:latin typeface="Microsoft YaHei"/>
              </a:defRPr>
            </a:pPr>
            <a:r>
              <a:t>流程/规范阻力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0" y="349300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现有流程与AI-Native冲突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6720" y="3520439"/>
            <a:ext cx="3474720" cy="548640"/>
          </a:xfrm>
          <a:prstGeom prst="roundRect">
            <a:avLst/>
          </a:prstGeom>
          <a:solidFill>
            <a:srgbClr val="E8F0FE"/>
          </a:solidFill>
          <a:ln w="12700">
            <a:solidFill>
              <a:srgbClr val="D83B0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0" y="35661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83B01"/>
                </a:solidFill>
                <a:latin typeface="Microsoft YaHei"/>
              </a:defRPr>
            </a:pPr>
            <a:r>
              <a:t>流程适配、试点验证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4389120"/>
            <a:ext cx="731520" cy="640080"/>
          </a:xfrm>
          <a:prstGeom prst="roundRect">
            <a:avLst/>
          </a:prstGeom>
          <a:solidFill>
            <a:srgbClr val="D13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4480559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45920" y="4407407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D13438"/>
                </a:solidFill>
                <a:latin typeface="Microsoft YaHei"/>
              </a:defRPr>
            </a:pPr>
            <a:r>
              <a:t>资源/优先级冲突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0" y="4407407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人不够、和其他工作排不开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46720" y="4434840"/>
            <a:ext cx="3474720" cy="548640"/>
          </a:xfrm>
          <a:prstGeom prst="roundRect">
            <a:avLst/>
          </a:prstGeom>
          <a:solidFill>
            <a:srgbClr val="E8F0FE"/>
          </a:solidFill>
          <a:ln w="12700">
            <a:solidFill>
              <a:srgbClr val="D134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0" y="4480559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13438"/>
                </a:solidFill>
                <a:latin typeface="Microsoft YaHei"/>
              </a:defRPr>
            </a:pPr>
            <a:r>
              <a:t>资源协调、管理层决策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5303520"/>
            <a:ext cx="731520" cy="64008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5394959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45920" y="5321807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9688"/>
                </a:solidFill>
                <a:latin typeface="Microsoft YaHei"/>
              </a:defRPr>
            </a:pPr>
            <a:r>
              <a:t>目标不清晰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800" y="5321807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不知道具体该做什么、怎么做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46720" y="5349240"/>
            <a:ext cx="3474720" cy="548640"/>
          </a:xfrm>
          <a:prstGeom prst="roundRect">
            <a:avLst/>
          </a:prstGeom>
          <a:solidFill>
            <a:srgbClr val="E8F0FE"/>
          </a:solidFill>
          <a:ln w="127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600" y="5394959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9688"/>
                </a:solidFill>
                <a:latin typeface="Microsoft YaHei"/>
              </a:defRPr>
            </a:pPr>
            <a:r>
              <a:t>目标拆解（环节二解决）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62179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13438"/>
                </a:solidFill>
                <a:latin typeface="Microsoft YaHei"/>
              </a:defRPr>
            </a:pPr>
            <a:r>
              <a:t>标注「2+产线共同面临」的障碍 → 提升为平台级问题，综合管理部优先处理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3017520"/>
            <a:ext cx="1645920" cy="54864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9456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环节二：目标拆解工作坊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918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BBBBB"/>
                </a:solidFill>
                <a:latin typeface="Microsoft YaHei"/>
              </a:defRPr>
            </a:pPr>
            <a:r>
              <a:t>近期里程碑 SMART验证 + 任务拆解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4864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88"/>
                </a:solidFill>
                <a:latin typeface="Microsoft YaHei"/>
              </a:defRPr>
            </a:pPr>
            <a:r>
              <a:t>20:05 - 20:55（50分钟）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33333"/>
                </a:solidFill>
                <a:latin typeface="Microsoft YaHei"/>
              </a:defRPr>
            </a:pPr>
            <a:r>
              <a:t>环节二：时间分配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0515600" cy="13716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78D4"/>
                </a:solidFill>
                <a:latin typeface="Microsoft YaHei"/>
              </a:defRPr>
            </a:pPr>
            <a:r>
              <a:t>6个产线 × 7分钟/产线 + 缓冲 8分钟 = 50分钟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1645920" cy="41148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56231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产线</a:t>
            </a:r>
          </a:p>
        </p:txBody>
      </p:sp>
      <p:sp>
        <p:nvSpPr>
          <p:cNvPr id="8" name="Rectangle 7"/>
          <p:cNvSpPr/>
          <p:nvPr/>
        </p:nvSpPr>
        <p:spPr>
          <a:xfrm>
            <a:off x="2560320" y="1828800"/>
            <a:ext cx="1371600" cy="41148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60320" y="1856231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时间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0" y="1828800"/>
            <a:ext cx="3200400" cy="41148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0" y="1856231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内容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98079" y="1828800"/>
            <a:ext cx="1097280" cy="41148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79" y="1856231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状态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2286000"/>
            <a:ext cx="164592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68680" y="2395728"/>
            <a:ext cx="1371600" cy="41148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24231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无线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560320" y="2286000"/>
            <a:ext cx="13716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606040" y="237744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333333"/>
                </a:solidFill>
                <a:latin typeface="Microsoft YaHei"/>
              </a:defRPr>
            </a:pPr>
            <a:r>
              <a:t>20:05</a:t>
            </a:r>
            <a:br/>
            <a:r>
              <a:t>20:12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0" y="2286000"/>
            <a:ext cx="32004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97680" y="233172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1-2个近期里程碑</a:t>
            </a:r>
            <a:br/>
            <a:r>
              <a:t>SMART验证 + 行动项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98079" y="2286000"/>
            <a:ext cx="109728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98079" y="2423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66666"/>
                </a:solidFill>
                <a:latin typeface="Microsoft YaHei"/>
              </a:defRPr>
            </a:pPr>
            <a:r>
              <a:t>⏳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3017520"/>
            <a:ext cx="1645920" cy="640080"/>
          </a:xfrm>
          <a:prstGeom prst="rect">
            <a:avLst/>
          </a:prstGeom>
          <a:solidFill>
            <a:srgbClr val="F8F8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68680" y="3127248"/>
            <a:ext cx="1371600" cy="411480"/>
          </a:xfrm>
          <a:prstGeom prst="round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3154679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交换机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560320" y="3017520"/>
            <a:ext cx="1371600" cy="640080"/>
          </a:xfrm>
          <a:prstGeom prst="rect">
            <a:avLst/>
          </a:prstGeom>
          <a:solidFill>
            <a:srgbClr val="F8F8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606040" y="310896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333333"/>
                </a:solidFill>
                <a:latin typeface="Microsoft YaHei"/>
              </a:defRPr>
            </a:pPr>
            <a:r>
              <a:t>20:12</a:t>
            </a:r>
            <a:br/>
            <a:r>
              <a:t>20:19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14800" y="3017520"/>
            <a:ext cx="3200400" cy="640080"/>
          </a:xfrm>
          <a:prstGeom prst="rect">
            <a:avLst/>
          </a:prstGeom>
          <a:solidFill>
            <a:srgbClr val="F8F8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297680" y="3063239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1-2个近期里程碑</a:t>
            </a:r>
            <a:br/>
            <a:r>
              <a:t>SMART验证 + 行动项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498079" y="3017520"/>
            <a:ext cx="1097280" cy="640080"/>
          </a:xfrm>
          <a:prstGeom prst="rect">
            <a:avLst/>
          </a:prstGeom>
          <a:solidFill>
            <a:srgbClr val="F8F8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98079" y="3154679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66666"/>
                </a:solidFill>
                <a:latin typeface="Microsoft YaHei"/>
              </a:defRPr>
            </a:pPr>
            <a:r>
              <a:t>⏳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31520" y="3749039"/>
            <a:ext cx="164592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68680" y="3858768"/>
            <a:ext cx="1371600" cy="41148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68680" y="38862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NMC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560320" y="3749039"/>
            <a:ext cx="13716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606040" y="3840479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333333"/>
                </a:solidFill>
                <a:latin typeface="Microsoft YaHei"/>
              </a:defRPr>
            </a:pPr>
            <a:r>
              <a:t>20:19</a:t>
            </a:r>
            <a:br/>
            <a:r>
              <a:t>20:26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114800" y="3749039"/>
            <a:ext cx="32004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97680" y="3794759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1-2个近期里程碑</a:t>
            </a:r>
            <a:br/>
            <a:r>
              <a:t>SMART验证 + 行动项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498079" y="3749039"/>
            <a:ext cx="109728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498079" y="38862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66666"/>
                </a:solidFill>
                <a:latin typeface="Microsoft YaHei"/>
              </a:defRPr>
            </a:pPr>
            <a:r>
              <a:t>⏳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31520" y="4480560"/>
            <a:ext cx="1645920" cy="640080"/>
          </a:xfrm>
          <a:prstGeom prst="rect">
            <a:avLst/>
          </a:prstGeom>
          <a:solidFill>
            <a:srgbClr val="F8F8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868680" y="4590288"/>
            <a:ext cx="1371600" cy="411480"/>
          </a:xfrm>
          <a:prstGeom prst="roundRect">
            <a:avLst/>
          </a:prstGeom>
          <a:solidFill>
            <a:srgbClr val="D83B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8680" y="46177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会议主机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560320" y="4480560"/>
            <a:ext cx="1371600" cy="640080"/>
          </a:xfrm>
          <a:prstGeom prst="rect">
            <a:avLst/>
          </a:prstGeom>
          <a:solidFill>
            <a:srgbClr val="F8F8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606040" y="457200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333333"/>
                </a:solidFill>
                <a:latin typeface="Microsoft YaHei"/>
              </a:defRPr>
            </a:pPr>
            <a:r>
              <a:t>20:26</a:t>
            </a:r>
            <a:br/>
            <a:r>
              <a:t>20:33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114800" y="4480560"/>
            <a:ext cx="3200400" cy="640080"/>
          </a:xfrm>
          <a:prstGeom prst="rect">
            <a:avLst/>
          </a:prstGeom>
          <a:solidFill>
            <a:srgbClr val="F8F8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297680" y="452628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1-2个近期里程碑</a:t>
            </a:r>
            <a:br/>
            <a:r>
              <a:t>SMART验证 + 行动项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498079" y="4480560"/>
            <a:ext cx="1097280" cy="640080"/>
          </a:xfrm>
          <a:prstGeom prst="rect">
            <a:avLst/>
          </a:prstGeom>
          <a:solidFill>
            <a:srgbClr val="F8F8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498079" y="46177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66666"/>
                </a:solidFill>
                <a:latin typeface="Microsoft YaHei"/>
              </a:defRPr>
            </a:pPr>
            <a:r>
              <a:t>⏳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31520" y="5212080"/>
            <a:ext cx="164592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868680" y="5321808"/>
            <a:ext cx="1371600" cy="411480"/>
          </a:xfrm>
          <a:prstGeom prst="roundRect">
            <a:avLst/>
          </a:prstGeom>
          <a:solidFill>
            <a:srgbClr val="7B8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68680" y="53492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IPSIP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560320" y="5212080"/>
            <a:ext cx="13716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606040" y="530352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333333"/>
                </a:solidFill>
                <a:latin typeface="Microsoft YaHei"/>
              </a:defRPr>
            </a:pPr>
            <a:r>
              <a:t>20:33</a:t>
            </a:r>
            <a:br/>
            <a:r>
              <a:t>20:40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114800" y="5212080"/>
            <a:ext cx="32004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297680" y="525780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1-2个近期目标</a:t>
            </a:r>
            <a:br/>
            <a:r>
              <a:t>SMART验证 + 行动项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498079" y="5212080"/>
            <a:ext cx="109728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498079" y="534924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66666"/>
                </a:solidFill>
                <a:latin typeface="Microsoft YaHei"/>
              </a:defRPr>
            </a:pPr>
            <a:r>
              <a:t>⏳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31520" y="5943600"/>
            <a:ext cx="1645920" cy="640080"/>
          </a:xfrm>
          <a:prstGeom prst="rect">
            <a:avLst/>
          </a:prstGeom>
          <a:solidFill>
            <a:srgbClr val="F8F8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868680" y="6053328"/>
            <a:ext cx="1371600" cy="411480"/>
          </a:xfrm>
          <a:prstGeom prst="roundRect">
            <a:avLst/>
          </a:prstGeom>
          <a:solidFill>
            <a:srgbClr val="E97C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68680" y="60807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硬件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560320" y="5943600"/>
            <a:ext cx="1371600" cy="640080"/>
          </a:xfrm>
          <a:prstGeom prst="rect">
            <a:avLst/>
          </a:prstGeom>
          <a:solidFill>
            <a:srgbClr val="F8F8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606040" y="603504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333333"/>
                </a:solidFill>
                <a:latin typeface="Microsoft YaHei"/>
              </a:defRPr>
            </a:pPr>
            <a:r>
              <a:t>20:40</a:t>
            </a:r>
            <a:br/>
            <a:r>
              <a:t>20:47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114800" y="5943600"/>
            <a:ext cx="3200400" cy="640080"/>
          </a:xfrm>
          <a:prstGeom prst="rect">
            <a:avLst/>
          </a:prstGeom>
          <a:solidFill>
            <a:srgbClr val="F8F8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297680" y="598932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1-2个近期目标</a:t>
            </a:r>
            <a:br/>
            <a:r>
              <a:t>SMART验证 + 行动项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498079" y="5943600"/>
            <a:ext cx="1097280" cy="640080"/>
          </a:xfrm>
          <a:prstGeom prst="rect">
            <a:avLst/>
          </a:prstGeom>
          <a:solidFill>
            <a:srgbClr val="F8F8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498079" y="60807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66666"/>
                </a:solidFill>
                <a:latin typeface="Microsoft YaHei"/>
              </a:defRPr>
            </a:pPr>
            <a:r>
              <a:t>⏳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731520" y="6035040"/>
            <a:ext cx="10515600" cy="457200"/>
          </a:xfrm>
          <a:prstGeom prst="roundRect">
            <a:avLst/>
          </a:prstGeom>
          <a:solidFill>
            <a:srgbClr val="E8F0FE"/>
          </a:solidFill>
          <a:ln w="12700">
            <a:solidFill>
              <a:srgbClr val="D83B0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14400" y="6080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D83B01"/>
                </a:solidFill>
                <a:latin typeface="Microsoft YaHei"/>
              </a:defRPr>
            </a:pPr>
            <a:r>
              <a:t>20:47 - 20:55  缓冲时间：补充讨论未完成的拆解 / 回答共性问题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33333"/>
                </a:solidFill>
                <a:latin typeface="Microsoft YaHei"/>
              </a:defRPr>
            </a:pPr>
            <a:r>
              <a:t>环节二：SMART拆解模板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0515600" cy="13716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78D4"/>
                </a:solidFill>
                <a:latin typeface="Microsoft YaHei"/>
              </a:defRPr>
            </a:pPr>
            <a:r>
              <a:t>里程碑拆解模板（每产线1-2个近期里程碑）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Microsoft YaHei"/>
              </a:defRPr>
            </a:pPr>
            <a:r>
              <a:t>里程碑名称：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0" y="16916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Microsoft YaHei"/>
              </a:defRPr>
            </a:pPr>
            <a:r>
              <a:t>________________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0574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Microsoft YaHei"/>
              </a:defRPr>
            </a:pPr>
            <a:r>
              <a:t>信心指数：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0" y="20574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Microsoft YaHei"/>
              </a:defRPr>
            </a:pPr>
            <a:r>
              <a:t>___ / 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560320"/>
            <a:ext cx="1645920" cy="384048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587751"/>
            <a:ext cx="1554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77440" y="2560320"/>
            <a:ext cx="38404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68880" y="2587751"/>
            <a:ext cx="3657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具体做什么？交付什么？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017520"/>
            <a:ext cx="1645920" cy="384048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044951"/>
            <a:ext cx="1554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377440" y="3017520"/>
            <a:ext cx="38404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68880" y="3044951"/>
            <a:ext cx="3657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怎么衡量完成？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3474720"/>
            <a:ext cx="1645920" cy="384048"/>
          </a:xfrm>
          <a:prstGeom prst="rect">
            <a:avLst/>
          </a:prstGeom>
          <a:solidFill>
            <a:srgbClr val="D83B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3502151"/>
            <a:ext cx="1554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377440" y="3474720"/>
            <a:ext cx="38404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468880" y="3502151"/>
            <a:ext cx="3657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现在能做吗？卡在哪？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3931920"/>
            <a:ext cx="1645920" cy="38404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3959352"/>
            <a:ext cx="1554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377440" y="3931920"/>
            <a:ext cx="38404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468880" y="3959352"/>
            <a:ext cx="3657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和年度OKR什么关系？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4389120"/>
            <a:ext cx="1645920" cy="384048"/>
          </a:xfrm>
          <a:prstGeom prst="rect">
            <a:avLst/>
          </a:prstGeom>
          <a:solidFill>
            <a:srgbClr val="D13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4416552"/>
            <a:ext cx="1554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377440" y="4389120"/>
            <a:ext cx="38404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468880" y="4416552"/>
            <a:ext cx="3657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什么时候完成？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1188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D83B01"/>
                </a:solidFill>
                <a:latin typeface="Microsoft YaHei"/>
              </a:defRPr>
            </a:pPr>
            <a:r>
              <a:t>主持人引导问题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58000" y="1691640"/>
            <a:ext cx="457200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3B0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040880" y="1719072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83B01"/>
                </a:solidFill>
                <a:latin typeface="Microsoft YaHei"/>
              </a:defRPr>
            </a:pPr>
            <a:r>
              <a:t>目标模糊时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0880" y="1993392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做完怎么知道做成了？</a:t>
            </a:r>
            <a:br/>
            <a:r>
              <a:t>看到什么就算完成？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858000" y="2468880"/>
            <a:ext cx="457200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3B0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040880" y="2496312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83B01"/>
                </a:solidFill>
                <a:latin typeface="Microsoft YaHei"/>
              </a:defRPr>
            </a:pPr>
            <a:r>
              <a:t>信心指数低时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40880" y="2770632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为什么不是8或9？</a:t>
            </a:r>
            <a:br/>
            <a:r>
              <a:t>最不确定的是什么？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858000" y="3246120"/>
            <a:ext cx="457200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3B0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040880" y="3273551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83B01"/>
                </a:solidFill>
                <a:latin typeface="Microsoft YaHei"/>
              </a:defRPr>
            </a:pPr>
            <a:r>
              <a:t>行动不具体时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40880" y="3547872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如果只做一件事推进这个目标，</a:t>
            </a:r>
            <a:br/>
            <a:r>
              <a:t>你做什么？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858000" y="4023360"/>
            <a:ext cx="457200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3B0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040880" y="4050792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83B01"/>
                </a:solidFill>
                <a:latin typeface="Microsoft YaHei"/>
              </a:defRPr>
            </a:pPr>
            <a:r>
              <a:t>责任人不清晰时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040880" y="4325112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谁来做？什么时候能看到</a:t>
            </a:r>
            <a:br/>
            <a:r>
              <a:t>初步结果？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858000" y="4800600"/>
            <a:ext cx="457200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3B0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040880" y="4828032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83B01"/>
                </a:solidFill>
                <a:latin typeface="Microsoft YaHei"/>
              </a:defRPr>
            </a:pPr>
            <a:r>
              <a:t>目标太大时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40880" y="5102352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切成两半，前半段是什么？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858000" y="5577840"/>
            <a:ext cx="457200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3B0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040880" y="5605272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83B01"/>
                </a:solidFill>
                <a:latin typeface="Microsoft YaHei"/>
              </a:defRPr>
            </a:pPr>
            <a:r>
              <a:t>和OKR关联不清时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040880" y="5879592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这个目标达成后，</a:t>
            </a:r>
            <a:br/>
            <a:r>
              <a:t>哪个KR会怎么变化？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31520" y="51206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33333"/>
                </a:solidFill>
                <a:latin typeface="Microsoft YaHei"/>
              </a:defRPr>
            </a:pPr>
            <a:r>
              <a:t>拆解深度要求：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31520" y="5486400"/>
            <a:ext cx="5029200" cy="457200"/>
          </a:xfrm>
          <a:prstGeom prst="roundRect">
            <a:avLst/>
          </a:prstGeom>
          <a:solidFill>
            <a:srgbClr val="E8F0FE"/>
          </a:solidFill>
          <a:ln w="12700">
            <a:solidFill>
              <a:srgbClr val="107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14400" y="55321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07C10"/>
                </a:solidFill>
                <a:latin typeface="Microsoft YaHei"/>
              </a:defRPr>
            </a:pPr>
            <a:r>
              <a:t>✅ 有具体行动 + 唯一责任人 + 时间 + 交付物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400800" y="5486400"/>
            <a:ext cx="5029200" cy="457200"/>
          </a:xfrm>
          <a:prstGeom prst="roundRect">
            <a:avLst/>
          </a:prstGeom>
          <a:solidFill>
            <a:srgbClr val="FDE8E8"/>
          </a:solidFill>
          <a:ln w="12700">
            <a:solidFill>
              <a:srgbClr val="D134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583680" y="55321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13438"/>
                </a:solidFill>
                <a:latin typeface="Microsoft YaHei"/>
              </a:defRPr>
            </a:pPr>
            <a:r>
              <a:t>❌ 「推进XX」「加强XX」「持续优化XX」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33333"/>
                </a:solidFill>
                <a:latin typeface="Microsoft YaHei"/>
              </a:defRPr>
            </a:pPr>
            <a:r>
              <a:t>环节二：行动项格式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0515600" cy="13716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Microsoft YaHei"/>
              </a:defRPr>
            </a:pPr>
            <a:r>
              <a:t>每个里程碑拆出的行动项必须满足以下格式：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737360"/>
            <a:ext cx="457200" cy="4572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764792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#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1737360"/>
            <a:ext cx="3200400" cy="4572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1764792"/>
            <a:ext cx="3200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具体行动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46320" y="1737360"/>
            <a:ext cx="1097280" cy="4572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46320" y="1764792"/>
            <a:ext cx="1097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责任人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737360"/>
            <a:ext cx="1097280" cy="4572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0" y="1764792"/>
            <a:ext cx="1097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开始时间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040880" y="1737360"/>
            <a:ext cx="1097280" cy="4572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40880" y="1764792"/>
            <a:ext cx="1097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完成时间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38160" y="1737360"/>
            <a:ext cx="1828800" cy="4572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38160" y="1764792"/>
            <a:ext cx="18288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交付物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2194560"/>
            <a:ext cx="4572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2221991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371600" y="2194560"/>
            <a:ext cx="32004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17320" y="2221991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日志分析skill标准化开发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846320" y="2194560"/>
            <a:ext cx="109728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92040" y="2221991"/>
            <a:ext cx="10058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张三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0" y="2194560"/>
            <a:ext cx="109728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89320" y="2221991"/>
            <a:ext cx="10058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4/28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040880" y="2194560"/>
            <a:ext cx="109728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086600" y="2221991"/>
            <a:ext cx="10058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5/10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38160" y="2194560"/>
            <a:ext cx="18288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83880" y="2221991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skill代码+文档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1520" y="2651760"/>
            <a:ext cx="457200" cy="411480"/>
          </a:xfrm>
          <a:prstGeom prst="rect">
            <a:avLst/>
          </a:prstGeom>
          <a:solidFill>
            <a:srgbClr val="F8F8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" y="2679191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371600" y="2651760"/>
            <a:ext cx="3200400" cy="411480"/>
          </a:xfrm>
          <a:prstGeom prst="rect">
            <a:avLst/>
          </a:prstGeom>
          <a:solidFill>
            <a:srgbClr val="F8F8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417320" y="2679191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团队skill使用培训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846320" y="2651760"/>
            <a:ext cx="1097280" cy="411480"/>
          </a:xfrm>
          <a:prstGeom prst="rect">
            <a:avLst/>
          </a:prstGeom>
          <a:solidFill>
            <a:srgbClr val="F8F8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892040" y="2679191"/>
            <a:ext cx="10058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李四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943600" y="2651760"/>
            <a:ext cx="1097280" cy="411480"/>
          </a:xfrm>
          <a:prstGeom prst="rect">
            <a:avLst/>
          </a:prstGeom>
          <a:solidFill>
            <a:srgbClr val="F8F8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989320" y="2679191"/>
            <a:ext cx="10058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5/5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040880" y="2651760"/>
            <a:ext cx="1097280" cy="411480"/>
          </a:xfrm>
          <a:prstGeom prst="rect">
            <a:avLst/>
          </a:prstGeom>
          <a:solidFill>
            <a:srgbClr val="F8F8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086600" y="2679191"/>
            <a:ext cx="10058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5/12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138160" y="2651760"/>
            <a:ext cx="1828800" cy="411480"/>
          </a:xfrm>
          <a:prstGeom prst="rect">
            <a:avLst/>
          </a:prstGeom>
          <a:solidFill>
            <a:srgbClr val="F8F8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183880" y="2679191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培训完成率≥90%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31520" y="3108960"/>
            <a:ext cx="4572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77240" y="3136391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371600" y="3108960"/>
            <a:ext cx="32004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417320" y="3136391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知识库框架搭建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846320" y="3108960"/>
            <a:ext cx="109728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892040" y="3136391"/>
            <a:ext cx="10058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王五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943600" y="3108960"/>
            <a:ext cx="109728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989320" y="3136391"/>
            <a:ext cx="10058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5/8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040880" y="3108960"/>
            <a:ext cx="109728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086600" y="3136391"/>
            <a:ext cx="10058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5/20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138160" y="3108960"/>
            <a:ext cx="18288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183880" y="3136391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知识库框架+数据结构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31520" y="3840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33333"/>
                </a:solidFill>
                <a:latin typeface="Microsoft YaHei"/>
              </a:defRPr>
            </a:pPr>
            <a:r>
              <a:t>关键规则：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14400" y="4297680"/>
            <a:ext cx="1645920" cy="457200"/>
          </a:xfrm>
          <a:prstGeom prst="roundRect">
            <a:avLst/>
          </a:prstGeom>
          <a:solidFill>
            <a:srgbClr val="D13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14400" y="43434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唯一责任人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2743200" y="4297680"/>
            <a:ext cx="822960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926080" y="4343400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必须落实到具体个人，不能写「团队」「待定」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914400" y="4892040"/>
            <a:ext cx="1645920" cy="45720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14400" y="49377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具体交付物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2743200" y="4892040"/>
            <a:ext cx="822960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926080" y="4937760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每个行动必须有明确的产出物，不能只写「完成」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914400" y="5486400"/>
            <a:ext cx="1645920" cy="457200"/>
          </a:xfrm>
          <a:prstGeom prst="roundRect">
            <a:avLst/>
          </a:prstGeom>
          <a:solidFill>
            <a:srgbClr val="D83B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14400" y="55321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可验证时间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2743200" y="5486400"/>
            <a:ext cx="822960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926080" y="5532120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有明确的完成日期，不能写「尽快」「Q2」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3017520"/>
            <a:ext cx="1645920" cy="54864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9456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环节三：衡量标准与共识确认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918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BBBBB"/>
                </a:solidFill>
                <a:latin typeface="Microsoft YaHei"/>
              </a:defRPr>
            </a:pPr>
            <a:r>
              <a:t>衡量标准 + 检视节奏 + 行动项确认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4864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88"/>
                </a:solidFill>
                <a:latin typeface="Microsoft YaHei"/>
              </a:defRPr>
            </a:pPr>
            <a:r>
              <a:t>20:55 - 21:30（35分钟）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33333"/>
                </a:solidFill>
                <a:latin typeface="Microsoft YaHei"/>
              </a:defRPr>
            </a:pPr>
            <a:r>
              <a:t>环节三：衡量标准设计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0515600" cy="13716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78D4"/>
                </a:solidFill>
                <a:latin typeface="Microsoft YaHei"/>
              </a:defRPr>
            </a:pPr>
            <a:r>
              <a:t>前置指标（Leading）— 过程中持续关注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Microsoft YaHei"/>
              </a:defRPr>
            </a:pPr>
            <a:r>
              <a:t>提前预警，发现问题于未然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828800"/>
            <a:ext cx="2743200" cy="384048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47088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指标</a:t>
            </a:r>
          </a:p>
        </p:txBody>
      </p:sp>
      <p:sp>
        <p:nvSpPr>
          <p:cNvPr id="9" name="Rectangle 8"/>
          <p:cNvSpPr/>
          <p:nvPr/>
        </p:nvSpPr>
        <p:spPr>
          <a:xfrm>
            <a:off x="3474720" y="1828800"/>
            <a:ext cx="2286000" cy="384048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0" y="184708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含义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60720" y="1828800"/>
            <a:ext cx="1371600" cy="384048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60720" y="1847088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目标值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32320" y="1828800"/>
            <a:ext cx="1097280" cy="384048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0" y="1847088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采集频率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2212848"/>
            <a:ext cx="27432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2240279"/>
            <a:ext cx="2651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AI工具日活率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74720" y="2212848"/>
            <a:ext cx="22860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20439" y="2240279"/>
            <a:ext cx="2194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团队成员日常使用AI工具的比例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60720" y="2212848"/>
            <a:ext cx="13716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06440" y="2240279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≥80%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32320" y="2212848"/>
            <a:ext cx="10972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2240279"/>
            <a:ext cx="10058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每周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2624328"/>
            <a:ext cx="2743200" cy="384048"/>
          </a:xfrm>
          <a:prstGeom prst="rect">
            <a:avLst/>
          </a:prstGeom>
          <a:solidFill>
            <a:srgbClr val="F8F8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2651760"/>
            <a:ext cx="2651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SPEC文档覆盖率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474720" y="2624328"/>
            <a:ext cx="2286000" cy="384048"/>
          </a:xfrm>
          <a:prstGeom prst="rect">
            <a:avLst/>
          </a:prstGeom>
          <a:solidFill>
            <a:srgbClr val="F8F8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20439" y="2651760"/>
            <a:ext cx="2194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需求/设计阶段SPEC文档使用比例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760720" y="2624328"/>
            <a:ext cx="1371600" cy="384048"/>
          </a:xfrm>
          <a:prstGeom prst="rect">
            <a:avLst/>
          </a:prstGeom>
          <a:solidFill>
            <a:srgbClr val="F8F8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806440" y="2651760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≥60%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132320" y="2624328"/>
            <a:ext cx="1097280" cy="384048"/>
          </a:xfrm>
          <a:prstGeom prst="rect">
            <a:avLst/>
          </a:prstGeom>
          <a:solidFill>
            <a:srgbClr val="F8F8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178040" y="2651760"/>
            <a:ext cx="10058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双周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1520" y="3035808"/>
            <a:ext cx="27432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7240" y="3063239"/>
            <a:ext cx="2651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CI通过率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474720" y="3035808"/>
            <a:ext cx="22860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520439" y="3063239"/>
            <a:ext cx="2194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代码提交后CI自动通过的比例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760720" y="3035808"/>
            <a:ext cx="13716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806440" y="3063239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≥90%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132320" y="3035808"/>
            <a:ext cx="10972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178040" y="3063239"/>
            <a:ext cx="10058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每日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31520" y="3447288"/>
            <a:ext cx="2743200" cy="384048"/>
          </a:xfrm>
          <a:prstGeom prst="rect">
            <a:avLst/>
          </a:prstGeom>
          <a:solidFill>
            <a:srgbClr val="F8F8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77240" y="3474720"/>
            <a:ext cx="2651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技能使用频次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474720" y="3447288"/>
            <a:ext cx="2286000" cy="384048"/>
          </a:xfrm>
          <a:prstGeom prst="rect">
            <a:avLst/>
          </a:prstGeom>
          <a:solidFill>
            <a:srgbClr val="F8F8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520439" y="3474720"/>
            <a:ext cx="2194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各Skill被调用的频次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760720" y="3447288"/>
            <a:ext cx="1371600" cy="384048"/>
          </a:xfrm>
          <a:prstGeom prst="rect">
            <a:avLst/>
          </a:prstGeom>
          <a:solidFill>
            <a:srgbClr val="F8F8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806440" y="3474720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持续增长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132320" y="3447288"/>
            <a:ext cx="1097280" cy="384048"/>
          </a:xfrm>
          <a:prstGeom prst="rect">
            <a:avLst/>
          </a:prstGeom>
          <a:solidFill>
            <a:srgbClr val="F8F8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178040" y="3474720"/>
            <a:ext cx="10058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每周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1520" y="4023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D83B01"/>
                </a:solidFill>
                <a:latin typeface="Microsoft YaHei"/>
              </a:defRPr>
            </a:pPr>
            <a:r>
              <a:t>滞后指标（Lagging）— 阶段末衡量结果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31520" y="43891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Microsoft YaHei"/>
              </a:defRPr>
            </a:pPr>
            <a:r>
              <a:t>验证结果，评估目标达成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31520" y="4709160"/>
            <a:ext cx="2743200" cy="384048"/>
          </a:xfrm>
          <a:prstGeom prst="rect">
            <a:avLst/>
          </a:prstGeom>
          <a:solidFill>
            <a:srgbClr val="D83B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31520" y="4727448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指标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474720" y="4709160"/>
            <a:ext cx="2286000" cy="384048"/>
          </a:xfrm>
          <a:prstGeom prst="rect">
            <a:avLst/>
          </a:prstGeom>
          <a:solidFill>
            <a:srgbClr val="D83B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474720" y="472744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含义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760720" y="4709160"/>
            <a:ext cx="1371600" cy="384048"/>
          </a:xfrm>
          <a:prstGeom prst="rect">
            <a:avLst/>
          </a:prstGeom>
          <a:solidFill>
            <a:srgbClr val="D83B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760720" y="4727448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目标值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132320" y="4709160"/>
            <a:ext cx="1097280" cy="384048"/>
          </a:xfrm>
          <a:prstGeom prst="rect">
            <a:avLst/>
          </a:prstGeom>
          <a:solidFill>
            <a:srgbClr val="D83B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132320" y="4727448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衡量时间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31520" y="5093208"/>
            <a:ext cx="27432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77240" y="5111496"/>
            <a:ext cx="2651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需求交付周期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474720" y="5093208"/>
            <a:ext cx="22860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520439" y="5111496"/>
            <a:ext cx="2194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需求确认到交付的端到端时间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760720" y="5093208"/>
            <a:ext cx="13716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806440" y="5111496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缩短40-50%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132320" y="5093208"/>
            <a:ext cx="10972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178040" y="5111496"/>
            <a:ext cx="10058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季末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31520" y="5477256"/>
            <a:ext cx="2743200" cy="365760"/>
          </a:xfrm>
          <a:prstGeom prst="rect">
            <a:avLst/>
          </a:prstGeom>
          <a:solidFill>
            <a:srgbClr val="F8F8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77240" y="5495544"/>
            <a:ext cx="2651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技术债务消除率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474720" y="5477256"/>
            <a:ext cx="2286000" cy="365760"/>
          </a:xfrm>
          <a:prstGeom prst="rect">
            <a:avLst/>
          </a:prstGeom>
          <a:solidFill>
            <a:srgbClr val="F8F8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520439" y="5495544"/>
            <a:ext cx="2194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已清理TD占总TD的比例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760720" y="5477256"/>
            <a:ext cx="1371600" cy="365760"/>
          </a:xfrm>
          <a:prstGeom prst="rect">
            <a:avLst/>
          </a:prstGeom>
          <a:solidFill>
            <a:srgbClr val="F8F8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806440" y="5495544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≥80%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132320" y="5477256"/>
            <a:ext cx="1097280" cy="365760"/>
          </a:xfrm>
          <a:prstGeom prst="rect">
            <a:avLst/>
          </a:prstGeom>
          <a:solidFill>
            <a:srgbClr val="F8F8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178040" y="5495544"/>
            <a:ext cx="10058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季末</a:t>
            </a:r>
          </a:p>
        </p:txBody>
      </p:sp>
      <p:sp>
        <p:nvSpPr>
          <p:cNvPr id="73" name="Rectangle 72"/>
          <p:cNvSpPr/>
          <p:nvPr/>
        </p:nvSpPr>
        <p:spPr>
          <a:xfrm>
            <a:off x="731520" y="5861304"/>
            <a:ext cx="27432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77240" y="5879592"/>
            <a:ext cx="2651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项目周期缩短率</a:t>
            </a:r>
          </a:p>
        </p:txBody>
      </p:sp>
      <p:sp>
        <p:nvSpPr>
          <p:cNvPr id="75" name="Rectangle 74"/>
          <p:cNvSpPr/>
          <p:nvPr/>
        </p:nvSpPr>
        <p:spPr>
          <a:xfrm>
            <a:off x="3474720" y="5861304"/>
            <a:ext cx="22860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3520439" y="5879592"/>
            <a:ext cx="2194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对比基线的项目周期变化</a:t>
            </a:r>
          </a:p>
        </p:txBody>
      </p:sp>
      <p:sp>
        <p:nvSpPr>
          <p:cNvPr id="77" name="Rectangle 76"/>
          <p:cNvSpPr/>
          <p:nvPr/>
        </p:nvSpPr>
        <p:spPr>
          <a:xfrm>
            <a:off x="5760720" y="5861304"/>
            <a:ext cx="13716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5806440" y="5879592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缩短25-40%</a:t>
            </a:r>
          </a:p>
        </p:txBody>
      </p:sp>
      <p:sp>
        <p:nvSpPr>
          <p:cNvPr id="79" name="Rectangle 78"/>
          <p:cNvSpPr/>
          <p:nvPr/>
        </p:nvSpPr>
        <p:spPr>
          <a:xfrm>
            <a:off x="7132320" y="5861304"/>
            <a:ext cx="10972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7178040" y="5879592"/>
            <a:ext cx="10058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季末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686800" y="10972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9688"/>
                </a:solidFill>
                <a:latin typeface="Microsoft YaHei"/>
              </a:defRPr>
            </a:pPr>
            <a:r>
              <a:t>各产线核心指标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686800" y="14630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每产线确认2-3个核心前置指标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8686800" y="1920240"/>
            <a:ext cx="301752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8869680" y="19659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78D4"/>
                </a:solidFill>
                <a:latin typeface="Microsoft YaHei"/>
              </a:defRPr>
            </a:pPr>
            <a:r>
              <a:t>无线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9966960" y="196596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指标①：</a:t>
            </a:r>
            <a:br/>
            <a:r>
              <a:t>指标②：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8686800" y="2788920"/>
            <a:ext cx="301752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B5B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8869680" y="2834639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B5B95"/>
                </a:solidFill>
                <a:latin typeface="Microsoft YaHei"/>
              </a:defRPr>
            </a:pPr>
            <a:r>
              <a:t>交换机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966960" y="2834639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指标①：</a:t>
            </a:r>
            <a:br/>
            <a:r>
              <a:t>指标②：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8686800" y="3657600"/>
            <a:ext cx="301752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8869680" y="37033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9688"/>
                </a:solidFill>
                <a:latin typeface="Microsoft YaHei"/>
              </a:defRPr>
            </a:pPr>
            <a:r>
              <a:t>NMC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9966960" y="370332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指标①：</a:t>
            </a:r>
            <a:br/>
            <a:r>
              <a:t>指标②：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8686800" y="4526279"/>
            <a:ext cx="301752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3B0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8869680" y="4571999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83B01"/>
                </a:solidFill>
                <a:latin typeface="Microsoft YaHei"/>
              </a:defRPr>
            </a:pPr>
            <a:r>
              <a:t>会议主机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9966960" y="4571999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指标①：</a:t>
            </a:r>
            <a:br/>
            <a:r>
              <a:t>指标②：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8686800" y="5394960"/>
            <a:ext cx="301752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B8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8869680" y="54406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7B83EB"/>
                </a:solidFill>
                <a:latin typeface="Microsoft YaHei"/>
              </a:defRPr>
            </a:pPr>
            <a:r>
              <a:t>IPSIP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9966960" y="544068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指标①：</a:t>
            </a:r>
            <a:br/>
            <a:r>
              <a:t>指标②：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8686800" y="6263640"/>
            <a:ext cx="301752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7C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8869680" y="6309359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97C23"/>
                </a:solidFill>
                <a:latin typeface="Microsoft YaHei"/>
              </a:defRPr>
            </a:pPr>
            <a:r>
              <a:t>硬件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9966960" y="6309359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指标①：</a:t>
            </a:r>
            <a:br/>
            <a:r>
              <a:t>指标②：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731520" y="6309360"/>
            <a:ext cx="10515600" cy="365760"/>
          </a:xfrm>
          <a:prstGeom prst="roundRect">
            <a:avLst/>
          </a:prstGeom>
          <a:solidFill>
            <a:srgbClr val="E8F0FE"/>
          </a:solidFill>
          <a:ln w="127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914400" y="6336792"/>
            <a:ext cx="10058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9688"/>
                </a:solidFill>
                <a:latin typeface="Microsoft YaHei"/>
              </a:defRPr>
            </a:pPr>
            <a:r>
              <a:t>💡 核心原则：前置指标不必多，2-3个能跟踪就好，后续迭代优化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33333"/>
                </a:solidFill>
                <a:latin typeface="Microsoft YaHei"/>
              </a:defRPr>
            </a:pPr>
            <a:r>
              <a:t>环节三：检视节奏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0515600" cy="13716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Microsoft YaHei"/>
              </a:defRPr>
            </a:pPr>
            <a:r>
              <a:t>建议的检视节奏，请确认或调整：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1371600" cy="100584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11679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每周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86000" y="1737360"/>
            <a:ext cx="320040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68880" y="1828800"/>
            <a:ext cx="2926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任务执行状态更新</a:t>
            </a:r>
            <a:br/>
            <a:r>
              <a:t>障碍状态更新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0" y="182880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Microsoft YaHei"/>
              </a:defRPr>
            </a:pPr>
            <a:r>
              <a:t>产线内部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1828800"/>
            <a:ext cx="3200400" cy="822960"/>
          </a:xfrm>
          <a:prstGeom prst="roundRect">
            <a:avLst/>
          </a:prstGeom>
          <a:solidFill>
            <a:srgbClr val="E8F0FE"/>
          </a:solidFill>
          <a:ln w="127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0" y="192024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9688"/>
                </a:solidFill>
                <a:latin typeface="Microsoft YaHei"/>
              </a:defRPr>
            </a:pPr>
            <a:r>
              <a:t>进度同步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926080"/>
            <a:ext cx="1371600" cy="100584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2004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双周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286000" y="2926080"/>
            <a:ext cx="320040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68880" y="3017520"/>
            <a:ext cx="2926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前置指标追踪</a:t>
            </a:r>
            <a:br/>
            <a:r>
              <a:t>障碍闭环情况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60720" y="301752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Microsoft YaHei"/>
              </a:defRPr>
            </a:pPr>
            <a:r>
              <a:t>产线 + 综合管理部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0" y="3017520"/>
            <a:ext cx="3200400" cy="822960"/>
          </a:xfrm>
          <a:prstGeom prst="roundRect">
            <a:avLst/>
          </a:prstGeom>
          <a:solidFill>
            <a:srgbClr val="E8F0FE"/>
          </a:solidFill>
          <a:ln w="127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0" y="310896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78D4"/>
                </a:solidFill>
                <a:latin typeface="Microsoft YaHei"/>
              </a:defRPr>
            </a:pPr>
            <a:r>
              <a:t>红黄绿灯报告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114800"/>
            <a:ext cx="1371600" cy="1005840"/>
          </a:xfrm>
          <a:prstGeom prst="roundRect">
            <a:avLst/>
          </a:prstGeom>
          <a:solidFill>
            <a:srgbClr val="D83B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3891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每月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286000" y="4114800"/>
            <a:ext cx="320040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468880" y="4206240"/>
            <a:ext cx="2926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里程碑达成评估</a:t>
            </a:r>
            <a:br/>
            <a:r>
              <a:t>目标偏差分析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60720" y="420624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Microsoft YaHei"/>
              </a:defRPr>
            </a:pPr>
            <a:r>
              <a:t>全体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0" y="4206240"/>
            <a:ext cx="3200400" cy="822960"/>
          </a:xfrm>
          <a:prstGeom prst="roundRect">
            <a:avLst/>
          </a:prstGeom>
          <a:solidFill>
            <a:srgbClr val="E8F0FE"/>
          </a:solidFill>
          <a:ln w="12700">
            <a:solidFill>
              <a:srgbClr val="D83B0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80" y="429768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D83B01"/>
                </a:solidFill>
                <a:latin typeface="Microsoft YaHei"/>
              </a:defRPr>
            </a:pPr>
            <a:r>
              <a:t>月度检视报告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5303520"/>
            <a:ext cx="1371600" cy="1005840"/>
          </a:xfrm>
          <a:prstGeom prst="round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55778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每季度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286000" y="5303520"/>
            <a:ext cx="320040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468880" y="5394960"/>
            <a:ext cx="2926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OKR达成评估</a:t>
            </a:r>
            <a:br/>
            <a:r>
              <a:t>里程碑复盘</a:t>
            </a:r>
            <a:br/>
            <a:r>
              <a:t>下季度目标调整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60720" y="539496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Microsoft YaHei"/>
              </a:defRPr>
            </a:pPr>
            <a:r>
              <a:t>全体 + 管理层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229600" y="5394960"/>
            <a:ext cx="3200400" cy="822960"/>
          </a:xfrm>
          <a:prstGeom prst="roundRect">
            <a:avLst/>
          </a:prstGeom>
          <a:solidFill>
            <a:srgbClr val="E8F0FE"/>
          </a:solidFill>
          <a:ln w="12700">
            <a:solidFill>
              <a:srgbClr val="6B5B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12480" y="548640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B5B95"/>
                </a:solidFill>
                <a:latin typeface="Microsoft YaHei"/>
              </a:defRPr>
            </a:pPr>
            <a:r>
              <a:t>季度复盘报告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33333"/>
                </a:solidFill>
                <a:latin typeface="Microsoft YaHei"/>
              </a:defRPr>
            </a:pPr>
            <a:r>
              <a:t>环节三：红黄绿灯报告机制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0515600" cy="13716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Microsoft YaHei"/>
              </a:defRPr>
            </a:pPr>
            <a:r>
              <a:t>双周检视使用红黄绿灯报告，快速暴露偏差：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828800"/>
            <a:ext cx="3200400" cy="3200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7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01168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07C10"/>
                </a:solidFill>
                <a:latin typeface="Microsoft YaHei"/>
              </a:defRPr>
            </a:pPr>
            <a:r>
              <a:t>🟢 正常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88720" y="2743200"/>
            <a:ext cx="2651760" cy="548640"/>
          </a:xfrm>
          <a:prstGeom prst="round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283464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按计划推进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566160"/>
            <a:ext cx="2651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  <a:latin typeface="Microsoft YaHei"/>
              </a:defRPr>
            </a:pPr>
            <a:r>
              <a:t>不需要额外关注</a:t>
            </a:r>
            <a:br/>
            <a:r>
              <a:t>下次检视继续跟踪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1828800"/>
            <a:ext cx="3200400" cy="3200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83B0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0" y="201168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D83B01"/>
                </a:solidFill>
                <a:latin typeface="Microsoft YaHei"/>
              </a:defRPr>
            </a:pPr>
            <a:r>
              <a:t>🟡 有风险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46320" y="2743200"/>
            <a:ext cx="2651760" cy="548640"/>
          </a:xfrm>
          <a:prstGeom prst="roundRect">
            <a:avLst/>
          </a:prstGeom>
          <a:solidFill>
            <a:srgbClr val="D83B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46320" y="283464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有偏差但可控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3566160"/>
            <a:ext cx="2651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  <a:latin typeface="Microsoft YaHei"/>
              </a:defRPr>
            </a:pPr>
            <a:r>
              <a:t>双周检视中讨论</a:t>
            </a:r>
            <a:br/>
            <a:r>
              <a:t>寻找解决方案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1828800"/>
            <a:ext cx="3200400" cy="3200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134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03920" y="201168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D13438"/>
                </a:solidFill>
                <a:latin typeface="Microsoft YaHei"/>
              </a:defRPr>
            </a:pPr>
            <a:r>
              <a:t>🔴 卡住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03920" y="2743200"/>
            <a:ext cx="2651760" cy="548640"/>
          </a:xfrm>
          <a:prstGeom prst="roundRect">
            <a:avLst/>
          </a:prstGeom>
          <a:solidFill>
            <a:srgbClr val="D13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03920" y="283464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无法推进，需帮助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3566160"/>
            <a:ext cx="2651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  <a:latin typeface="Microsoft YaHei"/>
              </a:defRPr>
            </a:pPr>
            <a:r>
              <a:t>立即升级</a:t>
            </a:r>
            <a:br/>
            <a:r>
              <a:t>下次检视前必须有行动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3949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33333"/>
                </a:solidFill>
                <a:latin typeface="Microsoft YaHei"/>
              </a:defRPr>
            </a:pPr>
            <a:r>
              <a:t>报告模板：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5806440"/>
            <a:ext cx="2743200" cy="41148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583387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里程碑/目标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474720" y="5806440"/>
            <a:ext cx="1097280" cy="41148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74720" y="5833872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状态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0" y="5806440"/>
            <a:ext cx="2743200" cy="41148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0" y="583387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偏差说明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0" y="5806440"/>
            <a:ext cx="2926080" cy="41148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0" y="5833872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需要的支持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1520" y="6217920"/>
            <a:ext cx="2743200" cy="365760"/>
          </a:xfrm>
          <a:prstGeom prst="rect">
            <a:avLst/>
          </a:prstGeom>
          <a:solidFill>
            <a:srgbClr val="F8F8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" y="6236208"/>
            <a:ext cx="2651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投屏模块CI门禁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474720" y="6217920"/>
            <a:ext cx="1097280" cy="365760"/>
          </a:xfrm>
          <a:prstGeom prst="rect">
            <a:avLst/>
          </a:prstGeom>
          <a:solidFill>
            <a:srgbClr val="F8F8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520439" y="6236208"/>
            <a:ext cx="10058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🟡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0" y="6217920"/>
            <a:ext cx="2743200" cy="365760"/>
          </a:xfrm>
          <a:prstGeom prst="rect">
            <a:avLst/>
          </a:prstGeom>
          <a:solidFill>
            <a:srgbClr val="F8F8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617720" y="6236208"/>
            <a:ext cx="2651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代码审查skill未完成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0" y="6217920"/>
            <a:ext cx="2926080" cy="365760"/>
          </a:xfrm>
          <a:prstGeom prst="rect">
            <a:avLst/>
          </a:prstGeom>
          <a:solidFill>
            <a:srgbClr val="F8F8F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60920" y="6236208"/>
            <a:ext cx="2834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AI效能组支持skill开发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33333"/>
                </a:solidFill>
                <a:latin typeface="Microsoft YaHei"/>
              </a:defRPr>
            </a:pPr>
            <a:r>
              <a:t>环节三：行动项确认与收尾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0515600" cy="13716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Microsoft YaHei"/>
              </a:defRPr>
            </a:pPr>
            <a:r>
              <a:t>确认本次研讨会的产出和行动项：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320040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134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D13438"/>
                </a:solidFill>
                <a:latin typeface="Microsoft YaHei"/>
              </a:defRPr>
            </a:pPr>
            <a:r>
              <a:t>产出① 障碍清单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9456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分类 · 优先级</a:t>
            </a:r>
            <a:br/>
            <a:r>
              <a:t>解法方向 · 责任方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737360"/>
            <a:ext cx="320040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8288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78D4"/>
                </a:solidFill>
                <a:latin typeface="Microsoft YaHei"/>
              </a:defRPr>
            </a:pPr>
            <a:r>
              <a:t>产出② 目标拆解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19456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SMART验证 · 行动项</a:t>
            </a:r>
            <a:br/>
            <a:r>
              <a:t>责任人 · 时间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737360"/>
            <a:ext cx="320040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7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18288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07C10"/>
                </a:solidFill>
                <a:latin typeface="Microsoft YaHei"/>
              </a:defRPr>
            </a:pPr>
            <a:r>
              <a:t>产出③ 检视机制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219456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前置指标 · 红黄绿灯</a:t>
            </a:r>
            <a:br/>
            <a:r>
              <a:t>检视节奏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4747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333333"/>
                </a:solidFill>
                <a:latin typeface="Microsoft YaHei"/>
              </a:defRPr>
            </a:pPr>
            <a:r>
              <a:t>会后跟进时间线：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023360"/>
            <a:ext cx="1645920" cy="45720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0690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会后1天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560320" y="4023360"/>
            <a:ext cx="548640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0" y="40690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发布会议纪要 + 行动项清单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40690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66666"/>
                </a:solidFill>
                <a:latin typeface="Microsoft YaHei"/>
              </a:defRPr>
            </a:pPr>
            <a:r>
              <a:t>主持人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617720"/>
            <a:ext cx="1645920" cy="457200"/>
          </a:xfrm>
          <a:prstGeom prst="round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6634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会后1周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560320" y="4617720"/>
            <a:ext cx="548640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0" y="46634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各产线补充完成全部SMART拆解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46634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66666"/>
                </a:solidFill>
                <a:latin typeface="Microsoft YaHei"/>
              </a:defRPr>
            </a:pPr>
            <a:r>
              <a:t>各产线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5212080"/>
            <a:ext cx="1645920" cy="457200"/>
          </a:xfrm>
          <a:prstGeom prst="roundRect">
            <a:avLst/>
          </a:prstGeom>
          <a:solidFill>
            <a:srgbClr val="D83B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52578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会后2周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560320" y="5212080"/>
            <a:ext cx="548640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43200" y="525780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第一次双周检视（红黄绿灯报告）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5257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66666"/>
                </a:solidFill>
                <a:latin typeface="Microsoft YaHei"/>
              </a:defRPr>
            </a:pPr>
            <a:r>
              <a:t>各产线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1520" y="5806440"/>
            <a:ext cx="1645920" cy="45720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58521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会后1月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560320" y="5806440"/>
            <a:ext cx="548640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0" y="58521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第一次月度检视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0" y="58521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66666"/>
                </a:solidFill>
                <a:latin typeface="Microsoft YaHei"/>
              </a:defRPr>
            </a:pPr>
            <a:r>
              <a:t>全体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3017520"/>
            <a:ext cx="1828800" cy="54864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研讨会到此结束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918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BBBBB"/>
                </a:solidFill>
                <a:latin typeface="Microsoft YaHei"/>
              </a:defRPr>
            </a:pPr>
            <a:r>
              <a:t>会后1周内完成补充拆解，2周后第一次双周检视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8888"/>
                </a:solidFill>
                <a:latin typeface="Microsoft YaHei"/>
              </a:defRPr>
            </a:pPr>
            <a:r>
              <a:t>感谢各位参与，行动起来 💪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